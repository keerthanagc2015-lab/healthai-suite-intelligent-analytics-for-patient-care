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0" y="6565392"/>
            <a:ext cx="12191695" cy="292608"/>
          </a:xfrm>
          <a:prstGeom prst="rect">
            <a:avLst/>
          </a:prstGeom>
          <a:solidFill>
            <a:srgbClr val="14324A"/>
          </a:solidFill>
          <a:ln w="12700">
            <a:solidFill>
              <a:srgbClr val="14324A"/>
            </a:solidFill>
            <a:prstDash val="solid"/>
          </a:ln>
        </p:spPr>
      </p:sp>
      <p:sp>
        <p:nvSpPr>
          <p:cNvPr id="3" name="Text 1"/>
          <p:cNvSpPr/>
          <p:nvPr/>
        </p:nvSpPr>
        <p:spPr>
          <a:xfrm>
            <a:off x="411480" y="6629400"/>
            <a:ext cx="5943600" cy="109728"/>
          </a:xfrm>
          <a:prstGeom prst="rect">
            <a:avLst/>
          </a:prstGeom>
          <a:noFill/>
          <a:ln/>
        </p:spPr>
        <p:txBody>
          <a:bodyPr wrap="square" lIns="0" tIns="0" rIns="0" bIns="0" rtlCol="0" anchor="ctr"/>
          <a:lstStyle/>
          <a:p>
            <a:pPr indent="0" marL="0">
              <a:buNone/>
            </a:pPr>
            <a:r>
              <a:rPr lang="en-US" sz="700" dirty="0">
                <a:solidFill>
                  <a:srgbClr val="FFFFFF"/>
                </a:solidFill>
                <a:latin typeface="Aptos" pitchFamily="34" charset="0"/>
                <a:ea typeface="Aptos" pitchFamily="34" charset="-122"/>
                <a:cs typeface="Aptos" pitchFamily="34" charset="-120"/>
              </a:rPr>
              <a:t>HealthAI • Intelligent Healthcare AI Platform</a:t>
            </a:r>
            <a:endParaRPr lang="en-US" sz="70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2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324A"/>
          </a:solidFill>
          <a:ln w="12700">
            <a:solidFill>
              <a:srgbClr val="14324A"/>
            </a:solidFill>
            <a:prstDash val="solid"/>
          </a:ln>
        </p:spPr>
      </p:sp>
      <p:sp>
        <p:nvSpPr>
          <p:cNvPr id="3" name="Shape 1"/>
          <p:cNvSpPr/>
          <p:nvPr/>
        </p:nvSpPr>
        <p:spPr>
          <a:xfrm>
            <a:off x="0" y="0"/>
            <a:ext cx="12191695" cy="128016"/>
          </a:xfrm>
          <a:prstGeom prst="rect">
            <a:avLst/>
          </a:prstGeom>
          <a:solidFill>
            <a:srgbClr val="28A6D9"/>
          </a:solidFill>
          <a:ln w="12700">
            <a:solidFill>
              <a:srgbClr val="28A6D9"/>
            </a:solidFill>
            <a:prstDash val="solid"/>
          </a:ln>
        </p:spPr>
      </p:sp>
      <p:sp>
        <p:nvSpPr>
          <p:cNvPr id="4" name="Shape 2"/>
          <p:cNvSpPr/>
          <p:nvPr/>
        </p:nvSpPr>
        <p:spPr>
          <a:xfrm>
            <a:off x="7909560" y="868680"/>
            <a:ext cx="3383280" cy="4480560"/>
          </a:xfrm>
          <a:prstGeom prst="roundRect">
            <a:avLst>
              <a:gd name="adj" fmla="val 3243"/>
            </a:avLst>
          </a:prstGeom>
          <a:solidFill>
            <a:srgbClr val="1B4666"/>
          </a:solidFill>
          <a:ln w="12700">
            <a:solidFill>
              <a:srgbClr val="1B4666"/>
            </a:solidFill>
            <a:prstDash val="solid"/>
          </a:ln>
        </p:spPr>
      </p:sp>
      <p:sp>
        <p:nvSpPr>
          <p:cNvPr id="5" name="Text 3"/>
          <p:cNvSpPr/>
          <p:nvPr/>
        </p:nvSpPr>
        <p:spPr>
          <a:xfrm>
            <a:off x="8229600" y="1508760"/>
            <a:ext cx="274320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Aptos Display" pitchFamily="34" charset="0"/>
                <a:ea typeface="Aptos Display" pitchFamily="34" charset="-122"/>
                <a:cs typeface="Aptos Display" pitchFamily="34" charset="-120"/>
              </a:rPr>
              <a:t>HEALTHCARE</a:t>
            </a:r>
            <a:endParaRPr lang="en-US" sz="2800" dirty="0"/>
          </a:p>
          <a:p>
            <a:pPr algn="ctr" indent="0" marL="0">
              <a:buNone/>
            </a:pPr>
            <a:r>
              <a:rPr lang="en-US" sz="2800" b="1" dirty="0">
                <a:solidFill>
                  <a:srgbClr val="FFFFFF"/>
                </a:solidFill>
                <a:latin typeface="Aptos Display" pitchFamily="34" charset="0"/>
                <a:ea typeface="Aptos Display" pitchFamily="34" charset="-122"/>
                <a:cs typeface="Aptos Display" pitchFamily="34" charset="-120"/>
              </a:rPr>
              <a:t>AI</a:t>
            </a:r>
            <a:endParaRPr lang="en-US" sz="2800" dirty="0"/>
          </a:p>
        </p:txBody>
      </p:sp>
      <p:sp>
        <p:nvSpPr>
          <p:cNvPr id="6" name="Text 4"/>
          <p:cNvSpPr/>
          <p:nvPr/>
        </p:nvSpPr>
        <p:spPr>
          <a:xfrm>
            <a:off x="8138160" y="3063240"/>
            <a:ext cx="2880360" cy="310896"/>
          </a:xfrm>
          <a:prstGeom prst="rect">
            <a:avLst/>
          </a:prstGeom>
          <a:noFill/>
          <a:ln/>
        </p:spPr>
        <p:txBody>
          <a:bodyPr wrap="square" lIns="0" tIns="0" rIns="0" bIns="0" rtlCol="0" anchor="ctr"/>
          <a:lstStyle/>
          <a:p>
            <a:pPr algn="ctr" indent="0" marL="0">
              <a:buNone/>
            </a:pPr>
            <a:r>
              <a:rPr lang="en-US" sz="1100" dirty="0">
                <a:solidFill>
                  <a:srgbClr val="DDECF7"/>
                </a:solidFill>
              </a:rPr>
              <a:t>ML  •  DL  •  NLP  •  RAG  •  AGENTS</a:t>
            </a:r>
            <a:endParaRPr lang="en-US" sz="1100" dirty="0"/>
          </a:p>
        </p:txBody>
      </p:sp>
      <p:sp>
        <p:nvSpPr>
          <p:cNvPr id="7" name="Text 5"/>
          <p:cNvSpPr/>
          <p:nvPr/>
        </p:nvSpPr>
        <p:spPr>
          <a:xfrm>
            <a:off x="685800" y="1325880"/>
            <a:ext cx="5943600" cy="77724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HealthAI</a:t>
            </a:r>
            <a:endParaRPr lang="en-US" sz="4200" dirty="0"/>
          </a:p>
        </p:txBody>
      </p:sp>
      <p:sp>
        <p:nvSpPr>
          <p:cNvPr id="8" name="Text 6"/>
          <p:cNvSpPr/>
          <p:nvPr/>
        </p:nvSpPr>
        <p:spPr>
          <a:xfrm>
            <a:off x="713232" y="2148840"/>
            <a:ext cx="6217920" cy="457200"/>
          </a:xfrm>
          <a:prstGeom prst="rect">
            <a:avLst/>
          </a:prstGeom>
          <a:noFill/>
          <a:ln/>
        </p:spPr>
        <p:txBody>
          <a:bodyPr wrap="square" lIns="0" tIns="0" rIns="0" bIns="0" rtlCol="0" anchor="ctr"/>
          <a:lstStyle/>
          <a:p>
            <a:pPr indent="0" marL="0">
              <a:buNone/>
            </a:pPr>
            <a:r>
              <a:rPr lang="en-US" sz="2100" dirty="0">
                <a:solidFill>
                  <a:srgbClr val="B8E5F2"/>
                </a:solidFill>
              </a:rPr>
              <a:t>Intelligent Healthcare AI Platform</a:t>
            </a:r>
            <a:endParaRPr lang="en-US" sz="2100" dirty="0"/>
          </a:p>
        </p:txBody>
      </p:sp>
      <p:sp>
        <p:nvSpPr>
          <p:cNvPr id="9" name="Text 7"/>
          <p:cNvSpPr/>
          <p:nvPr/>
        </p:nvSpPr>
        <p:spPr>
          <a:xfrm>
            <a:off x="731520" y="2788920"/>
            <a:ext cx="6309360" cy="914400"/>
          </a:xfrm>
          <a:prstGeom prst="rect">
            <a:avLst/>
          </a:prstGeom>
          <a:noFill/>
          <a:ln/>
        </p:spPr>
        <p:txBody>
          <a:bodyPr wrap="square" lIns="0" tIns="0" rIns="0" bIns="0" rtlCol="0" anchor="ctr">
            <a:normAutofit/>
          </a:bodyPr>
          <a:lstStyle/>
          <a:p>
            <a:pPr indent="0" marL="0">
              <a:buNone/>
            </a:pPr>
            <a:r>
              <a:rPr lang="en-US" sz="1700" dirty="0">
                <a:solidFill>
                  <a:srgbClr val="FFFFFF"/>
                </a:solidFill>
              </a:rPr>
              <a:t>End-to-end healthcare AI for clinical decision support</a:t>
            </a:r>
            <a:endParaRPr lang="en-US" sz="1700" dirty="0"/>
          </a:p>
          <a:p>
            <a:pPr indent="0" marL="0">
              <a:buNone/>
            </a:pPr>
            <a:r>
              <a:rPr lang="en-US" sz="1700" dirty="0">
                <a:solidFill>
                  <a:srgbClr val="FFFFFF"/>
                </a:solidFill>
              </a:rPr>
              <a:t>and evidence-grounded health information</a:t>
            </a:r>
            <a:endParaRPr lang="en-US" sz="1700" dirty="0"/>
          </a:p>
        </p:txBody>
      </p:sp>
      <p:sp>
        <p:nvSpPr>
          <p:cNvPr id="10" name="Shape 8"/>
          <p:cNvSpPr/>
          <p:nvPr/>
        </p:nvSpPr>
        <p:spPr>
          <a:xfrm>
            <a:off x="731520" y="4041648"/>
            <a:ext cx="4297680" cy="0"/>
          </a:xfrm>
          <a:prstGeom prst="line">
            <a:avLst/>
          </a:prstGeom>
          <a:noFill/>
          <a:ln w="38100">
            <a:solidFill>
              <a:srgbClr val="28A6D9"/>
            </a:solidFill>
            <a:prstDash val="solid"/>
          </a:ln>
        </p:spPr>
      </p:sp>
      <p:sp>
        <p:nvSpPr>
          <p:cNvPr id="11" name="Text 9"/>
          <p:cNvSpPr/>
          <p:nvPr/>
        </p:nvSpPr>
        <p:spPr>
          <a:xfrm>
            <a:off x="731520" y="4279392"/>
            <a:ext cx="4389120" cy="274320"/>
          </a:xfrm>
          <a:prstGeom prst="rect">
            <a:avLst/>
          </a:prstGeom>
          <a:noFill/>
          <a:ln/>
        </p:spPr>
        <p:txBody>
          <a:bodyPr wrap="square" lIns="0" tIns="0" rIns="0" bIns="0" rtlCol="0" anchor="ctr"/>
          <a:lstStyle/>
          <a:p>
            <a:pPr indent="0" marL="0">
              <a:buNone/>
            </a:pPr>
            <a:r>
              <a:rPr lang="en-US" sz="1250" b="1" dirty="0">
                <a:solidFill>
                  <a:srgbClr val="DDECF7"/>
                </a:solidFill>
              </a:rPr>
              <a:t>Portfolio / Educational Demonstration</a:t>
            </a:r>
            <a:endParaRPr lang="en-US" sz="1250" dirty="0"/>
          </a:p>
        </p:txBody>
      </p:sp>
      <p:sp>
        <p:nvSpPr>
          <p:cNvPr id="12" name="Text 10"/>
          <p:cNvSpPr/>
          <p:nvPr/>
        </p:nvSpPr>
        <p:spPr>
          <a:xfrm>
            <a:off x="731520" y="4645152"/>
            <a:ext cx="2286000" cy="228600"/>
          </a:xfrm>
          <a:prstGeom prst="rect">
            <a:avLst/>
          </a:prstGeom>
          <a:noFill/>
          <a:ln/>
        </p:spPr>
        <p:txBody>
          <a:bodyPr wrap="square" lIns="0" tIns="0" rIns="0" bIns="0" rtlCol="0" anchor="ctr"/>
          <a:lstStyle/>
          <a:p>
            <a:pPr indent="0" marL="0">
              <a:buNone/>
            </a:pPr>
            <a:r>
              <a:rPr lang="en-US" sz="1100" dirty="0">
                <a:solidFill>
                  <a:srgbClr val="A9C4D6"/>
                </a:solidFill>
              </a:rPr>
              <a:t>September 2026</a:t>
            </a:r>
            <a:endParaRPr lang="en-US" sz="110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The Healthcare AI Challenge</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Why HealthAI uses a modular, multi-model platform</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PROBLEM</a:t>
            </a:r>
            <a:endParaRPr lang="en-US" sz="850" dirty="0"/>
          </a:p>
        </p:txBody>
      </p:sp>
      <p:sp>
        <p:nvSpPr>
          <p:cNvPr id="7" name="Shape 5"/>
          <p:cNvSpPr/>
          <p:nvPr/>
        </p:nvSpPr>
        <p:spPr>
          <a:xfrm>
            <a:off x="566928" y="1417320"/>
            <a:ext cx="3429000" cy="1874520"/>
          </a:xfrm>
          <a:prstGeom prst="roundRect">
            <a:avLst>
              <a:gd name="adj" fmla="val 3902"/>
            </a:avLst>
          </a:prstGeom>
          <a:solidFill>
            <a:srgbClr val="FFFFFF"/>
          </a:solidFill>
          <a:ln w="12700">
            <a:solidFill>
              <a:srgbClr val="D6E4F0"/>
            </a:solidFill>
            <a:prstDash val="solid"/>
          </a:ln>
        </p:spPr>
      </p:sp>
      <p:sp>
        <p:nvSpPr>
          <p:cNvPr id="8" name="Shape 6"/>
          <p:cNvSpPr/>
          <p:nvPr/>
        </p:nvSpPr>
        <p:spPr>
          <a:xfrm>
            <a:off x="566928" y="1417320"/>
            <a:ext cx="64008" cy="1874520"/>
          </a:xfrm>
          <a:prstGeom prst="rect">
            <a:avLst/>
          </a:prstGeom>
          <a:solidFill>
            <a:srgbClr val="28A6D9"/>
          </a:solidFill>
          <a:ln w="12700">
            <a:solidFill>
              <a:srgbClr val="28A6D9"/>
            </a:solidFill>
            <a:prstDash val="solid"/>
          </a:ln>
        </p:spPr>
      </p:sp>
      <p:sp>
        <p:nvSpPr>
          <p:cNvPr id="9" name="Text 7"/>
          <p:cNvSpPr/>
          <p:nvPr/>
        </p:nvSpPr>
        <p:spPr>
          <a:xfrm>
            <a:off x="731520" y="1563624"/>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Heterogeneous Data</a:t>
            </a:r>
            <a:endParaRPr lang="en-US" sz="1350" dirty="0"/>
          </a:p>
        </p:txBody>
      </p:sp>
      <p:sp>
        <p:nvSpPr>
          <p:cNvPr id="10" name="Text 8"/>
          <p:cNvSpPr/>
          <p:nvPr/>
        </p:nvSpPr>
        <p:spPr>
          <a:xfrm>
            <a:off x="731520" y="1883664"/>
            <a:ext cx="3108960" cy="13075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Structured patient measurements, medical text, imaging, patient feedback and operational information must coexist in one workflow.</a:t>
            </a:r>
            <a:endParaRPr lang="en-US" sz="1050" dirty="0"/>
          </a:p>
        </p:txBody>
      </p:sp>
      <p:sp>
        <p:nvSpPr>
          <p:cNvPr id="11" name="Shape 9"/>
          <p:cNvSpPr/>
          <p:nvPr/>
        </p:nvSpPr>
        <p:spPr>
          <a:xfrm>
            <a:off x="4370832" y="1417320"/>
            <a:ext cx="3429000" cy="1874520"/>
          </a:xfrm>
          <a:prstGeom prst="roundRect">
            <a:avLst>
              <a:gd name="adj" fmla="val 3902"/>
            </a:avLst>
          </a:prstGeom>
          <a:solidFill>
            <a:srgbClr val="FFFFFF"/>
          </a:solidFill>
          <a:ln w="12700">
            <a:solidFill>
              <a:srgbClr val="D6E4F0"/>
            </a:solidFill>
            <a:prstDash val="solid"/>
          </a:ln>
        </p:spPr>
      </p:sp>
      <p:sp>
        <p:nvSpPr>
          <p:cNvPr id="12" name="Shape 10"/>
          <p:cNvSpPr/>
          <p:nvPr/>
        </p:nvSpPr>
        <p:spPr>
          <a:xfrm>
            <a:off x="4370832" y="1417320"/>
            <a:ext cx="64008" cy="1874520"/>
          </a:xfrm>
          <a:prstGeom prst="rect">
            <a:avLst/>
          </a:prstGeom>
          <a:solidFill>
            <a:srgbClr val="1D63D6"/>
          </a:solidFill>
          <a:ln w="12700">
            <a:solidFill>
              <a:srgbClr val="1D63D6"/>
            </a:solidFill>
            <a:prstDash val="solid"/>
          </a:ln>
        </p:spPr>
      </p:sp>
      <p:sp>
        <p:nvSpPr>
          <p:cNvPr id="13" name="Text 11"/>
          <p:cNvSpPr/>
          <p:nvPr/>
        </p:nvSpPr>
        <p:spPr>
          <a:xfrm>
            <a:off x="4535424" y="1563624"/>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Different AI Tasks</a:t>
            </a:r>
            <a:endParaRPr lang="en-US" sz="1350" dirty="0"/>
          </a:p>
        </p:txBody>
      </p:sp>
      <p:sp>
        <p:nvSpPr>
          <p:cNvPr id="14" name="Text 12"/>
          <p:cNvSpPr/>
          <p:nvPr/>
        </p:nvSpPr>
        <p:spPr>
          <a:xfrm>
            <a:off x="4535424" y="1883664"/>
            <a:ext cx="3108960" cy="13075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Classification, regression, clustering, association mining, deep learning, medical NLP and evidence retrieval each need different methods.</a:t>
            </a:r>
            <a:endParaRPr lang="en-US" sz="1050" dirty="0"/>
          </a:p>
        </p:txBody>
      </p:sp>
      <p:sp>
        <p:nvSpPr>
          <p:cNvPr id="15" name="Shape 13"/>
          <p:cNvSpPr/>
          <p:nvPr/>
        </p:nvSpPr>
        <p:spPr>
          <a:xfrm>
            <a:off x="8174736" y="1417320"/>
            <a:ext cx="3429000" cy="1874520"/>
          </a:xfrm>
          <a:prstGeom prst="roundRect">
            <a:avLst>
              <a:gd name="adj" fmla="val 3902"/>
            </a:avLst>
          </a:prstGeom>
          <a:solidFill>
            <a:srgbClr val="FFFFFF"/>
          </a:solidFill>
          <a:ln w="12700">
            <a:solidFill>
              <a:srgbClr val="D6E4F0"/>
            </a:solidFill>
            <a:prstDash val="solid"/>
          </a:ln>
        </p:spPr>
      </p:sp>
      <p:sp>
        <p:nvSpPr>
          <p:cNvPr id="16" name="Shape 14"/>
          <p:cNvSpPr/>
          <p:nvPr/>
        </p:nvSpPr>
        <p:spPr>
          <a:xfrm>
            <a:off x="8174736" y="1417320"/>
            <a:ext cx="64008" cy="1874520"/>
          </a:xfrm>
          <a:prstGeom prst="rect">
            <a:avLst/>
          </a:prstGeom>
          <a:solidFill>
            <a:srgbClr val="1BAA9A"/>
          </a:solidFill>
          <a:ln w="12700">
            <a:solidFill>
              <a:srgbClr val="1BAA9A"/>
            </a:solidFill>
            <a:prstDash val="solid"/>
          </a:ln>
        </p:spPr>
      </p:sp>
      <p:sp>
        <p:nvSpPr>
          <p:cNvPr id="17" name="Text 15"/>
          <p:cNvSpPr/>
          <p:nvPr/>
        </p:nvSpPr>
        <p:spPr>
          <a:xfrm>
            <a:off x="8339328" y="1563624"/>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User Experience</a:t>
            </a:r>
            <a:endParaRPr lang="en-US" sz="1350" dirty="0"/>
          </a:p>
        </p:txBody>
      </p:sp>
      <p:sp>
        <p:nvSpPr>
          <p:cNvPr id="18" name="Text 16"/>
          <p:cNvSpPr/>
          <p:nvPr/>
        </p:nvSpPr>
        <p:spPr>
          <a:xfrm>
            <a:off x="8339328" y="1883664"/>
            <a:ext cx="3108960" cy="13075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The application should feel like one hospital platform even though the underlying models are specialized services.</a:t>
            </a:r>
            <a:endParaRPr lang="en-US" sz="1050" dirty="0"/>
          </a:p>
        </p:txBody>
      </p:sp>
      <p:sp>
        <p:nvSpPr>
          <p:cNvPr id="19" name="Text 17"/>
          <p:cNvSpPr/>
          <p:nvPr/>
        </p:nvSpPr>
        <p:spPr>
          <a:xfrm>
            <a:off x="603504" y="3749040"/>
            <a:ext cx="1920240" cy="292608"/>
          </a:xfrm>
          <a:prstGeom prst="rect">
            <a:avLst/>
          </a:prstGeom>
          <a:noFill/>
          <a:ln/>
        </p:spPr>
        <p:txBody>
          <a:bodyPr wrap="square" lIns="0" tIns="0" rIns="0" bIns="0" rtlCol="0" anchor="ctr"/>
          <a:lstStyle/>
          <a:p>
            <a:pPr indent="0" marL="0">
              <a:buNone/>
            </a:pPr>
            <a:r>
              <a:rPr lang="en-US" sz="1800" b="1" dirty="0">
                <a:solidFill>
                  <a:srgbClr val="14324A"/>
                </a:solidFill>
              </a:rPr>
              <a:t>Design objective</a:t>
            </a:r>
            <a:endParaRPr lang="en-US" sz="1800" dirty="0"/>
          </a:p>
        </p:txBody>
      </p:sp>
      <p:sp>
        <p:nvSpPr>
          <p:cNvPr id="20" name="Text 18"/>
          <p:cNvSpPr/>
          <p:nvPr/>
        </p:nvSpPr>
        <p:spPr>
          <a:xfrm>
            <a:off x="603504" y="4160520"/>
            <a:ext cx="10835640" cy="768096"/>
          </a:xfrm>
          <a:prstGeom prst="rect">
            <a:avLst/>
          </a:prstGeom>
          <a:noFill/>
          <a:ln/>
        </p:spPr>
        <p:txBody>
          <a:bodyPr wrap="square" lIns="254" tIns="254" rIns="254" bIns="254" rtlCol="0" anchor="ctr">
            <a:normAutofit/>
          </a:bodyPr>
          <a:lstStyle/>
          <a:p>
            <a:pPr indent="0" marL="0">
              <a:buNone/>
            </a:pPr>
            <a:r>
              <a:rPr lang="en-US" sz="1800" dirty="0">
                <a:solidFill>
                  <a:srgbClr val="213547"/>
                </a:solidFill>
              </a:rPr>
              <a:t>Build one modular application that routes each request to the appropriate AI capability while keeping evidence grounding, API contracts and safety boundaries visible.</a:t>
            </a:r>
            <a:endParaRPr lang="en-US" sz="1800" dirty="0"/>
          </a:p>
        </p:txBody>
      </p:sp>
      <p:sp>
        <p:nvSpPr>
          <p:cNvPr id="21" name="Shape 19"/>
          <p:cNvSpPr/>
          <p:nvPr/>
        </p:nvSpPr>
        <p:spPr>
          <a:xfrm>
            <a:off x="603504" y="5230368"/>
            <a:ext cx="10927080" cy="749808"/>
          </a:xfrm>
          <a:prstGeom prst="roundRect">
            <a:avLst>
              <a:gd name="adj" fmla="val 6098"/>
            </a:avLst>
          </a:prstGeom>
          <a:solidFill>
            <a:srgbClr val="EAF3FA"/>
          </a:solidFill>
          <a:ln w="12700">
            <a:solidFill>
              <a:srgbClr val="EAF3FA"/>
            </a:solidFill>
            <a:prstDash val="solid"/>
          </a:ln>
        </p:spPr>
      </p:sp>
      <p:sp>
        <p:nvSpPr>
          <p:cNvPr id="22" name="Text 20"/>
          <p:cNvSpPr/>
          <p:nvPr/>
        </p:nvSpPr>
        <p:spPr>
          <a:xfrm>
            <a:off x="914400" y="5468112"/>
            <a:ext cx="10241280" cy="256032"/>
          </a:xfrm>
          <a:prstGeom prst="rect">
            <a:avLst/>
          </a:prstGeom>
          <a:noFill/>
          <a:ln/>
        </p:spPr>
        <p:txBody>
          <a:bodyPr wrap="square" lIns="0" tIns="0" rIns="0" bIns="0" rtlCol="0" anchor="ctr"/>
          <a:lstStyle/>
          <a:p>
            <a:pPr algn="ctr" indent="0" marL="0">
              <a:buNone/>
            </a:pPr>
            <a:r>
              <a:rPr lang="en-US" sz="2000" b="1" dirty="0">
                <a:solidFill>
                  <a:srgbClr val="1D63D6"/>
                </a:solidFill>
              </a:rPr>
              <a:t>Core idea: specialization + orchestration + evidence grounding</a:t>
            </a:r>
            <a:endParaRPr lang="en-US" sz="200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End-to-End System Architecture</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Presentation, API, orchestration and AI components are separated</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ARCHITECTURE</a:t>
            </a:r>
            <a:endParaRPr lang="en-US" sz="850" dirty="0"/>
          </a:p>
        </p:txBody>
      </p:sp>
      <p:sp>
        <p:nvSpPr>
          <p:cNvPr id="7" name="Shape 5"/>
          <p:cNvSpPr/>
          <p:nvPr/>
        </p:nvSpPr>
        <p:spPr>
          <a:xfrm>
            <a:off x="594360" y="1828800"/>
            <a:ext cx="1325880" cy="566928"/>
          </a:xfrm>
          <a:prstGeom prst="roundRect">
            <a:avLst>
              <a:gd name="adj" fmla="val 9677"/>
            </a:avLst>
          </a:prstGeom>
          <a:solidFill>
            <a:srgbClr val="EAF3FA"/>
          </a:solidFill>
          <a:ln w="12700">
            <a:solidFill>
              <a:srgbClr val="28A6D9"/>
            </a:solidFill>
            <a:prstDash val="solid"/>
          </a:ln>
        </p:spPr>
      </p:sp>
      <p:sp>
        <p:nvSpPr>
          <p:cNvPr id="8" name="Text 6"/>
          <p:cNvSpPr/>
          <p:nvPr/>
        </p:nvSpPr>
        <p:spPr>
          <a:xfrm>
            <a:off x="667512" y="1920240"/>
            <a:ext cx="1179576" cy="411480"/>
          </a:xfrm>
          <a:prstGeom prst="rect">
            <a:avLst/>
          </a:prstGeom>
          <a:noFill/>
          <a:ln/>
        </p:spPr>
        <p:txBody>
          <a:bodyPr wrap="square" lIns="127" tIns="127" rIns="127" bIns="127" rtlCol="0" anchor="ctr">
            <a:normAutofit/>
          </a:bodyPr>
          <a:lstStyle/>
          <a:p>
            <a:pPr algn="ctr" indent="0" marL="0">
              <a:buNone/>
            </a:pPr>
            <a:r>
              <a:rPr lang="en-US" sz="1150" b="1" dirty="0">
                <a:solidFill>
                  <a:srgbClr val="14324A"/>
                </a:solidFill>
              </a:rPr>
              <a:t>USER</a:t>
            </a:r>
            <a:endParaRPr lang="en-US" sz="1150" dirty="0"/>
          </a:p>
        </p:txBody>
      </p:sp>
      <p:sp>
        <p:nvSpPr>
          <p:cNvPr id="9" name="Shape 7"/>
          <p:cNvSpPr/>
          <p:nvPr/>
        </p:nvSpPr>
        <p:spPr>
          <a:xfrm>
            <a:off x="2286000" y="1572768"/>
            <a:ext cx="1874520" cy="1005840"/>
          </a:xfrm>
          <a:prstGeom prst="roundRect">
            <a:avLst>
              <a:gd name="adj" fmla="val 5455"/>
            </a:avLst>
          </a:prstGeom>
          <a:solidFill>
            <a:srgbClr val="FFFFFF"/>
          </a:solidFill>
          <a:ln w="12700">
            <a:solidFill>
              <a:srgbClr val="1D63D6"/>
            </a:solidFill>
            <a:prstDash val="solid"/>
          </a:ln>
        </p:spPr>
      </p:sp>
      <p:sp>
        <p:nvSpPr>
          <p:cNvPr id="10" name="Text 8"/>
          <p:cNvSpPr/>
          <p:nvPr/>
        </p:nvSpPr>
        <p:spPr>
          <a:xfrm>
            <a:off x="2359152" y="1664208"/>
            <a:ext cx="1728216" cy="850392"/>
          </a:xfrm>
          <a:prstGeom prst="rect">
            <a:avLst/>
          </a:prstGeom>
          <a:noFill/>
          <a:ln/>
        </p:spPr>
        <p:txBody>
          <a:bodyPr wrap="square" lIns="127" tIns="127" rIns="127" bIns="127" rtlCol="0" anchor="ctr">
            <a:normAutofit/>
          </a:bodyPr>
          <a:lstStyle/>
          <a:p>
            <a:pPr algn="ctr" indent="0" marL="0">
              <a:buNone/>
            </a:pPr>
            <a:r>
              <a:rPr lang="en-US" sz="1150" b="1" dirty="0">
                <a:solidFill>
                  <a:srgbClr val="14324A"/>
                </a:solidFill>
              </a:rPr>
              <a:t>Streamlit</a:t>
            </a:r>
            <a:endParaRPr lang="en-US" sz="1150" dirty="0"/>
          </a:p>
          <a:p>
            <a:pPr algn="ctr" indent="0" marL="0">
              <a:buNone/>
            </a:pPr>
            <a:r>
              <a:rPr lang="en-US" sz="1150" b="1" dirty="0">
                <a:solidFill>
                  <a:srgbClr val="14324A"/>
                </a:solidFill>
              </a:rPr>
              <a:t>Virtual Hospital</a:t>
            </a:r>
            <a:endParaRPr lang="en-US" sz="1150" dirty="0"/>
          </a:p>
        </p:txBody>
      </p:sp>
      <p:sp>
        <p:nvSpPr>
          <p:cNvPr id="11" name="Shape 9"/>
          <p:cNvSpPr/>
          <p:nvPr/>
        </p:nvSpPr>
        <p:spPr>
          <a:xfrm>
            <a:off x="4590288" y="1572768"/>
            <a:ext cx="1691640" cy="1005840"/>
          </a:xfrm>
          <a:prstGeom prst="roundRect">
            <a:avLst>
              <a:gd name="adj" fmla="val 5455"/>
            </a:avLst>
          </a:prstGeom>
          <a:solidFill>
            <a:srgbClr val="FFFFFF"/>
          </a:solidFill>
          <a:ln w="12700">
            <a:solidFill>
              <a:srgbClr val="28A6D9"/>
            </a:solidFill>
            <a:prstDash val="solid"/>
          </a:ln>
        </p:spPr>
      </p:sp>
      <p:sp>
        <p:nvSpPr>
          <p:cNvPr id="12" name="Text 10"/>
          <p:cNvSpPr/>
          <p:nvPr/>
        </p:nvSpPr>
        <p:spPr>
          <a:xfrm>
            <a:off x="4663440" y="1664208"/>
            <a:ext cx="1545336" cy="850392"/>
          </a:xfrm>
          <a:prstGeom prst="rect">
            <a:avLst/>
          </a:prstGeom>
          <a:noFill/>
          <a:ln/>
        </p:spPr>
        <p:txBody>
          <a:bodyPr wrap="square" lIns="127" tIns="127" rIns="127" bIns="127" rtlCol="0" anchor="ctr">
            <a:normAutofit/>
          </a:bodyPr>
          <a:lstStyle/>
          <a:p>
            <a:pPr algn="ctr" indent="0" marL="0">
              <a:buNone/>
            </a:pPr>
            <a:r>
              <a:rPr lang="en-US" sz="1150" b="1" dirty="0">
                <a:solidFill>
                  <a:srgbClr val="14324A"/>
                </a:solidFill>
              </a:rPr>
              <a:t>FastAPI</a:t>
            </a:r>
            <a:endParaRPr lang="en-US" sz="1150" dirty="0"/>
          </a:p>
          <a:p>
            <a:pPr algn="ctr" indent="0" marL="0">
              <a:buNone/>
            </a:pPr>
            <a:r>
              <a:rPr lang="en-US" sz="1150" b="1" dirty="0">
                <a:solidFill>
                  <a:srgbClr val="14324A"/>
                </a:solidFill>
              </a:rPr>
              <a:t>REST Layer</a:t>
            </a:r>
            <a:endParaRPr lang="en-US" sz="1150" dirty="0"/>
          </a:p>
        </p:txBody>
      </p:sp>
      <p:sp>
        <p:nvSpPr>
          <p:cNvPr id="13" name="Shape 11"/>
          <p:cNvSpPr/>
          <p:nvPr/>
        </p:nvSpPr>
        <p:spPr>
          <a:xfrm>
            <a:off x="6748272" y="1572768"/>
            <a:ext cx="1874520" cy="1005840"/>
          </a:xfrm>
          <a:prstGeom prst="roundRect">
            <a:avLst>
              <a:gd name="adj" fmla="val 5455"/>
            </a:avLst>
          </a:prstGeom>
          <a:solidFill>
            <a:srgbClr val="FFFFFF"/>
          </a:solidFill>
          <a:ln w="12700">
            <a:solidFill>
              <a:srgbClr val="1BAA9A"/>
            </a:solidFill>
            <a:prstDash val="solid"/>
          </a:ln>
        </p:spPr>
      </p:sp>
      <p:sp>
        <p:nvSpPr>
          <p:cNvPr id="14" name="Text 12"/>
          <p:cNvSpPr/>
          <p:nvPr/>
        </p:nvSpPr>
        <p:spPr>
          <a:xfrm>
            <a:off x="6821424" y="1664208"/>
            <a:ext cx="1728216" cy="850392"/>
          </a:xfrm>
          <a:prstGeom prst="rect">
            <a:avLst/>
          </a:prstGeom>
          <a:noFill/>
          <a:ln/>
        </p:spPr>
        <p:txBody>
          <a:bodyPr wrap="square" lIns="127" tIns="127" rIns="127" bIns="127" rtlCol="0" anchor="ctr">
            <a:normAutofit/>
          </a:bodyPr>
          <a:lstStyle/>
          <a:p>
            <a:pPr algn="ctr" indent="0" marL="0">
              <a:buNone/>
            </a:pPr>
            <a:r>
              <a:rPr lang="en-US" sz="1150" b="1" dirty="0">
                <a:solidFill>
                  <a:srgbClr val="14324A"/>
                </a:solidFill>
              </a:rPr>
              <a:t>Agent Router</a:t>
            </a:r>
            <a:endParaRPr lang="en-US" sz="1150" dirty="0"/>
          </a:p>
          <a:p>
            <a:pPr algn="ctr" indent="0" marL="0">
              <a:buNone/>
            </a:pPr>
            <a:r>
              <a:rPr lang="en-US" sz="1150" b="1" dirty="0">
                <a:solidFill>
                  <a:srgbClr val="14324A"/>
                </a:solidFill>
              </a:rPr>
              <a:t>+ Executor</a:t>
            </a:r>
            <a:endParaRPr lang="en-US" sz="1150" dirty="0"/>
          </a:p>
        </p:txBody>
      </p:sp>
      <p:sp>
        <p:nvSpPr>
          <p:cNvPr id="15" name="Shape 13"/>
          <p:cNvSpPr/>
          <p:nvPr/>
        </p:nvSpPr>
        <p:spPr>
          <a:xfrm>
            <a:off x="9098280" y="1572768"/>
            <a:ext cx="1965960" cy="1005840"/>
          </a:xfrm>
          <a:prstGeom prst="roundRect">
            <a:avLst>
              <a:gd name="adj" fmla="val 5455"/>
            </a:avLst>
          </a:prstGeom>
          <a:solidFill>
            <a:srgbClr val="FFFFFF"/>
          </a:solidFill>
          <a:ln w="12700">
            <a:solidFill>
              <a:srgbClr val="1D63D6"/>
            </a:solidFill>
            <a:prstDash val="solid"/>
          </a:ln>
        </p:spPr>
      </p:sp>
      <p:sp>
        <p:nvSpPr>
          <p:cNvPr id="16" name="Text 14"/>
          <p:cNvSpPr/>
          <p:nvPr/>
        </p:nvSpPr>
        <p:spPr>
          <a:xfrm>
            <a:off x="9171432" y="1664208"/>
            <a:ext cx="1819656" cy="850392"/>
          </a:xfrm>
          <a:prstGeom prst="rect">
            <a:avLst/>
          </a:prstGeom>
          <a:noFill/>
          <a:ln/>
        </p:spPr>
        <p:txBody>
          <a:bodyPr wrap="square" lIns="127" tIns="127" rIns="127" bIns="127" rtlCol="0" anchor="ctr">
            <a:normAutofit/>
          </a:bodyPr>
          <a:lstStyle/>
          <a:p>
            <a:pPr algn="ctr" indent="0" marL="0">
              <a:buNone/>
            </a:pPr>
            <a:r>
              <a:rPr lang="en-US" sz="1150" b="1" dirty="0">
                <a:solidFill>
                  <a:srgbClr val="14324A"/>
                </a:solidFill>
              </a:rPr>
              <a:t>Specialized</a:t>
            </a:r>
            <a:endParaRPr lang="en-US" sz="1150" dirty="0"/>
          </a:p>
          <a:p>
            <a:pPr algn="ctr" indent="0" marL="0">
              <a:buNone/>
            </a:pPr>
            <a:r>
              <a:rPr lang="en-US" sz="1150" b="1" dirty="0">
                <a:solidFill>
                  <a:srgbClr val="14324A"/>
                </a:solidFill>
              </a:rPr>
              <a:t>AI Adapters</a:t>
            </a:r>
            <a:endParaRPr lang="en-US" sz="1150" dirty="0"/>
          </a:p>
        </p:txBody>
      </p:sp>
      <p:sp>
        <p:nvSpPr>
          <p:cNvPr id="17" name="Shape 15"/>
          <p:cNvSpPr/>
          <p:nvPr/>
        </p:nvSpPr>
        <p:spPr>
          <a:xfrm>
            <a:off x="1920240" y="2112264"/>
            <a:ext cx="338328" cy="0"/>
          </a:xfrm>
          <a:prstGeom prst="line">
            <a:avLst/>
          </a:prstGeom>
          <a:noFill/>
          <a:ln w="27940">
            <a:solidFill>
              <a:srgbClr val="1D63D6"/>
            </a:solidFill>
            <a:prstDash val="solid"/>
            <a:headEnd type="none"/>
            <a:tailEnd type="triangle"/>
          </a:ln>
        </p:spPr>
      </p:sp>
      <p:sp>
        <p:nvSpPr>
          <p:cNvPr id="18" name="Shape 16"/>
          <p:cNvSpPr/>
          <p:nvPr/>
        </p:nvSpPr>
        <p:spPr>
          <a:xfrm>
            <a:off x="4187952" y="2112264"/>
            <a:ext cx="365760" cy="0"/>
          </a:xfrm>
          <a:prstGeom prst="line">
            <a:avLst/>
          </a:prstGeom>
          <a:noFill/>
          <a:ln w="27940">
            <a:solidFill>
              <a:srgbClr val="1D63D6"/>
            </a:solidFill>
            <a:prstDash val="solid"/>
            <a:headEnd type="none"/>
            <a:tailEnd type="triangle"/>
          </a:ln>
        </p:spPr>
      </p:sp>
      <p:sp>
        <p:nvSpPr>
          <p:cNvPr id="19" name="Shape 17"/>
          <p:cNvSpPr/>
          <p:nvPr/>
        </p:nvSpPr>
        <p:spPr>
          <a:xfrm>
            <a:off x="6309360" y="2112264"/>
            <a:ext cx="402336" cy="0"/>
          </a:xfrm>
          <a:prstGeom prst="line">
            <a:avLst/>
          </a:prstGeom>
          <a:noFill/>
          <a:ln w="27940">
            <a:solidFill>
              <a:srgbClr val="1D63D6"/>
            </a:solidFill>
            <a:prstDash val="solid"/>
            <a:headEnd type="none"/>
            <a:tailEnd type="triangle"/>
          </a:ln>
        </p:spPr>
      </p:sp>
      <p:sp>
        <p:nvSpPr>
          <p:cNvPr id="20" name="Shape 18"/>
          <p:cNvSpPr/>
          <p:nvPr/>
        </p:nvSpPr>
        <p:spPr>
          <a:xfrm>
            <a:off x="8686800" y="2112264"/>
            <a:ext cx="374904" cy="0"/>
          </a:xfrm>
          <a:prstGeom prst="line">
            <a:avLst/>
          </a:prstGeom>
          <a:noFill/>
          <a:ln w="27940">
            <a:solidFill>
              <a:srgbClr val="1D63D6"/>
            </a:solidFill>
            <a:prstDash val="solid"/>
            <a:headEnd type="none"/>
            <a:tailEnd type="triangle"/>
          </a:ln>
        </p:spPr>
      </p:sp>
      <p:sp>
        <p:nvSpPr>
          <p:cNvPr id="21" name="Shape 19"/>
          <p:cNvSpPr/>
          <p:nvPr/>
        </p:nvSpPr>
        <p:spPr>
          <a:xfrm>
            <a:off x="914400" y="3337560"/>
            <a:ext cx="1600200" cy="585216"/>
          </a:xfrm>
          <a:prstGeom prst="roundRect">
            <a:avLst>
              <a:gd name="adj" fmla="val 9375"/>
            </a:avLst>
          </a:prstGeom>
          <a:solidFill>
            <a:srgbClr val="FFFFFF"/>
          </a:solidFill>
          <a:ln w="12700">
            <a:solidFill>
              <a:srgbClr val="D6E4F0"/>
            </a:solidFill>
            <a:prstDash val="solid"/>
          </a:ln>
        </p:spPr>
      </p:sp>
      <p:sp>
        <p:nvSpPr>
          <p:cNvPr id="22" name="Text 20"/>
          <p:cNvSpPr/>
          <p:nvPr/>
        </p:nvSpPr>
        <p:spPr>
          <a:xfrm>
            <a:off x="987552" y="3429000"/>
            <a:ext cx="1453896" cy="429768"/>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Classical ML</a:t>
            </a:r>
            <a:endParaRPr lang="en-US" sz="1050" dirty="0"/>
          </a:p>
        </p:txBody>
      </p:sp>
      <p:sp>
        <p:nvSpPr>
          <p:cNvPr id="23" name="Shape 21"/>
          <p:cNvSpPr/>
          <p:nvPr/>
        </p:nvSpPr>
        <p:spPr>
          <a:xfrm>
            <a:off x="2926080" y="3337560"/>
            <a:ext cx="1600200" cy="585216"/>
          </a:xfrm>
          <a:prstGeom prst="roundRect">
            <a:avLst>
              <a:gd name="adj" fmla="val 9375"/>
            </a:avLst>
          </a:prstGeom>
          <a:solidFill>
            <a:srgbClr val="FFFFFF"/>
          </a:solidFill>
          <a:ln w="12700">
            <a:solidFill>
              <a:srgbClr val="D6E4F0"/>
            </a:solidFill>
            <a:prstDash val="solid"/>
          </a:ln>
        </p:spPr>
      </p:sp>
      <p:sp>
        <p:nvSpPr>
          <p:cNvPr id="24" name="Text 22"/>
          <p:cNvSpPr/>
          <p:nvPr/>
        </p:nvSpPr>
        <p:spPr>
          <a:xfrm>
            <a:off x="2999232" y="3429000"/>
            <a:ext cx="1453896" cy="429768"/>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Deep Learning</a:t>
            </a:r>
            <a:endParaRPr lang="en-US" sz="1050" dirty="0"/>
          </a:p>
        </p:txBody>
      </p:sp>
      <p:sp>
        <p:nvSpPr>
          <p:cNvPr id="25" name="Shape 23"/>
          <p:cNvSpPr/>
          <p:nvPr/>
        </p:nvSpPr>
        <p:spPr>
          <a:xfrm>
            <a:off x="4983480" y="3337560"/>
            <a:ext cx="1600200" cy="585216"/>
          </a:xfrm>
          <a:prstGeom prst="roundRect">
            <a:avLst>
              <a:gd name="adj" fmla="val 9375"/>
            </a:avLst>
          </a:prstGeom>
          <a:solidFill>
            <a:srgbClr val="FFFFFF"/>
          </a:solidFill>
          <a:ln w="12700">
            <a:solidFill>
              <a:srgbClr val="D6E4F0"/>
            </a:solidFill>
            <a:prstDash val="solid"/>
          </a:ln>
        </p:spPr>
      </p:sp>
      <p:sp>
        <p:nvSpPr>
          <p:cNvPr id="26" name="Text 24"/>
          <p:cNvSpPr/>
          <p:nvPr/>
        </p:nvSpPr>
        <p:spPr>
          <a:xfrm>
            <a:off x="5056632" y="3429000"/>
            <a:ext cx="1453896" cy="429768"/>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Medical NLP</a:t>
            </a:r>
            <a:endParaRPr lang="en-US" sz="1050" dirty="0"/>
          </a:p>
        </p:txBody>
      </p:sp>
      <p:sp>
        <p:nvSpPr>
          <p:cNvPr id="27" name="Shape 25"/>
          <p:cNvSpPr/>
          <p:nvPr/>
        </p:nvSpPr>
        <p:spPr>
          <a:xfrm>
            <a:off x="7040880" y="3337560"/>
            <a:ext cx="1600200" cy="585216"/>
          </a:xfrm>
          <a:prstGeom prst="roundRect">
            <a:avLst>
              <a:gd name="adj" fmla="val 9375"/>
            </a:avLst>
          </a:prstGeom>
          <a:solidFill>
            <a:srgbClr val="FFFFFF"/>
          </a:solidFill>
          <a:ln w="12700">
            <a:solidFill>
              <a:srgbClr val="D6E4F0"/>
            </a:solidFill>
            <a:prstDash val="solid"/>
          </a:ln>
        </p:spPr>
      </p:sp>
      <p:sp>
        <p:nvSpPr>
          <p:cNvPr id="28" name="Text 26"/>
          <p:cNvSpPr/>
          <p:nvPr/>
        </p:nvSpPr>
        <p:spPr>
          <a:xfrm>
            <a:off x="7114032" y="3429000"/>
            <a:ext cx="1453896" cy="429768"/>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RAG</a:t>
            </a:r>
            <a:endParaRPr lang="en-US" sz="1050" dirty="0"/>
          </a:p>
        </p:txBody>
      </p:sp>
      <p:sp>
        <p:nvSpPr>
          <p:cNvPr id="29" name="Shape 27"/>
          <p:cNvSpPr/>
          <p:nvPr/>
        </p:nvSpPr>
        <p:spPr>
          <a:xfrm>
            <a:off x="9098280" y="3337560"/>
            <a:ext cx="1600200" cy="585216"/>
          </a:xfrm>
          <a:prstGeom prst="roundRect">
            <a:avLst>
              <a:gd name="adj" fmla="val 9375"/>
            </a:avLst>
          </a:prstGeom>
          <a:solidFill>
            <a:srgbClr val="FFFFFF"/>
          </a:solidFill>
          <a:ln w="12700">
            <a:solidFill>
              <a:srgbClr val="D6E4F0"/>
            </a:solidFill>
            <a:prstDash val="solid"/>
          </a:ln>
        </p:spPr>
      </p:sp>
      <p:sp>
        <p:nvSpPr>
          <p:cNvPr id="30" name="Text 28"/>
          <p:cNvSpPr/>
          <p:nvPr/>
        </p:nvSpPr>
        <p:spPr>
          <a:xfrm>
            <a:off x="9171432" y="3429000"/>
            <a:ext cx="1453896" cy="429768"/>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Translation</a:t>
            </a:r>
            <a:endParaRPr lang="en-US" sz="1050" dirty="0"/>
          </a:p>
        </p:txBody>
      </p:sp>
      <p:sp>
        <p:nvSpPr>
          <p:cNvPr id="31" name="Shape 29"/>
          <p:cNvSpPr/>
          <p:nvPr/>
        </p:nvSpPr>
        <p:spPr>
          <a:xfrm>
            <a:off x="10085832" y="2596896"/>
            <a:ext cx="914400" cy="704088"/>
          </a:xfrm>
          <a:prstGeom prst="line">
            <a:avLst/>
          </a:prstGeom>
          <a:noFill/>
          <a:ln w="27940">
            <a:solidFill>
              <a:srgbClr val="D6E4F0"/>
            </a:solidFill>
            <a:prstDash val="solid"/>
            <a:headEnd type="none"/>
            <a:tailEnd type="triangle"/>
          </a:ln>
        </p:spPr>
      </p:sp>
      <p:sp>
        <p:nvSpPr>
          <p:cNvPr id="32" name="Shape 30"/>
          <p:cNvSpPr/>
          <p:nvPr/>
        </p:nvSpPr>
        <p:spPr>
          <a:xfrm>
            <a:off x="10085832" y="2596896"/>
            <a:ext cx="914400" cy="704088"/>
          </a:xfrm>
          <a:prstGeom prst="line">
            <a:avLst/>
          </a:prstGeom>
          <a:noFill/>
          <a:ln w="27940">
            <a:solidFill>
              <a:srgbClr val="D6E4F0"/>
            </a:solidFill>
            <a:prstDash val="solid"/>
            <a:headEnd type="none"/>
            <a:tailEnd type="triangle"/>
          </a:ln>
        </p:spPr>
      </p:sp>
      <p:sp>
        <p:nvSpPr>
          <p:cNvPr id="33" name="Shape 31"/>
          <p:cNvSpPr/>
          <p:nvPr/>
        </p:nvSpPr>
        <p:spPr>
          <a:xfrm>
            <a:off x="10085832" y="2596896"/>
            <a:ext cx="914400" cy="704088"/>
          </a:xfrm>
          <a:prstGeom prst="line">
            <a:avLst/>
          </a:prstGeom>
          <a:noFill/>
          <a:ln w="27940">
            <a:solidFill>
              <a:srgbClr val="D6E4F0"/>
            </a:solidFill>
            <a:prstDash val="solid"/>
            <a:headEnd type="none"/>
            <a:tailEnd type="triangle"/>
          </a:ln>
        </p:spPr>
      </p:sp>
      <p:sp>
        <p:nvSpPr>
          <p:cNvPr id="34" name="Shape 32"/>
          <p:cNvSpPr/>
          <p:nvPr/>
        </p:nvSpPr>
        <p:spPr>
          <a:xfrm>
            <a:off x="10085832" y="2596896"/>
            <a:ext cx="914400" cy="704088"/>
          </a:xfrm>
          <a:prstGeom prst="line">
            <a:avLst/>
          </a:prstGeom>
          <a:noFill/>
          <a:ln w="27940">
            <a:solidFill>
              <a:srgbClr val="D6E4F0"/>
            </a:solidFill>
            <a:prstDash val="solid"/>
            <a:headEnd type="none"/>
            <a:tailEnd type="triangle"/>
          </a:ln>
        </p:spPr>
      </p:sp>
      <p:sp>
        <p:nvSpPr>
          <p:cNvPr id="35" name="Shape 33"/>
          <p:cNvSpPr/>
          <p:nvPr/>
        </p:nvSpPr>
        <p:spPr>
          <a:xfrm>
            <a:off x="10085832" y="2596896"/>
            <a:ext cx="914400" cy="704088"/>
          </a:xfrm>
          <a:prstGeom prst="line">
            <a:avLst/>
          </a:prstGeom>
          <a:noFill/>
          <a:ln w="27940">
            <a:solidFill>
              <a:srgbClr val="D6E4F0"/>
            </a:solidFill>
            <a:prstDash val="solid"/>
            <a:headEnd type="none"/>
            <a:tailEnd type="triangle"/>
          </a:ln>
        </p:spPr>
      </p:sp>
      <p:sp>
        <p:nvSpPr>
          <p:cNvPr id="36" name="Shape 34"/>
          <p:cNvSpPr/>
          <p:nvPr/>
        </p:nvSpPr>
        <p:spPr>
          <a:xfrm>
            <a:off x="3858768" y="4572000"/>
            <a:ext cx="4498848" cy="749808"/>
          </a:xfrm>
          <a:prstGeom prst="roundRect">
            <a:avLst>
              <a:gd name="adj" fmla="val 7317"/>
            </a:avLst>
          </a:prstGeom>
          <a:solidFill>
            <a:srgbClr val="E7F7F0"/>
          </a:solidFill>
          <a:ln w="12700">
            <a:solidFill>
              <a:srgbClr val="1BAA9A"/>
            </a:solidFill>
            <a:prstDash val="solid"/>
          </a:ln>
        </p:spPr>
      </p:sp>
      <p:sp>
        <p:nvSpPr>
          <p:cNvPr id="37" name="Text 35"/>
          <p:cNvSpPr/>
          <p:nvPr/>
        </p:nvSpPr>
        <p:spPr>
          <a:xfrm>
            <a:off x="3931920" y="4663440"/>
            <a:ext cx="4352544" cy="594360"/>
          </a:xfrm>
          <a:prstGeom prst="rect">
            <a:avLst/>
          </a:prstGeom>
          <a:noFill/>
          <a:ln/>
        </p:spPr>
        <p:txBody>
          <a:bodyPr wrap="square" lIns="127" tIns="127" rIns="127" bIns="127" rtlCol="0" anchor="ctr">
            <a:normAutofit/>
          </a:bodyPr>
          <a:lstStyle/>
          <a:p>
            <a:pPr algn="ctr" indent="0" marL="0">
              <a:buNone/>
            </a:pPr>
            <a:r>
              <a:rPr lang="en-US" sz="1300" b="1" dirty="0">
                <a:solidFill>
                  <a:srgbClr val="14324A"/>
                </a:solidFill>
              </a:rPr>
              <a:t>Structured Result</a:t>
            </a:r>
            <a:endParaRPr lang="en-US" sz="1300" dirty="0"/>
          </a:p>
          <a:p>
            <a:pPr algn="ctr" indent="0" marL="0">
              <a:buNone/>
            </a:pPr>
            <a:r>
              <a:rPr lang="en-US" sz="1300" b="1" dirty="0">
                <a:solidFill>
                  <a:srgbClr val="14324A"/>
                </a:solidFill>
              </a:rPr>
              <a:t>+ Sources / Safety Metadata</a:t>
            </a:r>
            <a:endParaRPr lang="en-US" sz="1300" dirty="0"/>
          </a:p>
        </p:txBody>
      </p:sp>
      <p:sp>
        <p:nvSpPr>
          <p:cNvPr id="38" name="Shape 36"/>
          <p:cNvSpPr/>
          <p:nvPr/>
        </p:nvSpPr>
        <p:spPr>
          <a:xfrm>
            <a:off x="6108192" y="3959352"/>
            <a:ext cx="0" cy="576072"/>
          </a:xfrm>
          <a:prstGeom prst="line">
            <a:avLst/>
          </a:prstGeom>
          <a:noFill/>
          <a:ln w="27940">
            <a:solidFill>
              <a:srgbClr val="1BAA9A"/>
            </a:solidFill>
            <a:prstDash val="solid"/>
            <a:headEnd type="none"/>
            <a:tailEnd type="triangle"/>
          </a:ln>
        </p:spPr>
      </p:sp>
      <p:sp>
        <p:nvSpPr>
          <p:cNvPr id="39" name="Text 37"/>
          <p:cNvSpPr/>
          <p:nvPr/>
        </p:nvSpPr>
        <p:spPr>
          <a:xfrm>
            <a:off x="1920240" y="5632704"/>
            <a:ext cx="8412480" cy="347472"/>
          </a:xfrm>
          <a:prstGeom prst="rect">
            <a:avLst/>
          </a:prstGeom>
          <a:noFill/>
          <a:ln/>
        </p:spPr>
        <p:txBody>
          <a:bodyPr wrap="square" lIns="0" tIns="0" rIns="0" bIns="0" rtlCol="0" anchor="ctr"/>
          <a:lstStyle/>
          <a:p>
            <a:pPr algn="ctr" indent="0" marL="0">
              <a:buNone/>
            </a:pPr>
            <a:r>
              <a:rPr lang="en-US" sz="1150" dirty="0">
                <a:solidFill>
                  <a:srgbClr val="6F879D"/>
                </a:solidFill>
              </a:rPr>
              <a:t>Response normalization keeps the UI independent of individual model output structures.</a:t>
            </a:r>
            <a:endParaRPr lang="en-US" sz="11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One Platform, Two User Experiences</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A unified virtual-hospital interface for clinical support and patient interaction</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APPLICATION</a:t>
            </a:r>
            <a:endParaRPr lang="en-US" sz="850" dirty="0"/>
          </a:p>
        </p:txBody>
      </p:sp>
      <p:sp>
        <p:nvSpPr>
          <p:cNvPr id="7" name="Shape 5"/>
          <p:cNvSpPr/>
          <p:nvPr/>
        </p:nvSpPr>
        <p:spPr>
          <a:xfrm>
            <a:off x="548640" y="1325880"/>
            <a:ext cx="5486400" cy="4526280"/>
          </a:xfrm>
          <a:prstGeom prst="roundRect">
            <a:avLst>
              <a:gd name="adj" fmla="val 1616"/>
            </a:avLst>
          </a:prstGeom>
          <a:solidFill>
            <a:srgbClr val="FFFFFF"/>
          </a:solidFill>
          <a:ln w="12700">
            <a:solidFill>
              <a:srgbClr val="D6E4F0"/>
            </a:solidFill>
            <a:prstDash val="solid"/>
          </a:ln>
        </p:spPr>
      </p:sp>
      <p:pic>
        <p:nvPicPr>
          <p:cNvPr id="8" name="Image 0" descr="/mnt/data/home(1).png">    </p:cNvPr>
          <p:cNvPicPr>
            <a:picLocks noChangeAspect="1"/>
          </p:cNvPicPr>
          <p:nvPr/>
        </p:nvPicPr>
        <p:blipFill>
          <a:blip r:embed="rId1"/>
          <a:stretch>
            <a:fillRect/>
          </a:stretch>
        </p:blipFill>
        <p:spPr>
          <a:xfrm>
            <a:off x="576072" y="1353312"/>
            <a:ext cx="5431536" cy="4471416"/>
          </a:xfrm>
          <a:prstGeom prst="rect">
            <a:avLst/>
          </a:prstGeom>
        </p:spPr>
      </p:pic>
      <p:sp>
        <p:nvSpPr>
          <p:cNvPr id="9" name="Shape 6"/>
          <p:cNvSpPr/>
          <p:nvPr/>
        </p:nvSpPr>
        <p:spPr>
          <a:xfrm>
            <a:off x="6400800" y="1417320"/>
            <a:ext cx="5074920" cy="1325880"/>
          </a:xfrm>
          <a:prstGeom prst="roundRect">
            <a:avLst>
              <a:gd name="adj" fmla="val 5517"/>
            </a:avLst>
          </a:prstGeom>
          <a:solidFill>
            <a:srgbClr val="FFFFFF"/>
          </a:solidFill>
          <a:ln w="12700">
            <a:solidFill>
              <a:srgbClr val="D6E4F0"/>
            </a:solidFill>
            <a:prstDash val="solid"/>
          </a:ln>
        </p:spPr>
      </p:sp>
      <p:sp>
        <p:nvSpPr>
          <p:cNvPr id="10" name="Shape 7"/>
          <p:cNvSpPr/>
          <p:nvPr/>
        </p:nvSpPr>
        <p:spPr>
          <a:xfrm>
            <a:off x="6400800" y="1417320"/>
            <a:ext cx="64008" cy="1325880"/>
          </a:xfrm>
          <a:prstGeom prst="rect">
            <a:avLst/>
          </a:prstGeom>
          <a:solidFill>
            <a:srgbClr val="1D63D6"/>
          </a:solidFill>
          <a:ln w="12700">
            <a:solidFill>
              <a:srgbClr val="1D63D6"/>
            </a:solidFill>
            <a:prstDash val="solid"/>
          </a:ln>
        </p:spPr>
      </p:sp>
      <p:sp>
        <p:nvSpPr>
          <p:cNvPr id="11" name="Text 8"/>
          <p:cNvSpPr/>
          <p:nvPr/>
        </p:nvSpPr>
        <p:spPr>
          <a:xfrm>
            <a:off x="6565392" y="1563624"/>
            <a:ext cx="4754880" cy="237744"/>
          </a:xfrm>
          <a:prstGeom prst="rect">
            <a:avLst/>
          </a:prstGeom>
          <a:noFill/>
          <a:ln/>
        </p:spPr>
        <p:txBody>
          <a:bodyPr wrap="square" lIns="0" tIns="0" rIns="0" bIns="0" rtlCol="0" anchor="ctr"/>
          <a:lstStyle/>
          <a:p>
            <a:pPr indent="0" marL="0">
              <a:buNone/>
            </a:pPr>
            <a:r>
              <a:rPr lang="en-US" sz="1350" b="1" dirty="0">
                <a:solidFill>
                  <a:srgbClr val="14324A"/>
                </a:solidFill>
              </a:rPr>
              <a:t>Doctor Portal</a:t>
            </a:r>
            <a:endParaRPr lang="en-US" sz="1350" dirty="0"/>
          </a:p>
        </p:txBody>
      </p:sp>
      <p:sp>
        <p:nvSpPr>
          <p:cNvPr id="12" name="Text 9"/>
          <p:cNvSpPr/>
          <p:nvPr/>
        </p:nvSpPr>
        <p:spPr>
          <a:xfrm>
            <a:off x="6565392" y="1883664"/>
            <a:ext cx="4754880" cy="75895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Clinical decision-support workspace with imaging, prediction and medical text tools.</a:t>
            </a:r>
            <a:endParaRPr lang="en-US" sz="1050" dirty="0"/>
          </a:p>
        </p:txBody>
      </p:sp>
      <p:sp>
        <p:nvSpPr>
          <p:cNvPr id="13" name="Shape 10"/>
          <p:cNvSpPr/>
          <p:nvPr/>
        </p:nvSpPr>
        <p:spPr>
          <a:xfrm>
            <a:off x="6400800" y="2907792"/>
            <a:ext cx="5074920" cy="1325880"/>
          </a:xfrm>
          <a:prstGeom prst="roundRect">
            <a:avLst>
              <a:gd name="adj" fmla="val 5517"/>
            </a:avLst>
          </a:prstGeom>
          <a:solidFill>
            <a:srgbClr val="FFFFFF"/>
          </a:solidFill>
          <a:ln w="12700">
            <a:solidFill>
              <a:srgbClr val="D6E4F0"/>
            </a:solidFill>
            <a:prstDash val="solid"/>
          </a:ln>
        </p:spPr>
      </p:sp>
      <p:sp>
        <p:nvSpPr>
          <p:cNvPr id="14" name="Shape 11"/>
          <p:cNvSpPr/>
          <p:nvPr/>
        </p:nvSpPr>
        <p:spPr>
          <a:xfrm>
            <a:off x="6400800" y="2907792"/>
            <a:ext cx="64008" cy="1325880"/>
          </a:xfrm>
          <a:prstGeom prst="rect">
            <a:avLst/>
          </a:prstGeom>
          <a:solidFill>
            <a:srgbClr val="1BAA9A"/>
          </a:solidFill>
          <a:ln w="12700">
            <a:solidFill>
              <a:srgbClr val="1BAA9A"/>
            </a:solidFill>
            <a:prstDash val="solid"/>
          </a:ln>
        </p:spPr>
      </p:sp>
      <p:sp>
        <p:nvSpPr>
          <p:cNvPr id="15" name="Text 12"/>
          <p:cNvSpPr/>
          <p:nvPr/>
        </p:nvSpPr>
        <p:spPr>
          <a:xfrm>
            <a:off x="6565392" y="3054096"/>
            <a:ext cx="4754880" cy="237744"/>
          </a:xfrm>
          <a:prstGeom prst="rect">
            <a:avLst/>
          </a:prstGeom>
          <a:noFill/>
          <a:ln/>
        </p:spPr>
        <p:txBody>
          <a:bodyPr wrap="square" lIns="0" tIns="0" rIns="0" bIns="0" rtlCol="0" anchor="ctr"/>
          <a:lstStyle/>
          <a:p>
            <a:pPr indent="0" marL="0">
              <a:buNone/>
            </a:pPr>
            <a:r>
              <a:rPr lang="en-US" sz="1350" b="1" dirty="0">
                <a:solidFill>
                  <a:srgbClr val="14324A"/>
                </a:solidFill>
              </a:rPr>
              <a:t>Patient Portal</a:t>
            </a:r>
            <a:endParaRPr lang="en-US" sz="1350" dirty="0"/>
          </a:p>
        </p:txBody>
      </p:sp>
      <p:sp>
        <p:nvSpPr>
          <p:cNvPr id="16" name="Text 13"/>
          <p:cNvSpPr/>
          <p:nvPr/>
        </p:nvSpPr>
        <p:spPr>
          <a:xfrm>
            <a:off x="6565392" y="3374136"/>
            <a:ext cx="4754880" cy="75895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Health dashboard, risk assessment, AI assistant, appointments and hospital services.</a:t>
            </a:r>
            <a:endParaRPr lang="en-US" sz="1050" dirty="0"/>
          </a:p>
        </p:txBody>
      </p:sp>
      <p:sp>
        <p:nvSpPr>
          <p:cNvPr id="17" name="Shape 14"/>
          <p:cNvSpPr/>
          <p:nvPr/>
        </p:nvSpPr>
        <p:spPr>
          <a:xfrm>
            <a:off x="6400800" y="4407408"/>
            <a:ext cx="5074920" cy="1325880"/>
          </a:xfrm>
          <a:prstGeom prst="roundRect">
            <a:avLst>
              <a:gd name="adj" fmla="val 5517"/>
            </a:avLst>
          </a:prstGeom>
          <a:solidFill>
            <a:srgbClr val="EAF3FA"/>
          </a:solidFill>
          <a:ln w="12700">
            <a:solidFill>
              <a:srgbClr val="D6E4F0"/>
            </a:solidFill>
            <a:prstDash val="solid"/>
          </a:ln>
        </p:spPr>
      </p:sp>
      <p:sp>
        <p:nvSpPr>
          <p:cNvPr id="18" name="Shape 15"/>
          <p:cNvSpPr/>
          <p:nvPr/>
        </p:nvSpPr>
        <p:spPr>
          <a:xfrm>
            <a:off x="6400800" y="4407408"/>
            <a:ext cx="64008" cy="1325880"/>
          </a:xfrm>
          <a:prstGeom prst="rect">
            <a:avLst/>
          </a:prstGeom>
          <a:solidFill>
            <a:srgbClr val="28A6D9"/>
          </a:solidFill>
          <a:ln w="12700">
            <a:solidFill>
              <a:srgbClr val="28A6D9"/>
            </a:solidFill>
            <a:prstDash val="solid"/>
          </a:ln>
        </p:spPr>
      </p:sp>
      <p:sp>
        <p:nvSpPr>
          <p:cNvPr id="19" name="Text 16"/>
          <p:cNvSpPr/>
          <p:nvPr/>
        </p:nvSpPr>
        <p:spPr>
          <a:xfrm>
            <a:off x="6565392" y="4553712"/>
            <a:ext cx="4754880" cy="237744"/>
          </a:xfrm>
          <a:prstGeom prst="rect">
            <a:avLst/>
          </a:prstGeom>
          <a:noFill/>
          <a:ln/>
        </p:spPr>
        <p:txBody>
          <a:bodyPr wrap="square" lIns="0" tIns="0" rIns="0" bIns="0" rtlCol="0" anchor="ctr"/>
          <a:lstStyle/>
          <a:p>
            <a:pPr indent="0" marL="0">
              <a:buNone/>
            </a:pPr>
            <a:r>
              <a:rPr lang="en-US" sz="1350" b="1" dirty="0">
                <a:solidFill>
                  <a:srgbClr val="14324A"/>
                </a:solidFill>
              </a:rPr>
              <a:t>Design Boundary</a:t>
            </a:r>
            <a:endParaRPr lang="en-US" sz="1350" dirty="0"/>
          </a:p>
        </p:txBody>
      </p:sp>
      <p:sp>
        <p:nvSpPr>
          <p:cNvPr id="20" name="Text 17"/>
          <p:cNvSpPr/>
          <p:nvPr/>
        </p:nvSpPr>
        <p:spPr>
          <a:xfrm>
            <a:off x="6565392" y="4873752"/>
            <a:ext cx="4754880" cy="75895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The application presents AI outputs as portfolio / decision-support demonstrations and keeps medical safety language visible.</a:t>
            </a:r>
            <a:endParaRPr lang="en-US" sz="10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Doctor Portal — Clinical AI Services</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The Doctor workspace exposes specialized capabilities through one navigation layer</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DOCTOR</a:t>
            </a:r>
            <a:endParaRPr lang="en-US" sz="850" dirty="0"/>
          </a:p>
        </p:txBody>
      </p:sp>
      <p:sp>
        <p:nvSpPr>
          <p:cNvPr id="7" name="Shape 5"/>
          <p:cNvSpPr/>
          <p:nvPr/>
        </p:nvSpPr>
        <p:spPr>
          <a:xfrm>
            <a:off x="530352" y="1298448"/>
            <a:ext cx="3840480" cy="2423160"/>
          </a:xfrm>
          <a:prstGeom prst="roundRect">
            <a:avLst>
              <a:gd name="adj" fmla="val 3019"/>
            </a:avLst>
          </a:prstGeom>
          <a:solidFill>
            <a:srgbClr val="FFFFFF"/>
          </a:solidFill>
          <a:ln w="12700">
            <a:solidFill>
              <a:srgbClr val="D6E4F0"/>
            </a:solidFill>
            <a:prstDash val="solid"/>
          </a:ln>
        </p:spPr>
      </p:sp>
      <p:pic>
        <p:nvPicPr>
          <p:cNvPr id="8" name="Image 0" descr="/mnt/data/doctor_portal.png">    </p:cNvPr>
          <p:cNvPicPr>
            <a:picLocks noChangeAspect="1"/>
          </p:cNvPicPr>
          <p:nvPr/>
        </p:nvPicPr>
        <p:blipFill>
          <a:blip r:embed="rId1"/>
          <a:stretch>
            <a:fillRect/>
          </a:stretch>
        </p:blipFill>
        <p:spPr>
          <a:xfrm>
            <a:off x="557784" y="1325880"/>
            <a:ext cx="3785616" cy="2368296"/>
          </a:xfrm>
          <a:prstGeom prst="rect">
            <a:avLst/>
          </a:prstGeom>
        </p:spPr>
      </p:pic>
      <p:sp>
        <p:nvSpPr>
          <p:cNvPr id="9" name="Shape 6"/>
          <p:cNvSpPr/>
          <p:nvPr/>
        </p:nvSpPr>
        <p:spPr>
          <a:xfrm>
            <a:off x="4553712" y="1298448"/>
            <a:ext cx="3383280" cy="2423160"/>
          </a:xfrm>
          <a:prstGeom prst="roundRect">
            <a:avLst>
              <a:gd name="adj" fmla="val 3019"/>
            </a:avLst>
          </a:prstGeom>
          <a:solidFill>
            <a:srgbClr val="FFFFFF"/>
          </a:solidFill>
          <a:ln w="12700">
            <a:solidFill>
              <a:srgbClr val="D6E4F0"/>
            </a:solidFill>
            <a:prstDash val="solid"/>
          </a:ln>
        </p:spPr>
      </p:sp>
      <p:pic>
        <p:nvPicPr>
          <p:cNvPr id="10" name="Image 1" descr="/mnt/data/xray_result(1).png">    </p:cNvPr>
          <p:cNvPicPr>
            <a:picLocks noChangeAspect="1"/>
          </p:cNvPicPr>
          <p:nvPr/>
        </p:nvPicPr>
        <p:blipFill>
          <a:blip r:embed="rId2"/>
          <a:stretch>
            <a:fillRect/>
          </a:stretch>
        </p:blipFill>
        <p:spPr>
          <a:xfrm>
            <a:off x="4581144" y="1325880"/>
            <a:ext cx="3328416" cy="2368296"/>
          </a:xfrm>
          <a:prstGeom prst="rect">
            <a:avLst/>
          </a:prstGeom>
        </p:spPr>
      </p:pic>
      <p:sp>
        <p:nvSpPr>
          <p:cNvPr id="11" name="Shape 7"/>
          <p:cNvSpPr/>
          <p:nvPr/>
        </p:nvSpPr>
        <p:spPr>
          <a:xfrm>
            <a:off x="8119872" y="1298448"/>
            <a:ext cx="3520440" cy="2423160"/>
          </a:xfrm>
          <a:prstGeom prst="roundRect">
            <a:avLst>
              <a:gd name="adj" fmla="val 3019"/>
            </a:avLst>
          </a:prstGeom>
          <a:solidFill>
            <a:srgbClr val="FFFFFF"/>
          </a:solidFill>
          <a:ln w="12700">
            <a:solidFill>
              <a:srgbClr val="D6E4F0"/>
            </a:solidFill>
            <a:prstDash val="solid"/>
          </a:ln>
        </p:spPr>
      </p:sp>
      <p:pic>
        <p:nvPicPr>
          <p:cNvPr id="12" name="Image 2" descr="/mnt/data/length_of_stay(2).png">    </p:cNvPr>
          <p:cNvPicPr>
            <a:picLocks noChangeAspect="1"/>
          </p:cNvPicPr>
          <p:nvPr/>
        </p:nvPicPr>
        <p:blipFill>
          <a:blip r:embed="rId3"/>
          <a:stretch>
            <a:fillRect/>
          </a:stretch>
        </p:blipFill>
        <p:spPr>
          <a:xfrm>
            <a:off x="8147304" y="1325880"/>
            <a:ext cx="3465576" cy="2368296"/>
          </a:xfrm>
          <a:prstGeom prst="rect">
            <a:avLst/>
          </a:prstGeom>
        </p:spPr>
      </p:pic>
      <p:sp>
        <p:nvSpPr>
          <p:cNvPr id="13" name="Shape 8"/>
          <p:cNvSpPr/>
          <p:nvPr/>
        </p:nvSpPr>
        <p:spPr>
          <a:xfrm>
            <a:off x="530352" y="3913632"/>
            <a:ext cx="3703320" cy="2331720"/>
          </a:xfrm>
          <a:prstGeom prst="roundRect">
            <a:avLst>
              <a:gd name="adj" fmla="val 3137"/>
            </a:avLst>
          </a:prstGeom>
          <a:solidFill>
            <a:srgbClr val="FFFFFF"/>
          </a:solidFill>
          <a:ln w="12700">
            <a:solidFill>
              <a:srgbClr val="D6E4F0"/>
            </a:solidFill>
            <a:prstDash val="solid"/>
          </a:ln>
        </p:spPr>
      </p:sp>
      <p:pic>
        <p:nvPicPr>
          <p:cNvPr id="14" name="Image 3" descr="/mnt/data/primary_diagnosis(1).png">    </p:cNvPr>
          <p:cNvPicPr>
            <a:picLocks noChangeAspect="1"/>
          </p:cNvPicPr>
          <p:nvPr/>
        </p:nvPicPr>
        <p:blipFill>
          <a:blip r:embed="rId4"/>
          <a:stretch>
            <a:fillRect/>
          </a:stretch>
        </p:blipFill>
        <p:spPr>
          <a:xfrm>
            <a:off x="557784" y="3941064"/>
            <a:ext cx="3648456" cy="2276856"/>
          </a:xfrm>
          <a:prstGeom prst="rect">
            <a:avLst/>
          </a:prstGeom>
        </p:spPr>
      </p:pic>
      <p:sp>
        <p:nvSpPr>
          <p:cNvPr id="15" name="Shape 9"/>
          <p:cNvSpPr/>
          <p:nvPr/>
        </p:nvSpPr>
        <p:spPr>
          <a:xfrm>
            <a:off x="4370832" y="3913632"/>
            <a:ext cx="3703320" cy="2331720"/>
          </a:xfrm>
          <a:prstGeom prst="roundRect">
            <a:avLst>
              <a:gd name="adj" fmla="val 3137"/>
            </a:avLst>
          </a:prstGeom>
          <a:solidFill>
            <a:srgbClr val="FFFFFF"/>
          </a:solidFill>
          <a:ln w="12700">
            <a:solidFill>
              <a:srgbClr val="D6E4F0"/>
            </a:solidFill>
            <a:prstDash val="solid"/>
          </a:ln>
        </p:spPr>
      </p:sp>
      <p:pic>
        <p:nvPicPr>
          <p:cNvPr id="16" name="Image 4" descr="/mnt/data/patient_sentiment(1).png">    </p:cNvPr>
          <p:cNvPicPr>
            <a:picLocks noChangeAspect="1"/>
          </p:cNvPicPr>
          <p:nvPr/>
        </p:nvPicPr>
        <p:blipFill>
          <a:blip r:embed="rId5"/>
          <a:stretch>
            <a:fillRect/>
          </a:stretch>
        </p:blipFill>
        <p:spPr>
          <a:xfrm>
            <a:off x="4398264" y="3941064"/>
            <a:ext cx="3648456" cy="2276856"/>
          </a:xfrm>
          <a:prstGeom prst="rect">
            <a:avLst/>
          </a:prstGeom>
        </p:spPr>
      </p:pic>
      <p:sp>
        <p:nvSpPr>
          <p:cNvPr id="17" name="Shape 10"/>
          <p:cNvSpPr/>
          <p:nvPr/>
        </p:nvSpPr>
        <p:spPr>
          <a:xfrm>
            <a:off x="8211312" y="3913632"/>
            <a:ext cx="3429000" cy="2331720"/>
          </a:xfrm>
          <a:prstGeom prst="roundRect">
            <a:avLst>
              <a:gd name="adj" fmla="val 3137"/>
            </a:avLst>
          </a:prstGeom>
          <a:solidFill>
            <a:srgbClr val="FFFFFF"/>
          </a:solidFill>
          <a:ln w="12700">
            <a:solidFill>
              <a:srgbClr val="D6E4F0"/>
            </a:solidFill>
            <a:prstDash val="solid"/>
          </a:ln>
        </p:spPr>
      </p:sp>
      <p:pic>
        <p:nvPicPr>
          <p:cNvPr id="18" name="Image 5" descr="/mnt/data/medical_ner(1).png">    </p:cNvPr>
          <p:cNvPicPr>
            <a:picLocks noChangeAspect="1"/>
          </p:cNvPicPr>
          <p:nvPr/>
        </p:nvPicPr>
        <p:blipFill>
          <a:blip r:embed="rId6"/>
          <a:stretch>
            <a:fillRect/>
          </a:stretch>
        </p:blipFill>
        <p:spPr>
          <a:xfrm>
            <a:off x="8238744" y="3941064"/>
            <a:ext cx="3374136" cy="2276856"/>
          </a:xfrm>
          <a:prstGeom prst="rect">
            <a:avLst/>
          </a:prstGeom>
        </p:spPr>
      </p:pic>
      <p:sp>
        <p:nvSpPr>
          <p:cNvPr id="19" name="Text 11"/>
          <p:cNvSpPr/>
          <p:nvPr/>
        </p:nvSpPr>
        <p:spPr>
          <a:xfrm>
            <a:off x="914400" y="3657600"/>
            <a:ext cx="1280160" cy="164592"/>
          </a:xfrm>
          <a:prstGeom prst="rect">
            <a:avLst/>
          </a:prstGeom>
          <a:noFill/>
          <a:ln/>
        </p:spPr>
        <p:txBody>
          <a:bodyPr wrap="square" lIns="0" tIns="0" rIns="0" bIns="0" rtlCol="0" anchor="ctr"/>
          <a:lstStyle/>
          <a:p>
            <a:pPr indent="0" marL="0">
              <a:buNone/>
            </a:pPr>
            <a:r>
              <a:rPr lang="en-US" sz="850" b="1" dirty="0">
                <a:solidFill>
                  <a:srgbClr val="6F879D"/>
                </a:solidFill>
              </a:rPr>
              <a:t>Chest X-ray</a:t>
            </a:r>
            <a:endParaRPr lang="en-US" sz="850" dirty="0"/>
          </a:p>
        </p:txBody>
      </p:sp>
      <p:sp>
        <p:nvSpPr>
          <p:cNvPr id="20" name="Text 12"/>
          <p:cNvSpPr/>
          <p:nvPr/>
        </p:nvSpPr>
        <p:spPr>
          <a:xfrm>
            <a:off x="8458200" y="3657600"/>
            <a:ext cx="731520" cy="164592"/>
          </a:xfrm>
          <a:prstGeom prst="rect">
            <a:avLst/>
          </a:prstGeom>
          <a:noFill/>
          <a:ln/>
        </p:spPr>
        <p:txBody>
          <a:bodyPr wrap="square" lIns="0" tIns="0" rIns="0" bIns="0" rtlCol="0" anchor="ctr"/>
          <a:lstStyle/>
          <a:p>
            <a:pPr indent="0" marL="0">
              <a:buNone/>
            </a:pPr>
            <a:r>
              <a:rPr lang="en-US" sz="850" b="1" dirty="0">
                <a:solidFill>
                  <a:srgbClr val="6F879D"/>
                </a:solidFill>
              </a:rPr>
              <a:t>LOS</a:t>
            </a:r>
            <a:endParaRPr lang="en-US" sz="8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Patient Portal — Experience &amp; Services</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Patient-facing workflows include localized UI, health assessment and service navigation</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PATIENT</a:t>
            </a:r>
            <a:endParaRPr lang="en-US" sz="850" dirty="0"/>
          </a:p>
        </p:txBody>
      </p:sp>
      <p:sp>
        <p:nvSpPr>
          <p:cNvPr id="7" name="Shape 5"/>
          <p:cNvSpPr/>
          <p:nvPr/>
        </p:nvSpPr>
        <p:spPr>
          <a:xfrm>
            <a:off x="548640" y="1325880"/>
            <a:ext cx="5577840" cy="2788920"/>
          </a:xfrm>
          <a:prstGeom prst="roundRect">
            <a:avLst>
              <a:gd name="adj" fmla="val 2623"/>
            </a:avLst>
          </a:prstGeom>
          <a:solidFill>
            <a:srgbClr val="FFFFFF"/>
          </a:solidFill>
          <a:ln w="12700">
            <a:solidFill>
              <a:srgbClr val="D6E4F0"/>
            </a:solidFill>
            <a:prstDash val="solid"/>
          </a:ln>
        </p:spPr>
      </p:sp>
      <p:pic>
        <p:nvPicPr>
          <p:cNvPr id="8" name="Image 0" descr="/mnt/data/patient_portal (1).png">    </p:cNvPr>
          <p:cNvPicPr>
            <a:picLocks noChangeAspect="1"/>
          </p:cNvPicPr>
          <p:nvPr/>
        </p:nvPicPr>
        <p:blipFill>
          <a:blip r:embed="rId1"/>
          <a:stretch>
            <a:fillRect/>
          </a:stretch>
        </p:blipFill>
        <p:spPr>
          <a:xfrm>
            <a:off x="576072" y="1353312"/>
            <a:ext cx="5522976" cy="2734056"/>
          </a:xfrm>
          <a:prstGeom prst="rect">
            <a:avLst/>
          </a:prstGeom>
        </p:spPr>
      </p:pic>
      <p:sp>
        <p:nvSpPr>
          <p:cNvPr id="9" name="Shape 6"/>
          <p:cNvSpPr/>
          <p:nvPr/>
        </p:nvSpPr>
        <p:spPr>
          <a:xfrm>
            <a:off x="6309360" y="1325880"/>
            <a:ext cx="5321808" cy="2788920"/>
          </a:xfrm>
          <a:prstGeom prst="roundRect">
            <a:avLst>
              <a:gd name="adj" fmla="val 2623"/>
            </a:avLst>
          </a:prstGeom>
          <a:solidFill>
            <a:srgbClr val="FFFFFF"/>
          </a:solidFill>
          <a:ln w="12700">
            <a:solidFill>
              <a:srgbClr val="D6E4F0"/>
            </a:solidFill>
            <a:prstDash val="solid"/>
          </a:ln>
        </p:spPr>
      </p:sp>
      <p:pic>
        <p:nvPicPr>
          <p:cNvPr id="10" name="Image 1" descr="/mnt/data/health_risk(1).png">    </p:cNvPr>
          <p:cNvPicPr>
            <a:picLocks noChangeAspect="1"/>
          </p:cNvPicPr>
          <p:nvPr/>
        </p:nvPicPr>
        <p:blipFill>
          <a:blip r:embed="rId2"/>
          <a:stretch>
            <a:fillRect/>
          </a:stretch>
        </p:blipFill>
        <p:spPr>
          <a:xfrm>
            <a:off x="6336792" y="1353312"/>
            <a:ext cx="5266944" cy="2734056"/>
          </a:xfrm>
          <a:prstGeom prst="rect">
            <a:avLst/>
          </a:prstGeom>
        </p:spPr>
      </p:pic>
      <p:sp>
        <p:nvSpPr>
          <p:cNvPr id="11" name="Shape 7"/>
          <p:cNvSpPr/>
          <p:nvPr/>
        </p:nvSpPr>
        <p:spPr>
          <a:xfrm>
            <a:off x="548640" y="4315968"/>
            <a:ext cx="5376672" cy="1965960"/>
          </a:xfrm>
          <a:prstGeom prst="roundRect">
            <a:avLst>
              <a:gd name="adj" fmla="val 3721"/>
            </a:avLst>
          </a:prstGeom>
          <a:solidFill>
            <a:srgbClr val="FFFFFF"/>
          </a:solidFill>
          <a:ln w="12700">
            <a:solidFill>
              <a:srgbClr val="D6E4F0"/>
            </a:solidFill>
            <a:prstDash val="solid"/>
          </a:ln>
        </p:spPr>
      </p:sp>
      <p:pic>
        <p:nvPicPr>
          <p:cNvPr id="12" name="Image 2" descr="/mnt/data/appointments(1).png">    </p:cNvPr>
          <p:cNvPicPr>
            <a:picLocks noChangeAspect="1"/>
          </p:cNvPicPr>
          <p:nvPr/>
        </p:nvPicPr>
        <p:blipFill>
          <a:blip r:embed="rId3"/>
          <a:stretch>
            <a:fillRect/>
          </a:stretch>
        </p:blipFill>
        <p:spPr>
          <a:xfrm>
            <a:off x="576072" y="4343400"/>
            <a:ext cx="5321808" cy="1911096"/>
          </a:xfrm>
          <a:prstGeom prst="rect">
            <a:avLst/>
          </a:prstGeom>
        </p:spPr>
      </p:pic>
      <p:sp>
        <p:nvSpPr>
          <p:cNvPr id="13" name="Shape 8"/>
          <p:cNvSpPr/>
          <p:nvPr/>
        </p:nvSpPr>
        <p:spPr>
          <a:xfrm>
            <a:off x="6108192" y="4315968"/>
            <a:ext cx="5522976" cy="1965960"/>
          </a:xfrm>
          <a:prstGeom prst="roundRect">
            <a:avLst>
              <a:gd name="adj" fmla="val 3721"/>
            </a:avLst>
          </a:prstGeom>
          <a:solidFill>
            <a:srgbClr val="FFFFFF"/>
          </a:solidFill>
          <a:ln w="12700">
            <a:solidFill>
              <a:srgbClr val="D6E4F0"/>
            </a:solidFill>
            <a:prstDash val="solid"/>
          </a:ln>
        </p:spPr>
      </p:sp>
      <p:pic>
        <p:nvPicPr>
          <p:cNvPr id="14" name="Image 3" descr="/mnt/data/hospital services.png">    </p:cNvPr>
          <p:cNvPicPr>
            <a:picLocks noChangeAspect="1"/>
          </p:cNvPicPr>
          <p:nvPr/>
        </p:nvPicPr>
        <p:blipFill>
          <a:blip r:embed="rId4"/>
          <a:stretch>
            <a:fillRect/>
          </a:stretch>
        </p:blipFill>
        <p:spPr>
          <a:xfrm>
            <a:off x="6135624" y="4343400"/>
            <a:ext cx="5468112" cy="1911096"/>
          </a:xfrm>
          <a:prstGeom prst="rect">
            <a:avLst/>
          </a:prstGeom>
        </p:spPr>
      </p:pic>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Classical Machine Learning — Evaluation Snapshot</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Finalized application models and their recorded evaluation metrics</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ML</a:t>
            </a:r>
            <a:endParaRPr lang="en-US" sz="850" dirty="0"/>
          </a:p>
        </p:txBody>
      </p:sp>
      <p:sp>
        <p:nvSpPr>
          <p:cNvPr id="7" name="Text 5"/>
          <p:cNvSpPr/>
          <p:nvPr/>
        </p:nvSpPr>
        <p:spPr>
          <a:xfrm>
            <a:off x="566928" y="1353312"/>
            <a:ext cx="2926080" cy="256032"/>
          </a:xfrm>
          <a:prstGeom prst="rect">
            <a:avLst/>
          </a:prstGeom>
          <a:noFill/>
          <a:ln/>
        </p:spPr>
        <p:txBody>
          <a:bodyPr wrap="square" lIns="0" tIns="0" rIns="0" bIns="0" rtlCol="0" anchor="ctr"/>
          <a:lstStyle/>
          <a:p>
            <a:pPr indent="0" marL="0">
              <a:buNone/>
            </a:pPr>
            <a:r>
              <a:rPr lang="en-US" sz="1500" b="1" dirty="0">
                <a:solidFill>
                  <a:srgbClr val="14324A"/>
                </a:solidFill>
              </a:rPr>
              <a:t>Diabetes Risk — Random Forest</a:t>
            </a:r>
            <a:endParaRPr lang="en-US" sz="1500" dirty="0"/>
          </a:p>
        </p:txBody>
      </p:sp>
      <p:sp>
        <p:nvSpPr>
          <p:cNvPr id="8" name="Shape 6"/>
          <p:cNvSpPr/>
          <p:nvPr/>
        </p:nvSpPr>
        <p:spPr>
          <a:xfrm>
            <a:off x="566928" y="1737360"/>
            <a:ext cx="1371600" cy="822960"/>
          </a:xfrm>
          <a:prstGeom prst="roundRect">
            <a:avLst>
              <a:gd name="adj" fmla="val 8889"/>
            </a:avLst>
          </a:prstGeom>
          <a:solidFill>
            <a:srgbClr val="FFFFFF"/>
          </a:solidFill>
          <a:ln w="12700">
            <a:solidFill>
              <a:srgbClr val="D6E4F0"/>
            </a:solidFill>
            <a:prstDash val="solid"/>
          </a:ln>
        </p:spPr>
      </p:sp>
      <p:sp>
        <p:nvSpPr>
          <p:cNvPr id="9" name="Text 7"/>
          <p:cNvSpPr/>
          <p:nvPr/>
        </p:nvSpPr>
        <p:spPr>
          <a:xfrm>
            <a:off x="704088" y="1856232"/>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Accuracy</a:t>
            </a:r>
            <a:endParaRPr lang="en-US" sz="870" dirty="0"/>
          </a:p>
        </p:txBody>
      </p:sp>
      <p:sp>
        <p:nvSpPr>
          <p:cNvPr id="10" name="Text 8"/>
          <p:cNvSpPr/>
          <p:nvPr/>
        </p:nvSpPr>
        <p:spPr>
          <a:xfrm>
            <a:off x="704088" y="2039112"/>
            <a:ext cx="1097280" cy="347472"/>
          </a:xfrm>
          <a:prstGeom prst="rect">
            <a:avLst/>
          </a:prstGeom>
          <a:noFill/>
          <a:ln/>
        </p:spPr>
        <p:txBody>
          <a:bodyPr wrap="square" lIns="0" tIns="0" rIns="0" bIns="0" rtlCol="0" anchor="ctr"/>
          <a:lstStyle/>
          <a:p>
            <a:pPr indent="0" marL="0">
              <a:buNone/>
            </a:pPr>
            <a:r>
              <a:rPr lang="en-US" sz="2000" b="1" dirty="0">
                <a:solidFill>
                  <a:srgbClr val="1D63D6"/>
                </a:solidFill>
              </a:rPr>
              <a:t>92.76%</a:t>
            </a:r>
            <a:endParaRPr lang="en-US" sz="2000" dirty="0"/>
          </a:p>
        </p:txBody>
      </p:sp>
      <p:sp>
        <p:nvSpPr>
          <p:cNvPr id="11" name="Shape 9"/>
          <p:cNvSpPr/>
          <p:nvPr/>
        </p:nvSpPr>
        <p:spPr>
          <a:xfrm>
            <a:off x="2066544" y="1737360"/>
            <a:ext cx="1371600" cy="822960"/>
          </a:xfrm>
          <a:prstGeom prst="roundRect">
            <a:avLst>
              <a:gd name="adj" fmla="val 8889"/>
            </a:avLst>
          </a:prstGeom>
          <a:solidFill>
            <a:srgbClr val="FFFFFF"/>
          </a:solidFill>
          <a:ln w="12700">
            <a:solidFill>
              <a:srgbClr val="D6E4F0"/>
            </a:solidFill>
            <a:prstDash val="solid"/>
          </a:ln>
        </p:spPr>
      </p:sp>
      <p:sp>
        <p:nvSpPr>
          <p:cNvPr id="12" name="Text 10"/>
          <p:cNvSpPr/>
          <p:nvPr/>
        </p:nvSpPr>
        <p:spPr>
          <a:xfrm>
            <a:off x="2203704" y="1856232"/>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F1</a:t>
            </a:r>
            <a:endParaRPr lang="en-US" sz="870" dirty="0"/>
          </a:p>
        </p:txBody>
      </p:sp>
      <p:sp>
        <p:nvSpPr>
          <p:cNvPr id="13" name="Text 11"/>
          <p:cNvSpPr/>
          <p:nvPr/>
        </p:nvSpPr>
        <p:spPr>
          <a:xfrm>
            <a:off x="2203704" y="2039112"/>
            <a:ext cx="1097280" cy="347472"/>
          </a:xfrm>
          <a:prstGeom prst="rect">
            <a:avLst/>
          </a:prstGeom>
          <a:noFill/>
          <a:ln/>
        </p:spPr>
        <p:txBody>
          <a:bodyPr wrap="square" lIns="0" tIns="0" rIns="0" bIns="0" rtlCol="0" anchor="ctr"/>
          <a:lstStyle/>
          <a:p>
            <a:pPr indent="0" marL="0">
              <a:buNone/>
            </a:pPr>
            <a:r>
              <a:rPr lang="en-US" sz="2000" b="1" dirty="0">
                <a:solidFill>
                  <a:srgbClr val="1BAA9A"/>
                </a:solidFill>
              </a:rPr>
              <a:t>87.28%</a:t>
            </a:r>
            <a:endParaRPr lang="en-US" sz="2000" dirty="0"/>
          </a:p>
        </p:txBody>
      </p:sp>
      <p:sp>
        <p:nvSpPr>
          <p:cNvPr id="14" name="Shape 12"/>
          <p:cNvSpPr/>
          <p:nvPr/>
        </p:nvSpPr>
        <p:spPr>
          <a:xfrm>
            <a:off x="3566160" y="1737360"/>
            <a:ext cx="1371600" cy="822960"/>
          </a:xfrm>
          <a:prstGeom prst="roundRect">
            <a:avLst>
              <a:gd name="adj" fmla="val 8889"/>
            </a:avLst>
          </a:prstGeom>
          <a:solidFill>
            <a:srgbClr val="FFFFFF"/>
          </a:solidFill>
          <a:ln w="12700">
            <a:solidFill>
              <a:srgbClr val="D6E4F0"/>
            </a:solidFill>
            <a:prstDash val="solid"/>
          </a:ln>
        </p:spPr>
      </p:sp>
      <p:sp>
        <p:nvSpPr>
          <p:cNvPr id="15" name="Text 13"/>
          <p:cNvSpPr/>
          <p:nvPr/>
        </p:nvSpPr>
        <p:spPr>
          <a:xfrm>
            <a:off x="3703320" y="1856232"/>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ROC-AUC</a:t>
            </a:r>
            <a:endParaRPr lang="en-US" sz="870" dirty="0"/>
          </a:p>
        </p:txBody>
      </p:sp>
      <p:sp>
        <p:nvSpPr>
          <p:cNvPr id="16" name="Text 14"/>
          <p:cNvSpPr/>
          <p:nvPr/>
        </p:nvSpPr>
        <p:spPr>
          <a:xfrm>
            <a:off x="3703320" y="2039112"/>
            <a:ext cx="1097280" cy="347472"/>
          </a:xfrm>
          <a:prstGeom prst="rect">
            <a:avLst/>
          </a:prstGeom>
          <a:noFill/>
          <a:ln/>
        </p:spPr>
        <p:txBody>
          <a:bodyPr wrap="square" lIns="0" tIns="0" rIns="0" bIns="0" rtlCol="0" anchor="ctr"/>
          <a:lstStyle/>
          <a:p>
            <a:pPr indent="0" marL="0">
              <a:buNone/>
            </a:pPr>
            <a:r>
              <a:rPr lang="en-US" sz="2000" b="1" dirty="0">
                <a:solidFill>
                  <a:srgbClr val="28A6D9"/>
                </a:solidFill>
              </a:rPr>
              <a:t>96.62%</a:t>
            </a:r>
            <a:endParaRPr lang="en-US" sz="2000" dirty="0"/>
          </a:p>
        </p:txBody>
      </p:sp>
      <p:sp>
        <p:nvSpPr>
          <p:cNvPr id="17" name="Text 15"/>
          <p:cNvSpPr/>
          <p:nvPr/>
        </p:nvSpPr>
        <p:spPr>
          <a:xfrm>
            <a:off x="5230368" y="1353312"/>
            <a:ext cx="5760720" cy="365760"/>
          </a:xfrm>
          <a:prstGeom prst="rect">
            <a:avLst/>
          </a:prstGeom>
          <a:noFill/>
          <a:ln/>
        </p:spPr>
        <p:txBody>
          <a:bodyPr wrap="square" lIns="0" tIns="0" rIns="0" bIns="0" rtlCol="0" anchor="ctr">
            <a:normAutofit/>
          </a:bodyPr>
          <a:lstStyle/>
          <a:p>
            <a:pPr indent="0" marL="0">
              <a:buNone/>
            </a:pPr>
            <a:r>
              <a:rPr lang="en-US" sz="1450" b="1" dirty="0">
                <a:solidFill>
                  <a:srgbClr val="14324A"/>
                </a:solidFill>
              </a:rPr>
              <a:t>Primary Diagnosis — Random Forest + SMOTE + Feature Engineering</a:t>
            </a:r>
            <a:endParaRPr lang="en-US" sz="1450" dirty="0"/>
          </a:p>
        </p:txBody>
      </p:sp>
      <p:sp>
        <p:nvSpPr>
          <p:cNvPr id="18" name="Shape 16"/>
          <p:cNvSpPr/>
          <p:nvPr/>
        </p:nvSpPr>
        <p:spPr>
          <a:xfrm>
            <a:off x="5230368" y="1737360"/>
            <a:ext cx="1371600" cy="822960"/>
          </a:xfrm>
          <a:prstGeom prst="roundRect">
            <a:avLst>
              <a:gd name="adj" fmla="val 8889"/>
            </a:avLst>
          </a:prstGeom>
          <a:solidFill>
            <a:srgbClr val="FFFFFF"/>
          </a:solidFill>
          <a:ln w="12700">
            <a:solidFill>
              <a:srgbClr val="D6E4F0"/>
            </a:solidFill>
            <a:prstDash val="solid"/>
          </a:ln>
        </p:spPr>
      </p:sp>
      <p:sp>
        <p:nvSpPr>
          <p:cNvPr id="19" name="Text 17"/>
          <p:cNvSpPr/>
          <p:nvPr/>
        </p:nvSpPr>
        <p:spPr>
          <a:xfrm>
            <a:off x="5367528" y="1856232"/>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Accuracy</a:t>
            </a:r>
            <a:endParaRPr lang="en-US" sz="870" dirty="0"/>
          </a:p>
        </p:txBody>
      </p:sp>
      <p:sp>
        <p:nvSpPr>
          <p:cNvPr id="20" name="Text 18"/>
          <p:cNvSpPr/>
          <p:nvPr/>
        </p:nvSpPr>
        <p:spPr>
          <a:xfrm>
            <a:off x="5367528" y="2039112"/>
            <a:ext cx="1097280" cy="347472"/>
          </a:xfrm>
          <a:prstGeom prst="rect">
            <a:avLst/>
          </a:prstGeom>
          <a:noFill/>
          <a:ln/>
        </p:spPr>
        <p:txBody>
          <a:bodyPr wrap="square" lIns="0" tIns="0" rIns="0" bIns="0" rtlCol="0" anchor="ctr"/>
          <a:lstStyle/>
          <a:p>
            <a:pPr indent="0" marL="0">
              <a:buNone/>
            </a:pPr>
            <a:r>
              <a:rPr lang="en-US" sz="2000" b="1" dirty="0">
                <a:solidFill>
                  <a:srgbClr val="1D63D6"/>
                </a:solidFill>
              </a:rPr>
              <a:t>43.46%</a:t>
            </a:r>
            <a:endParaRPr lang="en-US" sz="2000" dirty="0"/>
          </a:p>
        </p:txBody>
      </p:sp>
      <p:sp>
        <p:nvSpPr>
          <p:cNvPr id="21" name="Shape 19"/>
          <p:cNvSpPr/>
          <p:nvPr/>
        </p:nvSpPr>
        <p:spPr>
          <a:xfrm>
            <a:off x="6729984" y="1737360"/>
            <a:ext cx="1371600" cy="822960"/>
          </a:xfrm>
          <a:prstGeom prst="roundRect">
            <a:avLst>
              <a:gd name="adj" fmla="val 8889"/>
            </a:avLst>
          </a:prstGeom>
          <a:solidFill>
            <a:srgbClr val="FFFFFF"/>
          </a:solidFill>
          <a:ln w="12700">
            <a:solidFill>
              <a:srgbClr val="D6E4F0"/>
            </a:solidFill>
            <a:prstDash val="solid"/>
          </a:ln>
        </p:spPr>
      </p:sp>
      <p:sp>
        <p:nvSpPr>
          <p:cNvPr id="22" name="Text 20"/>
          <p:cNvSpPr/>
          <p:nvPr/>
        </p:nvSpPr>
        <p:spPr>
          <a:xfrm>
            <a:off x="6867144" y="1856232"/>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Macro F1</a:t>
            </a:r>
            <a:endParaRPr lang="en-US" sz="870" dirty="0"/>
          </a:p>
        </p:txBody>
      </p:sp>
      <p:sp>
        <p:nvSpPr>
          <p:cNvPr id="23" name="Text 21"/>
          <p:cNvSpPr/>
          <p:nvPr/>
        </p:nvSpPr>
        <p:spPr>
          <a:xfrm>
            <a:off x="6867144" y="2039112"/>
            <a:ext cx="1097280" cy="347472"/>
          </a:xfrm>
          <a:prstGeom prst="rect">
            <a:avLst/>
          </a:prstGeom>
          <a:noFill/>
          <a:ln/>
        </p:spPr>
        <p:txBody>
          <a:bodyPr wrap="square" lIns="0" tIns="0" rIns="0" bIns="0" rtlCol="0" anchor="ctr"/>
          <a:lstStyle/>
          <a:p>
            <a:pPr indent="0" marL="0">
              <a:buNone/>
            </a:pPr>
            <a:r>
              <a:rPr lang="en-US" sz="2000" b="1" dirty="0">
                <a:solidFill>
                  <a:srgbClr val="1BAA9A"/>
                </a:solidFill>
              </a:rPr>
              <a:t>0.2255</a:t>
            </a:r>
            <a:endParaRPr lang="en-US" sz="2000" dirty="0"/>
          </a:p>
        </p:txBody>
      </p:sp>
      <p:sp>
        <p:nvSpPr>
          <p:cNvPr id="24" name="Shape 22"/>
          <p:cNvSpPr/>
          <p:nvPr/>
        </p:nvSpPr>
        <p:spPr>
          <a:xfrm>
            <a:off x="8229600" y="1737360"/>
            <a:ext cx="1463040" cy="822960"/>
          </a:xfrm>
          <a:prstGeom prst="roundRect">
            <a:avLst>
              <a:gd name="adj" fmla="val 8889"/>
            </a:avLst>
          </a:prstGeom>
          <a:solidFill>
            <a:srgbClr val="FFFFFF"/>
          </a:solidFill>
          <a:ln w="12700">
            <a:solidFill>
              <a:srgbClr val="D6E4F0"/>
            </a:solidFill>
            <a:prstDash val="solid"/>
          </a:ln>
        </p:spPr>
      </p:sp>
      <p:sp>
        <p:nvSpPr>
          <p:cNvPr id="25" name="Text 23"/>
          <p:cNvSpPr/>
          <p:nvPr/>
        </p:nvSpPr>
        <p:spPr>
          <a:xfrm>
            <a:off x="8366760" y="1856232"/>
            <a:ext cx="1188720" cy="155448"/>
          </a:xfrm>
          <a:prstGeom prst="rect">
            <a:avLst/>
          </a:prstGeom>
          <a:noFill/>
          <a:ln/>
        </p:spPr>
        <p:txBody>
          <a:bodyPr wrap="square" lIns="0" tIns="0" rIns="0" bIns="0" rtlCol="0" anchor="ctr"/>
          <a:lstStyle/>
          <a:p>
            <a:pPr indent="0" marL="0">
              <a:buNone/>
            </a:pPr>
            <a:r>
              <a:rPr lang="en-US" sz="870" b="1" dirty="0">
                <a:solidFill>
                  <a:srgbClr val="6F879D"/>
                </a:solidFill>
              </a:rPr>
              <a:t>Weighted F1</a:t>
            </a:r>
            <a:endParaRPr lang="en-US" sz="870" dirty="0"/>
          </a:p>
        </p:txBody>
      </p:sp>
      <p:sp>
        <p:nvSpPr>
          <p:cNvPr id="26" name="Text 24"/>
          <p:cNvSpPr/>
          <p:nvPr/>
        </p:nvSpPr>
        <p:spPr>
          <a:xfrm>
            <a:off x="8366760" y="2039112"/>
            <a:ext cx="1188720" cy="347472"/>
          </a:xfrm>
          <a:prstGeom prst="rect">
            <a:avLst/>
          </a:prstGeom>
          <a:noFill/>
          <a:ln/>
        </p:spPr>
        <p:txBody>
          <a:bodyPr wrap="square" lIns="0" tIns="0" rIns="0" bIns="0" rtlCol="0" anchor="ctr"/>
          <a:lstStyle/>
          <a:p>
            <a:pPr indent="0" marL="0">
              <a:buNone/>
            </a:pPr>
            <a:r>
              <a:rPr lang="en-US" sz="2000" b="1" dirty="0">
                <a:solidFill>
                  <a:srgbClr val="28A6D9"/>
                </a:solidFill>
              </a:rPr>
              <a:t>0.4181</a:t>
            </a:r>
            <a:endParaRPr lang="en-US" sz="2000" dirty="0"/>
          </a:p>
        </p:txBody>
      </p:sp>
      <p:sp>
        <p:nvSpPr>
          <p:cNvPr id="27" name="Text 25"/>
          <p:cNvSpPr/>
          <p:nvPr/>
        </p:nvSpPr>
        <p:spPr>
          <a:xfrm>
            <a:off x="566928" y="2926080"/>
            <a:ext cx="3291840" cy="256032"/>
          </a:xfrm>
          <a:prstGeom prst="rect">
            <a:avLst/>
          </a:prstGeom>
          <a:noFill/>
          <a:ln/>
        </p:spPr>
        <p:txBody>
          <a:bodyPr wrap="square" lIns="0" tIns="0" rIns="0" bIns="0" rtlCol="0" anchor="ctr"/>
          <a:lstStyle/>
          <a:p>
            <a:pPr indent="0" marL="0">
              <a:buNone/>
            </a:pPr>
            <a:r>
              <a:rPr lang="en-US" sz="1500" b="1" dirty="0">
                <a:solidFill>
                  <a:srgbClr val="14324A"/>
                </a:solidFill>
              </a:rPr>
              <a:t>Hospital Length of Stay — XGBoost</a:t>
            </a:r>
            <a:endParaRPr lang="en-US" sz="1500" dirty="0"/>
          </a:p>
        </p:txBody>
      </p:sp>
      <p:sp>
        <p:nvSpPr>
          <p:cNvPr id="28" name="Shape 26"/>
          <p:cNvSpPr/>
          <p:nvPr/>
        </p:nvSpPr>
        <p:spPr>
          <a:xfrm>
            <a:off x="566928" y="3310128"/>
            <a:ext cx="1371600" cy="822960"/>
          </a:xfrm>
          <a:prstGeom prst="roundRect">
            <a:avLst>
              <a:gd name="adj" fmla="val 8889"/>
            </a:avLst>
          </a:prstGeom>
          <a:solidFill>
            <a:srgbClr val="FFFFFF"/>
          </a:solidFill>
          <a:ln w="12700">
            <a:solidFill>
              <a:srgbClr val="D6E4F0"/>
            </a:solidFill>
            <a:prstDash val="solid"/>
          </a:ln>
        </p:spPr>
      </p:sp>
      <p:sp>
        <p:nvSpPr>
          <p:cNvPr id="29" name="Text 27"/>
          <p:cNvSpPr/>
          <p:nvPr/>
        </p:nvSpPr>
        <p:spPr>
          <a:xfrm>
            <a:off x="704088" y="3429000"/>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MAE</a:t>
            </a:r>
            <a:endParaRPr lang="en-US" sz="870" dirty="0"/>
          </a:p>
        </p:txBody>
      </p:sp>
      <p:sp>
        <p:nvSpPr>
          <p:cNvPr id="30" name="Text 28"/>
          <p:cNvSpPr/>
          <p:nvPr/>
        </p:nvSpPr>
        <p:spPr>
          <a:xfrm>
            <a:off x="704088" y="3611880"/>
            <a:ext cx="1097280" cy="347472"/>
          </a:xfrm>
          <a:prstGeom prst="rect">
            <a:avLst/>
          </a:prstGeom>
          <a:noFill/>
          <a:ln/>
        </p:spPr>
        <p:txBody>
          <a:bodyPr wrap="square" lIns="0" tIns="0" rIns="0" bIns="0" rtlCol="0" anchor="ctr"/>
          <a:lstStyle/>
          <a:p>
            <a:pPr indent="0" marL="0">
              <a:buNone/>
            </a:pPr>
            <a:r>
              <a:rPr lang="en-US" sz="2000" b="1" dirty="0">
                <a:solidFill>
                  <a:srgbClr val="1D63D6"/>
                </a:solidFill>
              </a:rPr>
              <a:t>0.3201</a:t>
            </a:r>
            <a:endParaRPr lang="en-US" sz="2000" dirty="0"/>
          </a:p>
        </p:txBody>
      </p:sp>
      <p:sp>
        <p:nvSpPr>
          <p:cNvPr id="31" name="Shape 29"/>
          <p:cNvSpPr/>
          <p:nvPr/>
        </p:nvSpPr>
        <p:spPr>
          <a:xfrm>
            <a:off x="2066544" y="3310128"/>
            <a:ext cx="1371600" cy="822960"/>
          </a:xfrm>
          <a:prstGeom prst="roundRect">
            <a:avLst>
              <a:gd name="adj" fmla="val 8889"/>
            </a:avLst>
          </a:prstGeom>
          <a:solidFill>
            <a:srgbClr val="FFFFFF"/>
          </a:solidFill>
          <a:ln w="12700">
            <a:solidFill>
              <a:srgbClr val="D6E4F0"/>
            </a:solidFill>
            <a:prstDash val="solid"/>
          </a:ln>
        </p:spPr>
      </p:sp>
      <p:sp>
        <p:nvSpPr>
          <p:cNvPr id="32" name="Text 30"/>
          <p:cNvSpPr/>
          <p:nvPr/>
        </p:nvSpPr>
        <p:spPr>
          <a:xfrm>
            <a:off x="2203704" y="3429000"/>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RMSE</a:t>
            </a:r>
            <a:endParaRPr lang="en-US" sz="870" dirty="0"/>
          </a:p>
        </p:txBody>
      </p:sp>
      <p:sp>
        <p:nvSpPr>
          <p:cNvPr id="33" name="Text 31"/>
          <p:cNvSpPr/>
          <p:nvPr/>
        </p:nvSpPr>
        <p:spPr>
          <a:xfrm>
            <a:off x="2203704" y="3611880"/>
            <a:ext cx="1097280" cy="347472"/>
          </a:xfrm>
          <a:prstGeom prst="rect">
            <a:avLst/>
          </a:prstGeom>
          <a:noFill/>
          <a:ln/>
        </p:spPr>
        <p:txBody>
          <a:bodyPr wrap="square" lIns="0" tIns="0" rIns="0" bIns="0" rtlCol="0" anchor="ctr"/>
          <a:lstStyle/>
          <a:p>
            <a:pPr indent="0" marL="0">
              <a:buNone/>
            </a:pPr>
            <a:r>
              <a:rPr lang="en-US" sz="2000" b="1" dirty="0">
                <a:solidFill>
                  <a:srgbClr val="1BAA9A"/>
                </a:solidFill>
              </a:rPr>
              <a:t>0.4329</a:t>
            </a:r>
            <a:endParaRPr lang="en-US" sz="2000" dirty="0"/>
          </a:p>
        </p:txBody>
      </p:sp>
      <p:sp>
        <p:nvSpPr>
          <p:cNvPr id="34" name="Shape 32"/>
          <p:cNvSpPr/>
          <p:nvPr/>
        </p:nvSpPr>
        <p:spPr>
          <a:xfrm>
            <a:off x="3566160" y="3310128"/>
            <a:ext cx="1371600" cy="822960"/>
          </a:xfrm>
          <a:prstGeom prst="roundRect">
            <a:avLst>
              <a:gd name="adj" fmla="val 8889"/>
            </a:avLst>
          </a:prstGeom>
          <a:solidFill>
            <a:srgbClr val="FFFFFF"/>
          </a:solidFill>
          <a:ln w="12700">
            <a:solidFill>
              <a:srgbClr val="D6E4F0"/>
            </a:solidFill>
            <a:prstDash val="solid"/>
          </a:ln>
        </p:spPr>
      </p:sp>
      <p:sp>
        <p:nvSpPr>
          <p:cNvPr id="35" name="Text 33"/>
          <p:cNvSpPr/>
          <p:nvPr/>
        </p:nvSpPr>
        <p:spPr>
          <a:xfrm>
            <a:off x="3703320" y="3429000"/>
            <a:ext cx="1097280" cy="155448"/>
          </a:xfrm>
          <a:prstGeom prst="rect">
            <a:avLst/>
          </a:prstGeom>
          <a:noFill/>
          <a:ln/>
        </p:spPr>
        <p:txBody>
          <a:bodyPr wrap="square" lIns="0" tIns="0" rIns="0" bIns="0" rtlCol="0" anchor="ctr"/>
          <a:lstStyle/>
          <a:p>
            <a:pPr indent="0" marL="0">
              <a:buNone/>
            </a:pPr>
            <a:r>
              <a:rPr lang="en-US" sz="870" b="1" dirty="0">
                <a:solidFill>
                  <a:srgbClr val="6F879D"/>
                </a:solidFill>
              </a:rPr>
              <a:t>R²</a:t>
            </a:r>
            <a:endParaRPr lang="en-US" sz="870" dirty="0"/>
          </a:p>
        </p:txBody>
      </p:sp>
      <p:sp>
        <p:nvSpPr>
          <p:cNvPr id="36" name="Text 34"/>
          <p:cNvSpPr/>
          <p:nvPr/>
        </p:nvSpPr>
        <p:spPr>
          <a:xfrm>
            <a:off x="3703320" y="3611880"/>
            <a:ext cx="1097280" cy="347472"/>
          </a:xfrm>
          <a:prstGeom prst="rect">
            <a:avLst/>
          </a:prstGeom>
          <a:noFill/>
          <a:ln/>
        </p:spPr>
        <p:txBody>
          <a:bodyPr wrap="square" lIns="0" tIns="0" rIns="0" bIns="0" rtlCol="0" anchor="ctr"/>
          <a:lstStyle/>
          <a:p>
            <a:pPr indent="0" marL="0">
              <a:buNone/>
            </a:pPr>
            <a:r>
              <a:rPr lang="en-US" sz="2000" b="1" dirty="0">
                <a:solidFill>
                  <a:srgbClr val="28A6D9"/>
                </a:solidFill>
              </a:rPr>
              <a:t>0.9659</a:t>
            </a:r>
            <a:endParaRPr lang="en-US" sz="2000" dirty="0"/>
          </a:p>
        </p:txBody>
      </p:sp>
      <p:sp>
        <p:nvSpPr>
          <p:cNvPr id="37" name="Shape 35"/>
          <p:cNvSpPr/>
          <p:nvPr/>
        </p:nvSpPr>
        <p:spPr>
          <a:xfrm>
            <a:off x="5230368" y="2871216"/>
            <a:ext cx="5486400" cy="1417320"/>
          </a:xfrm>
          <a:prstGeom prst="roundRect">
            <a:avLst>
              <a:gd name="adj" fmla="val 5161"/>
            </a:avLst>
          </a:prstGeom>
          <a:solidFill>
            <a:srgbClr val="FFFFFF"/>
          </a:solidFill>
          <a:ln w="12700">
            <a:solidFill>
              <a:srgbClr val="D6E4F0"/>
            </a:solidFill>
            <a:prstDash val="solid"/>
          </a:ln>
        </p:spPr>
      </p:sp>
      <p:sp>
        <p:nvSpPr>
          <p:cNvPr id="38" name="Shape 36"/>
          <p:cNvSpPr/>
          <p:nvPr/>
        </p:nvSpPr>
        <p:spPr>
          <a:xfrm>
            <a:off x="5230368" y="2871216"/>
            <a:ext cx="64008" cy="1417320"/>
          </a:xfrm>
          <a:prstGeom prst="rect">
            <a:avLst/>
          </a:prstGeom>
          <a:solidFill>
            <a:srgbClr val="1D63D6"/>
          </a:solidFill>
          <a:ln w="12700">
            <a:solidFill>
              <a:srgbClr val="1D63D6"/>
            </a:solidFill>
            <a:prstDash val="solid"/>
          </a:ln>
        </p:spPr>
      </p:sp>
      <p:sp>
        <p:nvSpPr>
          <p:cNvPr id="39" name="Text 37"/>
          <p:cNvSpPr/>
          <p:nvPr/>
        </p:nvSpPr>
        <p:spPr>
          <a:xfrm>
            <a:off x="5394960" y="3017520"/>
            <a:ext cx="5166360" cy="237744"/>
          </a:xfrm>
          <a:prstGeom prst="rect">
            <a:avLst/>
          </a:prstGeom>
          <a:noFill/>
          <a:ln/>
        </p:spPr>
        <p:txBody>
          <a:bodyPr wrap="square" lIns="0" tIns="0" rIns="0" bIns="0" rtlCol="0" anchor="ctr"/>
          <a:lstStyle/>
          <a:p>
            <a:pPr indent="0" marL="0">
              <a:buNone/>
            </a:pPr>
            <a:r>
              <a:rPr lang="en-US" sz="1350" b="1" dirty="0">
                <a:solidFill>
                  <a:srgbClr val="14324A"/>
                </a:solidFill>
              </a:rPr>
              <a:t>Selection note</a:t>
            </a:r>
            <a:endParaRPr lang="en-US" sz="1350" dirty="0"/>
          </a:p>
        </p:txBody>
      </p:sp>
      <p:sp>
        <p:nvSpPr>
          <p:cNvPr id="40" name="Text 38"/>
          <p:cNvSpPr/>
          <p:nvPr/>
        </p:nvSpPr>
        <p:spPr>
          <a:xfrm>
            <a:off x="5394960" y="3337560"/>
            <a:ext cx="5166360" cy="850392"/>
          </a:xfrm>
          <a:prstGeom prst="rect">
            <a:avLst/>
          </a:prstGeom>
          <a:noFill/>
          <a:ln/>
        </p:spPr>
        <p:txBody>
          <a:bodyPr wrap="square" lIns="254" tIns="254" rIns="254" bIns="254" rtlCol="0" anchor="t">
            <a:normAutofit/>
          </a:bodyPr>
          <a:lstStyle/>
          <a:p>
            <a:pPr indent="0" marL="0">
              <a:buNone/>
            </a:pPr>
            <a:r>
              <a:rPr lang="en-US" sz="1020" dirty="0">
                <a:solidFill>
                  <a:srgbClr val="213547"/>
                </a:solidFill>
              </a:rPr>
              <a:t>For primary diagnosis, Macro F1 is the primary metric because the task is multiclass and imbalanced. An earlier XGBoost configuration recorded Macro F1 0.2315, but the finalized application artifact identifies Random Forest + SMOTE + feature engineering as the integrated model.</a:t>
            </a:r>
            <a:endParaRPr lang="en-US" sz="1020" dirty="0"/>
          </a:p>
        </p:txBody>
      </p:sp>
      <p:sp>
        <p:nvSpPr>
          <p:cNvPr id="41" name="Shape 39"/>
          <p:cNvSpPr/>
          <p:nvPr/>
        </p:nvSpPr>
        <p:spPr>
          <a:xfrm>
            <a:off x="566928" y="4572000"/>
            <a:ext cx="10149840" cy="1170432"/>
          </a:xfrm>
          <a:prstGeom prst="roundRect">
            <a:avLst>
              <a:gd name="adj" fmla="val 6250"/>
            </a:avLst>
          </a:prstGeom>
          <a:solidFill>
            <a:srgbClr val="EAF3FA"/>
          </a:solidFill>
          <a:ln w="12700">
            <a:solidFill>
              <a:srgbClr val="D6E4F0"/>
            </a:solidFill>
            <a:prstDash val="solid"/>
          </a:ln>
        </p:spPr>
      </p:sp>
      <p:sp>
        <p:nvSpPr>
          <p:cNvPr id="42" name="Shape 40"/>
          <p:cNvSpPr/>
          <p:nvPr/>
        </p:nvSpPr>
        <p:spPr>
          <a:xfrm>
            <a:off x="566928" y="4572000"/>
            <a:ext cx="64008" cy="1170432"/>
          </a:xfrm>
          <a:prstGeom prst="rect">
            <a:avLst/>
          </a:prstGeom>
          <a:solidFill>
            <a:srgbClr val="28A6D9"/>
          </a:solidFill>
          <a:ln w="12700">
            <a:solidFill>
              <a:srgbClr val="28A6D9"/>
            </a:solidFill>
            <a:prstDash val="solid"/>
          </a:ln>
        </p:spPr>
      </p:sp>
      <p:sp>
        <p:nvSpPr>
          <p:cNvPr id="43" name="Text 41"/>
          <p:cNvSpPr/>
          <p:nvPr/>
        </p:nvSpPr>
        <p:spPr>
          <a:xfrm>
            <a:off x="731520" y="4718304"/>
            <a:ext cx="9829800" cy="237744"/>
          </a:xfrm>
          <a:prstGeom prst="rect">
            <a:avLst/>
          </a:prstGeom>
          <a:noFill/>
          <a:ln/>
        </p:spPr>
        <p:txBody>
          <a:bodyPr wrap="square" lIns="0" tIns="0" rIns="0" bIns="0" rtlCol="0" anchor="ctr"/>
          <a:lstStyle/>
          <a:p>
            <a:pPr indent="0" marL="0">
              <a:buNone/>
            </a:pPr>
            <a:r>
              <a:rPr lang="en-US" sz="1350" b="1" dirty="0">
                <a:solidFill>
                  <a:srgbClr val="14324A"/>
                </a:solidFill>
              </a:rPr>
              <a:t>Interpretation boundary</a:t>
            </a:r>
            <a:endParaRPr lang="en-US" sz="1350" dirty="0"/>
          </a:p>
        </p:txBody>
      </p:sp>
      <p:sp>
        <p:nvSpPr>
          <p:cNvPr id="44" name="Text 42"/>
          <p:cNvSpPr/>
          <p:nvPr/>
        </p:nvSpPr>
        <p:spPr>
          <a:xfrm>
            <a:off x="731520" y="5038344"/>
            <a:ext cx="9829800" cy="603504"/>
          </a:xfrm>
          <a:prstGeom prst="rect">
            <a:avLst/>
          </a:prstGeom>
          <a:noFill/>
          <a:ln/>
        </p:spPr>
        <p:txBody>
          <a:bodyPr wrap="square" lIns="254" tIns="254" rIns="254" bIns="254" rtlCol="0" anchor="t">
            <a:normAutofit/>
          </a:bodyPr>
          <a:lstStyle/>
          <a:p>
            <a:pPr indent="0" marL="0">
              <a:buNone/>
            </a:pPr>
            <a:r>
              <a:rPr lang="en-US" sz="1120" dirty="0">
                <a:solidFill>
                  <a:srgbClr val="213547"/>
                </a:solidFill>
              </a:rPr>
              <a:t>These metrics describe the project’s recorded development / evaluation datasets. They do not establish clinical effectiveness, safety or real-world hospital performance.</a:t>
            </a:r>
            <a:endParaRPr lang="en-US" sz="112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Deep Learning &amp; Medical NLP</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Recorded final evaluations across ANN/MLP, CNN, RNN/LSTM and biomedical NER</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DL / NLP</a:t>
            </a:r>
            <a:endParaRPr lang="en-US" sz="850" dirty="0"/>
          </a:p>
        </p:txBody>
      </p:sp>
      <p:sp>
        <p:nvSpPr>
          <p:cNvPr id="7" name="Shape 5"/>
          <p:cNvSpPr/>
          <p:nvPr/>
        </p:nvSpPr>
        <p:spPr>
          <a:xfrm>
            <a:off x="566928" y="1325880"/>
            <a:ext cx="2743200" cy="1325880"/>
          </a:xfrm>
          <a:prstGeom prst="roundRect">
            <a:avLst>
              <a:gd name="adj" fmla="val 5517"/>
            </a:avLst>
          </a:prstGeom>
          <a:solidFill>
            <a:srgbClr val="FFFFFF"/>
          </a:solidFill>
          <a:ln w="12700">
            <a:solidFill>
              <a:srgbClr val="D6E4F0"/>
            </a:solidFill>
            <a:prstDash val="solid"/>
          </a:ln>
        </p:spPr>
      </p:sp>
      <p:sp>
        <p:nvSpPr>
          <p:cNvPr id="8" name="Shape 6"/>
          <p:cNvSpPr/>
          <p:nvPr/>
        </p:nvSpPr>
        <p:spPr>
          <a:xfrm>
            <a:off x="566928" y="1325880"/>
            <a:ext cx="64008" cy="1325880"/>
          </a:xfrm>
          <a:prstGeom prst="rect">
            <a:avLst/>
          </a:prstGeom>
          <a:solidFill>
            <a:srgbClr val="1D63D6"/>
          </a:solidFill>
          <a:ln w="12700">
            <a:solidFill>
              <a:srgbClr val="1D63D6"/>
            </a:solidFill>
            <a:prstDash val="solid"/>
          </a:ln>
        </p:spPr>
      </p:sp>
      <p:sp>
        <p:nvSpPr>
          <p:cNvPr id="9" name="Text 7"/>
          <p:cNvSpPr/>
          <p:nvPr/>
        </p:nvSpPr>
        <p:spPr>
          <a:xfrm>
            <a:off x="731520" y="1472184"/>
            <a:ext cx="2423160" cy="237744"/>
          </a:xfrm>
          <a:prstGeom prst="rect">
            <a:avLst/>
          </a:prstGeom>
          <a:noFill/>
          <a:ln/>
        </p:spPr>
        <p:txBody>
          <a:bodyPr wrap="square" lIns="0" tIns="0" rIns="0" bIns="0" rtlCol="0" anchor="ctr"/>
          <a:lstStyle/>
          <a:p>
            <a:pPr indent="0" marL="0">
              <a:buNone/>
            </a:pPr>
            <a:r>
              <a:rPr lang="en-US" sz="1350" b="1" dirty="0">
                <a:solidFill>
                  <a:srgbClr val="14324A"/>
                </a:solidFill>
              </a:rPr>
              <a:t>ANN / MLP</a:t>
            </a:r>
            <a:endParaRPr lang="en-US" sz="1350" dirty="0"/>
          </a:p>
        </p:txBody>
      </p:sp>
      <p:sp>
        <p:nvSpPr>
          <p:cNvPr id="10" name="Text 8"/>
          <p:cNvSpPr/>
          <p:nvPr/>
        </p:nvSpPr>
        <p:spPr>
          <a:xfrm>
            <a:off x="731520" y="1792224"/>
            <a:ext cx="2423160" cy="758952"/>
          </a:xfrm>
          <a:prstGeom prst="rect">
            <a:avLst/>
          </a:prstGeom>
          <a:noFill/>
          <a:ln/>
        </p:spPr>
        <p:txBody>
          <a:bodyPr wrap="square" lIns="254" tIns="254" rIns="254" bIns="254" rtlCol="0" anchor="t">
            <a:normAutofit/>
          </a:bodyPr>
          <a:lstStyle/>
          <a:p>
            <a:pPr indent="0" marL="0">
              <a:buNone/>
            </a:pPr>
            <a:r>
              <a:rPr lang="en-US" sz="1300" dirty="0">
                <a:solidFill>
                  <a:srgbClr val="213547"/>
                </a:solidFill>
              </a:rPr>
              <a:t>MAE 0.4424</a:t>
            </a:r>
            <a:endParaRPr lang="en-US" sz="1300" dirty="0"/>
          </a:p>
          <a:p>
            <a:pPr indent="0" marL="0">
              <a:buNone/>
            </a:pPr>
            <a:r>
              <a:rPr lang="en-US" sz="1300" dirty="0">
                <a:solidFill>
                  <a:srgbClr val="213547"/>
                </a:solidFill>
              </a:rPr>
              <a:t>RMSE 0.6371</a:t>
            </a:r>
            <a:endParaRPr lang="en-US" sz="1300" dirty="0"/>
          </a:p>
          <a:p>
            <a:pPr indent="0" marL="0">
              <a:buNone/>
            </a:pPr>
            <a:r>
              <a:rPr lang="en-US" sz="1300" dirty="0">
                <a:solidFill>
                  <a:srgbClr val="213547"/>
                </a:solidFill>
              </a:rPr>
              <a:t>R² 0.9260</a:t>
            </a:r>
            <a:endParaRPr lang="en-US" sz="1300" dirty="0"/>
          </a:p>
        </p:txBody>
      </p:sp>
      <p:sp>
        <p:nvSpPr>
          <p:cNvPr id="11" name="Shape 9"/>
          <p:cNvSpPr/>
          <p:nvPr/>
        </p:nvSpPr>
        <p:spPr>
          <a:xfrm>
            <a:off x="566928" y="2862072"/>
            <a:ext cx="2743200" cy="1417320"/>
          </a:xfrm>
          <a:prstGeom prst="roundRect">
            <a:avLst>
              <a:gd name="adj" fmla="val 5161"/>
            </a:avLst>
          </a:prstGeom>
          <a:solidFill>
            <a:srgbClr val="FFFFFF"/>
          </a:solidFill>
          <a:ln w="12700">
            <a:solidFill>
              <a:srgbClr val="D6E4F0"/>
            </a:solidFill>
            <a:prstDash val="solid"/>
          </a:ln>
        </p:spPr>
      </p:sp>
      <p:sp>
        <p:nvSpPr>
          <p:cNvPr id="12" name="Shape 10"/>
          <p:cNvSpPr/>
          <p:nvPr/>
        </p:nvSpPr>
        <p:spPr>
          <a:xfrm>
            <a:off x="566928" y="2862072"/>
            <a:ext cx="64008" cy="1417320"/>
          </a:xfrm>
          <a:prstGeom prst="rect">
            <a:avLst/>
          </a:prstGeom>
          <a:solidFill>
            <a:srgbClr val="28A6D9"/>
          </a:solidFill>
          <a:ln w="12700">
            <a:solidFill>
              <a:srgbClr val="28A6D9"/>
            </a:solidFill>
            <a:prstDash val="solid"/>
          </a:ln>
        </p:spPr>
      </p:sp>
      <p:sp>
        <p:nvSpPr>
          <p:cNvPr id="13" name="Text 11"/>
          <p:cNvSpPr/>
          <p:nvPr/>
        </p:nvSpPr>
        <p:spPr>
          <a:xfrm>
            <a:off x="731520" y="3008376"/>
            <a:ext cx="2423160" cy="237744"/>
          </a:xfrm>
          <a:prstGeom prst="rect">
            <a:avLst/>
          </a:prstGeom>
          <a:noFill/>
          <a:ln/>
        </p:spPr>
        <p:txBody>
          <a:bodyPr wrap="square" lIns="0" tIns="0" rIns="0" bIns="0" rtlCol="0" anchor="ctr"/>
          <a:lstStyle/>
          <a:p>
            <a:pPr indent="0" marL="0">
              <a:buNone/>
            </a:pPr>
            <a:r>
              <a:rPr lang="en-US" sz="1350" b="1" dirty="0">
                <a:solidFill>
                  <a:srgbClr val="14324A"/>
                </a:solidFill>
              </a:rPr>
              <a:t>CNN Chest X-ray</a:t>
            </a:r>
            <a:endParaRPr lang="en-US" sz="1350" dirty="0"/>
          </a:p>
        </p:txBody>
      </p:sp>
      <p:sp>
        <p:nvSpPr>
          <p:cNvPr id="14" name="Text 12"/>
          <p:cNvSpPr/>
          <p:nvPr/>
        </p:nvSpPr>
        <p:spPr>
          <a:xfrm>
            <a:off x="731520" y="3328416"/>
            <a:ext cx="2423160" cy="850392"/>
          </a:xfrm>
          <a:prstGeom prst="rect">
            <a:avLst/>
          </a:prstGeom>
          <a:noFill/>
          <a:ln/>
        </p:spPr>
        <p:txBody>
          <a:bodyPr wrap="square" lIns="254" tIns="254" rIns="254" bIns="254" rtlCol="0" anchor="t">
            <a:normAutofit/>
          </a:bodyPr>
          <a:lstStyle/>
          <a:p>
            <a:pPr indent="0" marL="0">
              <a:buNone/>
            </a:pPr>
            <a:r>
              <a:rPr lang="en-US" sz="1250" dirty="0">
                <a:solidFill>
                  <a:srgbClr val="213547"/>
                </a:solidFill>
              </a:rPr>
              <a:t>Accuracy 99.17%</a:t>
            </a:r>
            <a:endParaRPr lang="en-US" sz="1250" dirty="0"/>
          </a:p>
          <a:p>
            <a:pPr indent="0" marL="0">
              <a:buNone/>
            </a:pPr>
            <a:r>
              <a:rPr lang="en-US" sz="1250" dirty="0">
                <a:solidFill>
                  <a:srgbClr val="213547"/>
                </a:solidFill>
              </a:rPr>
              <a:t>Precision 99.17%</a:t>
            </a:r>
            <a:endParaRPr lang="en-US" sz="1250" dirty="0"/>
          </a:p>
          <a:p>
            <a:pPr indent="0" marL="0">
              <a:buNone/>
            </a:pPr>
            <a:r>
              <a:rPr lang="en-US" sz="1250" dirty="0">
                <a:solidFill>
                  <a:srgbClr val="213547"/>
                </a:solidFill>
              </a:rPr>
              <a:t>Recall 99.17%</a:t>
            </a:r>
            <a:endParaRPr lang="en-US" sz="1250" dirty="0"/>
          </a:p>
          <a:p>
            <a:pPr indent="0" marL="0">
              <a:buNone/>
            </a:pPr>
            <a:r>
              <a:rPr lang="en-US" sz="1250" dirty="0">
                <a:solidFill>
                  <a:srgbClr val="213547"/>
                </a:solidFill>
              </a:rPr>
              <a:t>F1 99.17%</a:t>
            </a:r>
            <a:endParaRPr lang="en-US" sz="1250" dirty="0"/>
          </a:p>
        </p:txBody>
      </p:sp>
      <p:sp>
        <p:nvSpPr>
          <p:cNvPr id="15" name="Shape 13"/>
          <p:cNvSpPr/>
          <p:nvPr/>
        </p:nvSpPr>
        <p:spPr>
          <a:xfrm>
            <a:off x="3584448" y="1325880"/>
            <a:ext cx="2971800" cy="1417320"/>
          </a:xfrm>
          <a:prstGeom prst="roundRect">
            <a:avLst>
              <a:gd name="adj" fmla="val 5161"/>
            </a:avLst>
          </a:prstGeom>
          <a:solidFill>
            <a:srgbClr val="FFFFFF"/>
          </a:solidFill>
          <a:ln w="12700">
            <a:solidFill>
              <a:srgbClr val="D6E4F0"/>
            </a:solidFill>
            <a:prstDash val="solid"/>
          </a:ln>
        </p:spPr>
      </p:sp>
      <p:sp>
        <p:nvSpPr>
          <p:cNvPr id="16" name="Shape 14"/>
          <p:cNvSpPr/>
          <p:nvPr/>
        </p:nvSpPr>
        <p:spPr>
          <a:xfrm>
            <a:off x="3584448" y="1325880"/>
            <a:ext cx="64008" cy="1417320"/>
          </a:xfrm>
          <a:prstGeom prst="rect">
            <a:avLst/>
          </a:prstGeom>
          <a:solidFill>
            <a:srgbClr val="1BAA9A"/>
          </a:solidFill>
          <a:ln w="12700">
            <a:solidFill>
              <a:srgbClr val="1BAA9A"/>
            </a:solidFill>
            <a:prstDash val="solid"/>
          </a:ln>
        </p:spPr>
      </p:sp>
      <p:sp>
        <p:nvSpPr>
          <p:cNvPr id="17" name="Text 15"/>
          <p:cNvSpPr/>
          <p:nvPr/>
        </p:nvSpPr>
        <p:spPr>
          <a:xfrm>
            <a:off x="3749040" y="1472184"/>
            <a:ext cx="2651760" cy="237744"/>
          </a:xfrm>
          <a:prstGeom prst="rect">
            <a:avLst/>
          </a:prstGeom>
          <a:noFill/>
          <a:ln/>
        </p:spPr>
        <p:txBody>
          <a:bodyPr wrap="square" lIns="0" tIns="0" rIns="0" bIns="0" rtlCol="0" anchor="ctr"/>
          <a:lstStyle/>
          <a:p>
            <a:pPr indent="0" marL="0">
              <a:buNone/>
            </a:pPr>
            <a:r>
              <a:rPr lang="en-US" sz="1350" b="1" dirty="0">
                <a:solidFill>
                  <a:srgbClr val="14324A"/>
                </a:solidFill>
              </a:rPr>
              <a:t>RNN</a:t>
            </a:r>
            <a:endParaRPr lang="en-US" sz="1350" dirty="0"/>
          </a:p>
        </p:txBody>
      </p:sp>
      <p:sp>
        <p:nvSpPr>
          <p:cNvPr id="18" name="Text 16"/>
          <p:cNvSpPr/>
          <p:nvPr/>
        </p:nvSpPr>
        <p:spPr>
          <a:xfrm>
            <a:off x="3749040" y="1792224"/>
            <a:ext cx="2651760" cy="850392"/>
          </a:xfrm>
          <a:prstGeom prst="rect">
            <a:avLst/>
          </a:prstGeom>
          <a:noFill/>
          <a:ln/>
        </p:spPr>
        <p:txBody>
          <a:bodyPr wrap="square" lIns="254" tIns="254" rIns="254" bIns="254" rtlCol="0" anchor="t">
            <a:normAutofit/>
          </a:bodyPr>
          <a:lstStyle/>
          <a:p>
            <a:pPr indent="0" marL="0">
              <a:buNone/>
            </a:pPr>
            <a:r>
              <a:rPr lang="en-US" sz="1170" dirty="0">
                <a:solidFill>
                  <a:srgbClr val="213547"/>
                </a:solidFill>
              </a:rPr>
              <a:t>Accuracy 84.53%</a:t>
            </a:r>
            <a:endParaRPr lang="en-US" sz="1170" dirty="0"/>
          </a:p>
          <a:p>
            <a:pPr indent="0" marL="0">
              <a:buNone/>
            </a:pPr>
            <a:r>
              <a:rPr lang="en-US" sz="1170" dirty="0">
                <a:solidFill>
                  <a:srgbClr val="213547"/>
                </a:solidFill>
              </a:rPr>
              <a:t>Precision 32.70%</a:t>
            </a:r>
            <a:endParaRPr lang="en-US" sz="1170" dirty="0"/>
          </a:p>
          <a:p>
            <a:pPr indent="0" marL="0">
              <a:buNone/>
            </a:pPr>
            <a:r>
              <a:rPr lang="en-US" sz="1170" dirty="0">
                <a:solidFill>
                  <a:srgbClr val="213547"/>
                </a:solidFill>
              </a:rPr>
              <a:t>Recall 61.50%</a:t>
            </a:r>
            <a:endParaRPr lang="en-US" sz="1170" dirty="0"/>
          </a:p>
          <a:p>
            <a:pPr indent="0" marL="0">
              <a:buNone/>
            </a:pPr>
            <a:r>
              <a:rPr lang="en-US" sz="1170" dirty="0">
                <a:solidFill>
                  <a:srgbClr val="213547"/>
                </a:solidFill>
              </a:rPr>
              <a:t>F1 42.70%</a:t>
            </a:r>
            <a:endParaRPr lang="en-US" sz="1170" dirty="0"/>
          </a:p>
          <a:p>
            <a:pPr indent="0" marL="0">
              <a:buNone/>
            </a:pPr>
            <a:r>
              <a:rPr lang="en-US" sz="1170" dirty="0">
                <a:solidFill>
                  <a:srgbClr val="213547"/>
                </a:solidFill>
              </a:rPr>
              <a:t>ROC-AUC 81.99%</a:t>
            </a:r>
            <a:endParaRPr lang="en-US" sz="1170" dirty="0"/>
          </a:p>
        </p:txBody>
      </p:sp>
      <p:sp>
        <p:nvSpPr>
          <p:cNvPr id="19" name="Shape 17"/>
          <p:cNvSpPr/>
          <p:nvPr/>
        </p:nvSpPr>
        <p:spPr>
          <a:xfrm>
            <a:off x="3584448" y="2944368"/>
            <a:ext cx="2971800" cy="1417320"/>
          </a:xfrm>
          <a:prstGeom prst="roundRect">
            <a:avLst>
              <a:gd name="adj" fmla="val 5161"/>
            </a:avLst>
          </a:prstGeom>
          <a:solidFill>
            <a:srgbClr val="FFFFFF"/>
          </a:solidFill>
          <a:ln w="12700">
            <a:solidFill>
              <a:srgbClr val="D6E4F0"/>
            </a:solidFill>
            <a:prstDash val="solid"/>
          </a:ln>
        </p:spPr>
      </p:sp>
      <p:sp>
        <p:nvSpPr>
          <p:cNvPr id="20" name="Shape 18"/>
          <p:cNvSpPr/>
          <p:nvPr/>
        </p:nvSpPr>
        <p:spPr>
          <a:xfrm>
            <a:off x="3584448" y="2944368"/>
            <a:ext cx="64008" cy="1417320"/>
          </a:xfrm>
          <a:prstGeom prst="rect">
            <a:avLst/>
          </a:prstGeom>
          <a:solidFill>
            <a:srgbClr val="1D63D6"/>
          </a:solidFill>
          <a:ln w="12700">
            <a:solidFill>
              <a:srgbClr val="1D63D6"/>
            </a:solidFill>
            <a:prstDash val="solid"/>
          </a:ln>
        </p:spPr>
      </p:sp>
      <p:sp>
        <p:nvSpPr>
          <p:cNvPr id="21" name="Text 19"/>
          <p:cNvSpPr/>
          <p:nvPr/>
        </p:nvSpPr>
        <p:spPr>
          <a:xfrm>
            <a:off x="3749040" y="3090672"/>
            <a:ext cx="2651760" cy="237744"/>
          </a:xfrm>
          <a:prstGeom prst="rect">
            <a:avLst/>
          </a:prstGeom>
          <a:noFill/>
          <a:ln/>
        </p:spPr>
        <p:txBody>
          <a:bodyPr wrap="square" lIns="0" tIns="0" rIns="0" bIns="0" rtlCol="0" anchor="ctr"/>
          <a:lstStyle/>
          <a:p>
            <a:pPr indent="0" marL="0">
              <a:buNone/>
            </a:pPr>
            <a:r>
              <a:rPr lang="en-US" sz="1350" b="1" dirty="0">
                <a:solidFill>
                  <a:srgbClr val="14324A"/>
                </a:solidFill>
              </a:rPr>
              <a:t>LSTM</a:t>
            </a:r>
            <a:endParaRPr lang="en-US" sz="1350" dirty="0"/>
          </a:p>
        </p:txBody>
      </p:sp>
      <p:sp>
        <p:nvSpPr>
          <p:cNvPr id="22" name="Text 20"/>
          <p:cNvSpPr/>
          <p:nvPr/>
        </p:nvSpPr>
        <p:spPr>
          <a:xfrm>
            <a:off x="3749040" y="3410712"/>
            <a:ext cx="2651760" cy="850392"/>
          </a:xfrm>
          <a:prstGeom prst="rect">
            <a:avLst/>
          </a:prstGeom>
          <a:noFill/>
          <a:ln/>
        </p:spPr>
        <p:txBody>
          <a:bodyPr wrap="square" lIns="254" tIns="254" rIns="254" bIns="254" rtlCol="0" anchor="t">
            <a:normAutofit/>
          </a:bodyPr>
          <a:lstStyle/>
          <a:p>
            <a:pPr indent="0" marL="0">
              <a:buNone/>
            </a:pPr>
            <a:r>
              <a:rPr lang="en-US" sz="1170" dirty="0">
                <a:solidFill>
                  <a:srgbClr val="213547"/>
                </a:solidFill>
              </a:rPr>
              <a:t>Accuracy 84.75%</a:t>
            </a:r>
            <a:endParaRPr lang="en-US" sz="1170" dirty="0"/>
          </a:p>
          <a:p>
            <a:pPr indent="0" marL="0">
              <a:buNone/>
            </a:pPr>
            <a:r>
              <a:rPr lang="en-US" sz="1170" dirty="0">
                <a:solidFill>
                  <a:srgbClr val="213547"/>
                </a:solidFill>
              </a:rPr>
              <a:t>Precision 31.72%</a:t>
            </a:r>
            <a:endParaRPr lang="en-US" sz="1170" dirty="0"/>
          </a:p>
          <a:p>
            <a:pPr indent="0" marL="0">
              <a:buNone/>
            </a:pPr>
            <a:r>
              <a:rPr lang="en-US" sz="1170" dirty="0">
                <a:solidFill>
                  <a:srgbClr val="213547"/>
                </a:solidFill>
              </a:rPr>
              <a:t>Recall 54.47%</a:t>
            </a:r>
            <a:endParaRPr lang="en-US" sz="1170" dirty="0"/>
          </a:p>
          <a:p>
            <a:pPr indent="0" marL="0">
              <a:buNone/>
            </a:pPr>
            <a:r>
              <a:rPr lang="en-US" sz="1170" dirty="0">
                <a:solidFill>
                  <a:srgbClr val="213547"/>
                </a:solidFill>
              </a:rPr>
              <a:t>F1 40.09%</a:t>
            </a:r>
            <a:endParaRPr lang="en-US" sz="1170" dirty="0"/>
          </a:p>
          <a:p>
            <a:pPr indent="0" marL="0">
              <a:buNone/>
            </a:pPr>
            <a:r>
              <a:rPr lang="en-US" sz="1170" dirty="0">
                <a:solidFill>
                  <a:srgbClr val="213547"/>
                </a:solidFill>
              </a:rPr>
              <a:t>ROC-AUC 79.36%</a:t>
            </a:r>
            <a:endParaRPr lang="en-US" sz="1170" dirty="0"/>
          </a:p>
        </p:txBody>
      </p:sp>
      <p:sp>
        <p:nvSpPr>
          <p:cNvPr id="23" name="Shape 21"/>
          <p:cNvSpPr/>
          <p:nvPr/>
        </p:nvSpPr>
        <p:spPr>
          <a:xfrm>
            <a:off x="6839712" y="1325880"/>
            <a:ext cx="2377440" cy="1417320"/>
          </a:xfrm>
          <a:prstGeom prst="roundRect">
            <a:avLst>
              <a:gd name="adj" fmla="val 5161"/>
            </a:avLst>
          </a:prstGeom>
          <a:solidFill>
            <a:srgbClr val="FFFFFF"/>
          </a:solidFill>
          <a:ln w="12700">
            <a:solidFill>
              <a:srgbClr val="D6E4F0"/>
            </a:solidFill>
            <a:prstDash val="solid"/>
          </a:ln>
        </p:spPr>
      </p:sp>
      <p:sp>
        <p:nvSpPr>
          <p:cNvPr id="24" name="Shape 22"/>
          <p:cNvSpPr/>
          <p:nvPr/>
        </p:nvSpPr>
        <p:spPr>
          <a:xfrm>
            <a:off x="6839712" y="1325880"/>
            <a:ext cx="64008" cy="1417320"/>
          </a:xfrm>
          <a:prstGeom prst="rect">
            <a:avLst/>
          </a:prstGeom>
          <a:solidFill>
            <a:srgbClr val="28A6D9"/>
          </a:solidFill>
          <a:ln w="12700">
            <a:solidFill>
              <a:srgbClr val="28A6D9"/>
            </a:solidFill>
            <a:prstDash val="solid"/>
          </a:ln>
        </p:spPr>
      </p:sp>
      <p:sp>
        <p:nvSpPr>
          <p:cNvPr id="25" name="Text 23"/>
          <p:cNvSpPr/>
          <p:nvPr/>
        </p:nvSpPr>
        <p:spPr>
          <a:xfrm>
            <a:off x="7004304" y="1472184"/>
            <a:ext cx="2057400" cy="237744"/>
          </a:xfrm>
          <a:prstGeom prst="rect">
            <a:avLst/>
          </a:prstGeom>
          <a:noFill/>
          <a:ln/>
        </p:spPr>
        <p:txBody>
          <a:bodyPr wrap="square" lIns="0" tIns="0" rIns="0" bIns="0" rtlCol="0" anchor="ctr"/>
          <a:lstStyle/>
          <a:p>
            <a:pPr indent="0" marL="0">
              <a:buNone/>
            </a:pPr>
            <a:r>
              <a:rPr lang="en-US" sz="1350" b="1" dirty="0">
                <a:solidFill>
                  <a:srgbClr val="14324A"/>
                </a:solidFill>
              </a:rPr>
              <a:t>BioBERT NER</a:t>
            </a:r>
            <a:endParaRPr lang="en-US" sz="1350" dirty="0"/>
          </a:p>
        </p:txBody>
      </p:sp>
      <p:sp>
        <p:nvSpPr>
          <p:cNvPr id="26" name="Text 24"/>
          <p:cNvSpPr/>
          <p:nvPr/>
        </p:nvSpPr>
        <p:spPr>
          <a:xfrm>
            <a:off x="7004304" y="1792224"/>
            <a:ext cx="2057400" cy="85039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Token accuracy 78.16%</a:t>
            </a:r>
            <a:endParaRPr lang="en-US" sz="1200" dirty="0"/>
          </a:p>
          <a:p>
            <a:pPr indent="0" marL="0">
              <a:buNone/>
            </a:pPr>
            <a:r>
              <a:rPr lang="en-US" sz="1200" dirty="0">
                <a:solidFill>
                  <a:srgbClr val="213547"/>
                </a:solidFill>
              </a:rPr>
              <a:t>Entity F1 43.37%</a:t>
            </a:r>
            <a:endParaRPr lang="en-US" sz="1200" dirty="0"/>
          </a:p>
        </p:txBody>
      </p:sp>
      <p:sp>
        <p:nvSpPr>
          <p:cNvPr id="27" name="Shape 25"/>
          <p:cNvSpPr/>
          <p:nvPr/>
        </p:nvSpPr>
        <p:spPr>
          <a:xfrm>
            <a:off x="9464040" y="1325880"/>
            <a:ext cx="2148840" cy="1417320"/>
          </a:xfrm>
          <a:prstGeom prst="roundRect">
            <a:avLst>
              <a:gd name="adj" fmla="val 5161"/>
            </a:avLst>
          </a:prstGeom>
          <a:solidFill>
            <a:srgbClr val="FFFFFF"/>
          </a:solidFill>
          <a:ln w="12700">
            <a:solidFill>
              <a:srgbClr val="D6E4F0"/>
            </a:solidFill>
            <a:prstDash val="solid"/>
          </a:ln>
        </p:spPr>
      </p:sp>
      <p:sp>
        <p:nvSpPr>
          <p:cNvPr id="28" name="Shape 26"/>
          <p:cNvSpPr/>
          <p:nvPr/>
        </p:nvSpPr>
        <p:spPr>
          <a:xfrm>
            <a:off x="9464040" y="1325880"/>
            <a:ext cx="64008" cy="1417320"/>
          </a:xfrm>
          <a:prstGeom prst="rect">
            <a:avLst/>
          </a:prstGeom>
          <a:solidFill>
            <a:srgbClr val="1BAA9A"/>
          </a:solidFill>
          <a:ln w="12700">
            <a:solidFill>
              <a:srgbClr val="1BAA9A"/>
            </a:solidFill>
            <a:prstDash val="solid"/>
          </a:ln>
        </p:spPr>
      </p:sp>
      <p:sp>
        <p:nvSpPr>
          <p:cNvPr id="29" name="Text 27"/>
          <p:cNvSpPr/>
          <p:nvPr/>
        </p:nvSpPr>
        <p:spPr>
          <a:xfrm>
            <a:off x="9628632" y="1472184"/>
            <a:ext cx="1828800" cy="237744"/>
          </a:xfrm>
          <a:prstGeom prst="rect">
            <a:avLst/>
          </a:prstGeom>
          <a:noFill/>
          <a:ln/>
        </p:spPr>
        <p:txBody>
          <a:bodyPr wrap="square" lIns="0" tIns="0" rIns="0" bIns="0" rtlCol="0" anchor="ctr"/>
          <a:lstStyle/>
          <a:p>
            <a:pPr indent="0" marL="0">
              <a:buNone/>
            </a:pPr>
            <a:r>
              <a:rPr lang="en-US" sz="1350" b="1" dirty="0">
                <a:solidFill>
                  <a:srgbClr val="14324A"/>
                </a:solidFill>
              </a:rPr>
              <a:t>ClinicalBERT</a:t>
            </a:r>
            <a:endParaRPr lang="en-US" sz="1350" dirty="0"/>
          </a:p>
        </p:txBody>
      </p:sp>
      <p:sp>
        <p:nvSpPr>
          <p:cNvPr id="30" name="Text 28"/>
          <p:cNvSpPr/>
          <p:nvPr/>
        </p:nvSpPr>
        <p:spPr>
          <a:xfrm>
            <a:off x="9628632" y="1792224"/>
            <a:ext cx="1828800" cy="85039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Token accuracy 77.14%</a:t>
            </a:r>
            <a:endParaRPr lang="en-US" sz="1200" dirty="0"/>
          </a:p>
          <a:p>
            <a:pPr indent="0" marL="0">
              <a:buNone/>
            </a:pPr>
            <a:r>
              <a:rPr lang="en-US" sz="1200" dirty="0">
                <a:solidFill>
                  <a:srgbClr val="213547"/>
                </a:solidFill>
              </a:rPr>
              <a:t>Entity F1 40.16%</a:t>
            </a:r>
            <a:endParaRPr lang="en-US" sz="1200" dirty="0"/>
          </a:p>
        </p:txBody>
      </p:sp>
      <p:sp>
        <p:nvSpPr>
          <p:cNvPr id="31" name="Shape 29"/>
          <p:cNvSpPr/>
          <p:nvPr/>
        </p:nvSpPr>
        <p:spPr>
          <a:xfrm>
            <a:off x="6839712" y="2999232"/>
            <a:ext cx="4773168" cy="1225296"/>
          </a:xfrm>
          <a:prstGeom prst="roundRect">
            <a:avLst>
              <a:gd name="adj" fmla="val 5970"/>
            </a:avLst>
          </a:prstGeom>
          <a:solidFill>
            <a:srgbClr val="FFFFFF"/>
          </a:solidFill>
          <a:ln w="12700">
            <a:solidFill>
              <a:srgbClr val="D6E4F0"/>
            </a:solidFill>
            <a:prstDash val="solid"/>
          </a:ln>
        </p:spPr>
      </p:sp>
      <p:sp>
        <p:nvSpPr>
          <p:cNvPr id="32" name="Shape 30"/>
          <p:cNvSpPr/>
          <p:nvPr/>
        </p:nvSpPr>
        <p:spPr>
          <a:xfrm>
            <a:off x="6839712" y="2999232"/>
            <a:ext cx="64008" cy="1225296"/>
          </a:xfrm>
          <a:prstGeom prst="rect">
            <a:avLst/>
          </a:prstGeom>
          <a:solidFill>
            <a:srgbClr val="1D63D6"/>
          </a:solidFill>
          <a:ln w="12700">
            <a:solidFill>
              <a:srgbClr val="1D63D6"/>
            </a:solidFill>
            <a:prstDash val="solid"/>
          </a:ln>
        </p:spPr>
      </p:sp>
      <p:sp>
        <p:nvSpPr>
          <p:cNvPr id="33" name="Text 31"/>
          <p:cNvSpPr/>
          <p:nvPr/>
        </p:nvSpPr>
        <p:spPr>
          <a:xfrm>
            <a:off x="7004304" y="3145536"/>
            <a:ext cx="4453128" cy="237744"/>
          </a:xfrm>
          <a:prstGeom prst="rect">
            <a:avLst/>
          </a:prstGeom>
          <a:noFill/>
          <a:ln/>
        </p:spPr>
        <p:txBody>
          <a:bodyPr wrap="square" lIns="0" tIns="0" rIns="0" bIns="0" rtlCol="0" anchor="ctr"/>
          <a:lstStyle/>
          <a:p>
            <a:pPr indent="0" marL="0">
              <a:buNone/>
            </a:pPr>
            <a:r>
              <a:rPr lang="en-US" sz="1350" b="1" dirty="0">
                <a:solidFill>
                  <a:srgbClr val="14324A"/>
                </a:solidFill>
              </a:rPr>
              <a:t>Sentiment</a:t>
            </a:r>
            <a:endParaRPr lang="en-US" sz="1350" dirty="0"/>
          </a:p>
        </p:txBody>
      </p:sp>
      <p:sp>
        <p:nvSpPr>
          <p:cNvPr id="34" name="Text 32"/>
          <p:cNvSpPr/>
          <p:nvPr/>
        </p:nvSpPr>
        <p:spPr>
          <a:xfrm>
            <a:off x="7004304" y="3465576"/>
            <a:ext cx="4453128" cy="658368"/>
          </a:xfrm>
          <a:prstGeom prst="rect">
            <a:avLst/>
          </a:prstGeom>
          <a:noFill/>
          <a:ln/>
        </p:spPr>
        <p:txBody>
          <a:bodyPr wrap="square" lIns="254" tIns="254" rIns="254" bIns="254" rtlCol="0" anchor="t">
            <a:normAutofit/>
          </a:bodyPr>
          <a:lstStyle/>
          <a:p>
            <a:pPr indent="0" marL="0">
              <a:buNone/>
            </a:pPr>
            <a:r>
              <a:rPr lang="en-US" sz="1060" dirty="0">
                <a:solidFill>
                  <a:srgbClr val="213547"/>
                </a:solidFill>
              </a:rPr>
              <a:t>TF-IDF + Logistic Regression evaluation: Accuracy 50.00%, Precision 50.00%, Recall 100.00%, F1 66.67%. A DistilBERT workflow also exists, but the recorded artifacts do not provide a directly comparable final metric record.</a:t>
            </a:r>
            <a:endParaRPr lang="en-US" sz="1060" dirty="0"/>
          </a:p>
        </p:txBody>
      </p:sp>
      <p:sp>
        <p:nvSpPr>
          <p:cNvPr id="35" name="Shape 33"/>
          <p:cNvSpPr/>
          <p:nvPr/>
        </p:nvSpPr>
        <p:spPr>
          <a:xfrm>
            <a:off x="566928" y="4617720"/>
            <a:ext cx="11045952" cy="1143000"/>
          </a:xfrm>
          <a:prstGeom prst="roundRect">
            <a:avLst>
              <a:gd name="adj" fmla="val 6400"/>
            </a:avLst>
          </a:prstGeom>
          <a:solidFill>
            <a:srgbClr val="EAF3FA"/>
          </a:solidFill>
          <a:ln w="12700">
            <a:solidFill>
              <a:srgbClr val="D6E4F0"/>
            </a:solidFill>
            <a:prstDash val="solid"/>
          </a:ln>
        </p:spPr>
      </p:sp>
      <p:sp>
        <p:nvSpPr>
          <p:cNvPr id="36" name="Shape 34"/>
          <p:cNvSpPr/>
          <p:nvPr/>
        </p:nvSpPr>
        <p:spPr>
          <a:xfrm>
            <a:off x="566928" y="4617720"/>
            <a:ext cx="64008" cy="1143000"/>
          </a:xfrm>
          <a:prstGeom prst="rect">
            <a:avLst/>
          </a:prstGeom>
          <a:solidFill>
            <a:srgbClr val="28A6D9"/>
          </a:solidFill>
          <a:ln w="12700">
            <a:solidFill>
              <a:srgbClr val="28A6D9"/>
            </a:solidFill>
            <a:prstDash val="solid"/>
          </a:ln>
        </p:spPr>
      </p:sp>
      <p:sp>
        <p:nvSpPr>
          <p:cNvPr id="37" name="Text 35"/>
          <p:cNvSpPr/>
          <p:nvPr/>
        </p:nvSpPr>
        <p:spPr>
          <a:xfrm>
            <a:off x="731520" y="4764024"/>
            <a:ext cx="10725912" cy="237744"/>
          </a:xfrm>
          <a:prstGeom prst="rect">
            <a:avLst/>
          </a:prstGeom>
          <a:noFill/>
          <a:ln/>
        </p:spPr>
        <p:txBody>
          <a:bodyPr wrap="square" lIns="0" tIns="0" rIns="0" bIns="0" rtlCol="0" anchor="ctr"/>
          <a:lstStyle/>
          <a:p>
            <a:pPr indent="0" marL="0">
              <a:buNone/>
            </a:pPr>
            <a:r>
              <a:rPr lang="en-US" sz="1350" b="1" dirty="0">
                <a:solidFill>
                  <a:srgbClr val="14324A"/>
                </a:solidFill>
              </a:rPr>
              <a:t>Comparative interpretation</a:t>
            </a:r>
            <a:endParaRPr lang="en-US" sz="1350" dirty="0"/>
          </a:p>
        </p:txBody>
      </p:sp>
      <p:sp>
        <p:nvSpPr>
          <p:cNvPr id="38" name="Text 36"/>
          <p:cNvSpPr/>
          <p:nvPr/>
        </p:nvSpPr>
        <p:spPr>
          <a:xfrm>
            <a:off x="731520" y="5084064"/>
            <a:ext cx="10725912" cy="576072"/>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RNN and LSTM show different strengths across metrics; the project does not claim a universal winner. BioBERT has higher recorded entity-level metrics than ClinicalBERT in the evaluated NER results.</a:t>
            </a:r>
            <a:endParaRPr lang="en-US" sz="110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Medical RAG — Evidence-Grounded Answers</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Retrieval quality, source grounding and safety behaviour are evaluated explicitly</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RAG</a:t>
            </a:r>
            <a:endParaRPr lang="en-US" sz="850" dirty="0"/>
          </a:p>
        </p:txBody>
      </p:sp>
      <p:sp>
        <p:nvSpPr>
          <p:cNvPr id="7" name="Shape 5"/>
          <p:cNvSpPr/>
          <p:nvPr/>
        </p:nvSpPr>
        <p:spPr>
          <a:xfrm>
            <a:off x="502920" y="1325880"/>
            <a:ext cx="3977640" cy="4526280"/>
          </a:xfrm>
          <a:prstGeom prst="roundRect">
            <a:avLst>
              <a:gd name="adj" fmla="val 1839"/>
            </a:avLst>
          </a:prstGeom>
          <a:solidFill>
            <a:srgbClr val="FFFFFF"/>
          </a:solidFill>
          <a:ln w="12700">
            <a:solidFill>
              <a:srgbClr val="D6E4F0"/>
            </a:solidFill>
            <a:prstDash val="solid"/>
          </a:ln>
        </p:spPr>
      </p:sp>
      <p:pic>
        <p:nvPicPr>
          <p:cNvPr id="8" name="Image 0" descr="/mnt/data/rag_sources(1).png">    </p:cNvPr>
          <p:cNvPicPr>
            <a:picLocks noChangeAspect="1"/>
          </p:cNvPicPr>
          <p:nvPr/>
        </p:nvPicPr>
        <p:blipFill>
          <a:blip r:embed="rId1"/>
          <a:stretch>
            <a:fillRect/>
          </a:stretch>
        </p:blipFill>
        <p:spPr>
          <a:xfrm>
            <a:off x="530352" y="1353312"/>
            <a:ext cx="3922776" cy="4471416"/>
          </a:xfrm>
          <a:prstGeom prst="rect">
            <a:avLst/>
          </a:prstGeom>
        </p:spPr>
      </p:pic>
      <p:sp>
        <p:nvSpPr>
          <p:cNvPr id="9" name="Shape 6"/>
          <p:cNvSpPr/>
          <p:nvPr/>
        </p:nvSpPr>
        <p:spPr>
          <a:xfrm>
            <a:off x="4800600" y="1481328"/>
            <a:ext cx="1417320" cy="530352"/>
          </a:xfrm>
          <a:prstGeom prst="roundRect">
            <a:avLst>
              <a:gd name="adj" fmla="val 10345"/>
            </a:avLst>
          </a:prstGeom>
          <a:solidFill>
            <a:srgbClr val="EAF3FA"/>
          </a:solidFill>
          <a:ln w="12700">
            <a:solidFill>
              <a:srgbClr val="28A6D9"/>
            </a:solidFill>
            <a:prstDash val="solid"/>
          </a:ln>
        </p:spPr>
      </p:sp>
      <p:sp>
        <p:nvSpPr>
          <p:cNvPr id="10" name="Text 7"/>
          <p:cNvSpPr/>
          <p:nvPr/>
        </p:nvSpPr>
        <p:spPr>
          <a:xfrm>
            <a:off x="4873752" y="1572768"/>
            <a:ext cx="1271016" cy="374904"/>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Question</a:t>
            </a:r>
            <a:endParaRPr lang="en-US" sz="1100" dirty="0"/>
          </a:p>
        </p:txBody>
      </p:sp>
      <p:sp>
        <p:nvSpPr>
          <p:cNvPr id="11" name="Shape 8"/>
          <p:cNvSpPr/>
          <p:nvPr/>
        </p:nvSpPr>
        <p:spPr>
          <a:xfrm>
            <a:off x="6400800" y="1481328"/>
            <a:ext cx="1417320" cy="530352"/>
          </a:xfrm>
          <a:prstGeom prst="roundRect">
            <a:avLst>
              <a:gd name="adj" fmla="val 10345"/>
            </a:avLst>
          </a:prstGeom>
          <a:solidFill>
            <a:srgbClr val="FFFFFF"/>
          </a:solidFill>
          <a:ln w="12700">
            <a:solidFill>
              <a:srgbClr val="D6E4F0"/>
            </a:solidFill>
            <a:prstDash val="solid"/>
          </a:ln>
        </p:spPr>
      </p:sp>
      <p:sp>
        <p:nvSpPr>
          <p:cNvPr id="12" name="Text 9"/>
          <p:cNvSpPr/>
          <p:nvPr/>
        </p:nvSpPr>
        <p:spPr>
          <a:xfrm>
            <a:off x="6473952" y="1572768"/>
            <a:ext cx="1271016" cy="374904"/>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Embedding</a:t>
            </a:r>
            <a:endParaRPr lang="en-US" sz="1100" dirty="0"/>
          </a:p>
        </p:txBody>
      </p:sp>
      <p:sp>
        <p:nvSpPr>
          <p:cNvPr id="13" name="Shape 10"/>
          <p:cNvSpPr/>
          <p:nvPr/>
        </p:nvSpPr>
        <p:spPr>
          <a:xfrm>
            <a:off x="8001000" y="1481328"/>
            <a:ext cx="1508760" cy="530352"/>
          </a:xfrm>
          <a:prstGeom prst="roundRect">
            <a:avLst>
              <a:gd name="adj" fmla="val 10345"/>
            </a:avLst>
          </a:prstGeom>
          <a:solidFill>
            <a:srgbClr val="FFFFFF"/>
          </a:solidFill>
          <a:ln w="12700">
            <a:solidFill>
              <a:srgbClr val="D6E4F0"/>
            </a:solidFill>
            <a:prstDash val="solid"/>
          </a:ln>
        </p:spPr>
      </p:sp>
      <p:sp>
        <p:nvSpPr>
          <p:cNvPr id="14" name="Text 11"/>
          <p:cNvSpPr/>
          <p:nvPr/>
        </p:nvSpPr>
        <p:spPr>
          <a:xfrm>
            <a:off x="8074152" y="1572768"/>
            <a:ext cx="1362456" cy="374904"/>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55-vector index</a:t>
            </a:r>
            <a:endParaRPr lang="en-US" sz="1050" dirty="0"/>
          </a:p>
        </p:txBody>
      </p:sp>
      <p:sp>
        <p:nvSpPr>
          <p:cNvPr id="15" name="Shape 12"/>
          <p:cNvSpPr/>
          <p:nvPr/>
        </p:nvSpPr>
        <p:spPr>
          <a:xfrm>
            <a:off x="9692640" y="1481328"/>
            <a:ext cx="1234440" cy="530352"/>
          </a:xfrm>
          <a:prstGeom prst="roundRect">
            <a:avLst>
              <a:gd name="adj" fmla="val 10345"/>
            </a:avLst>
          </a:prstGeom>
          <a:solidFill>
            <a:srgbClr val="FFFFFF"/>
          </a:solidFill>
          <a:ln w="12700">
            <a:solidFill>
              <a:srgbClr val="1BAA9A"/>
            </a:solidFill>
            <a:prstDash val="solid"/>
          </a:ln>
        </p:spPr>
      </p:sp>
      <p:sp>
        <p:nvSpPr>
          <p:cNvPr id="16" name="Text 13"/>
          <p:cNvSpPr/>
          <p:nvPr/>
        </p:nvSpPr>
        <p:spPr>
          <a:xfrm>
            <a:off x="9765792" y="1572768"/>
            <a:ext cx="1088136" cy="374904"/>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Rerank</a:t>
            </a:r>
            <a:endParaRPr lang="en-US" sz="1100" dirty="0"/>
          </a:p>
        </p:txBody>
      </p:sp>
      <p:sp>
        <p:nvSpPr>
          <p:cNvPr id="17" name="Shape 14"/>
          <p:cNvSpPr/>
          <p:nvPr/>
        </p:nvSpPr>
        <p:spPr>
          <a:xfrm>
            <a:off x="4800600" y="2423160"/>
            <a:ext cx="1417320" cy="530352"/>
          </a:xfrm>
          <a:prstGeom prst="roundRect">
            <a:avLst>
              <a:gd name="adj" fmla="val 10345"/>
            </a:avLst>
          </a:prstGeom>
          <a:solidFill>
            <a:srgbClr val="FFFFFF"/>
          </a:solidFill>
          <a:ln w="12700">
            <a:solidFill>
              <a:srgbClr val="1BAA9A"/>
            </a:solidFill>
            <a:prstDash val="solid"/>
          </a:ln>
        </p:spPr>
      </p:sp>
      <p:sp>
        <p:nvSpPr>
          <p:cNvPr id="18" name="Text 15"/>
          <p:cNvSpPr/>
          <p:nvPr/>
        </p:nvSpPr>
        <p:spPr>
          <a:xfrm>
            <a:off x="4873752" y="2514600"/>
            <a:ext cx="1271016" cy="374904"/>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Safety gate</a:t>
            </a:r>
            <a:endParaRPr lang="en-US" sz="1100" dirty="0"/>
          </a:p>
        </p:txBody>
      </p:sp>
      <p:sp>
        <p:nvSpPr>
          <p:cNvPr id="19" name="Shape 16"/>
          <p:cNvSpPr/>
          <p:nvPr/>
        </p:nvSpPr>
        <p:spPr>
          <a:xfrm>
            <a:off x="6400800" y="2423160"/>
            <a:ext cx="2743200" cy="530352"/>
          </a:xfrm>
          <a:prstGeom prst="roundRect">
            <a:avLst>
              <a:gd name="adj" fmla="val 10345"/>
            </a:avLst>
          </a:prstGeom>
          <a:solidFill>
            <a:srgbClr val="E7F7F0"/>
          </a:solidFill>
          <a:ln w="12700">
            <a:solidFill>
              <a:srgbClr val="1BAA9A"/>
            </a:solidFill>
            <a:prstDash val="solid"/>
          </a:ln>
        </p:spPr>
      </p:sp>
      <p:sp>
        <p:nvSpPr>
          <p:cNvPr id="20" name="Text 17"/>
          <p:cNvSpPr/>
          <p:nvPr/>
        </p:nvSpPr>
        <p:spPr>
          <a:xfrm>
            <a:off x="6473952" y="2514600"/>
            <a:ext cx="2596896" cy="374904"/>
          </a:xfrm>
          <a:prstGeom prst="rect">
            <a:avLst/>
          </a:prstGeom>
          <a:noFill/>
          <a:ln/>
        </p:spPr>
        <p:txBody>
          <a:bodyPr wrap="square" lIns="127" tIns="127" rIns="127" bIns="127" rtlCol="0" anchor="ctr">
            <a:normAutofit/>
          </a:bodyPr>
          <a:lstStyle/>
          <a:p>
            <a:pPr algn="ctr" indent="0" marL="0">
              <a:buNone/>
            </a:pPr>
            <a:r>
              <a:rPr lang="en-US" sz="1050" b="1" dirty="0">
                <a:solidFill>
                  <a:srgbClr val="14324A"/>
                </a:solidFill>
              </a:rPr>
              <a:t>Grounded answer + sources</a:t>
            </a:r>
            <a:endParaRPr lang="en-US" sz="1050" dirty="0"/>
          </a:p>
        </p:txBody>
      </p:sp>
      <p:sp>
        <p:nvSpPr>
          <p:cNvPr id="21" name="Shape 18"/>
          <p:cNvSpPr/>
          <p:nvPr/>
        </p:nvSpPr>
        <p:spPr>
          <a:xfrm>
            <a:off x="9372600" y="2423160"/>
            <a:ext cx="1554480" cy="530352"/>
          </a:xfrm>
          <a:prstGeom prst="roundRect">
            <a:avLst>
              <a:gd name="adj" fmla="val 10345"/>
            </a:avLst>
          </a:prstGeom>
          <a:solidFill>
            <a:srgbClr val="FCECEF"/>
          </a:solidFill>
          <a:ln w="12700">
            <a:solidFill>
              <a:srgbClr val="E7A5B1"/>
            </a:solidFill>
            <a:prstDash val="solid"/>
          </a:ln>
        </p:spPr>
      </p:sp>
      <p:sp>
        <p:nvSpPr>
          <p:cNvPr id="22" name="Text 19"/>
          <p:cNvSpPr/>
          <p:nvPr/>
        </p:nvSpPr>
        <p:spPr>
          <a:xfrm>
            <a:off x="9445752" y="2514600"/>
            <a:ext cx="1408176" cy="374904"/>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Abstain</a:t>
            </a:r>
            <a:endParaRPr lang="en-US" sz="1100" dirty="0"/>
          </a:p>
        </p:txBody>
      </p:sp>
      <p:sp>
        <p:nvSpPr>
          <p:cNvPr id="23" name="Shape 20"/>
          <p:cNvSpPr/>
          <p:nvPr/>
        </p:nvSpPr>
        <p:spPr>
          <a:xfrm>
            <a:off x="6236208" y="1746504"/>
            <a:ext cx="128016" cy="0"/>
          </a:xfrm>
          <a:prstGeom prst="line">
            <a:avLst/>
          </a:prstGeom>
          <a:noFill/>
          <a:ln w="27940">
            <a:solidFill>
              <a:srgbClr val="1D63D6"/>
            </a:solidFill>
            <a:prstDash val="solid"/>
            <a:headEnd type="none"/>
            <a:tailEnd type="triangle"/>
          </a:ln>
        </p:spPr>
      </p:sp>
      <p:sp>
        <p:nvSpPr>
          <p:cNvPr id="24" name="Shape 21"/>
          <p:cNvSpPr/>
          <p:nvPr/>
        </p:nvSpPr>
        <p:spPr>
          <a:xfrm>
            <a:off x="7836408" y="1746504"/>
            <a:ext cx="128016" cy="0"/>
          </a:xfrm>
          <a:prstGeom prst="line">
            <a:avLst/>
          </a:prstGeom>
          <a:noFill/>
          <a:ln w="27940">
            <a:solidFill>
              <a:srgbClr val="1D63D6"/>
            </a:solidFill>
            <a:prstDash val="solid"/>
            <a:headEnd type="none"/>
            <a:tailEnd type="triangle"/>
          </a:ln>
        </p:spPr>
      </p:sp>
      <p:sp>
        <p:nvSpPr>
          <p:cNvPr id="25" name="Shape 22"/>
          <p:cNvSpPr/>
          <p:nvPr/>
        </p:nvSpPr>
        <p:spPr>
          <a:xfrm>
            <a:off x="9528048" y="1746504"/>
            <a:ext cx="128016" cy="0"/>
          </a:xfrm>
          <a:prstGeom prst="line">
            <a:avLst/>
          </a:prstGeom>
          <a:noFill/>
          <a:ln w="27940">
            <a:solidFill>
              <a:srgbClr val="1D63D6"/>
            </a:solidFill>
            <a:prstDash val="solid"/>
            <a:headEnd type="none"/>
            <a:tailEnd type="triangle"/>
          </a:ln>
        </p:spPr>
      </p:sp>
      <p:sp>
        <p:nvSpPr>
          <p:cNvPr id="26" name="Shape 23"/>
          <p:cNvSpPr/>
          <p:nvPr/>
        </p:nvSpPr>
        <p:spPr>
          <a:xfrm>
            <a:off x="5486400" y="2057400"/>
            <a:ext cx="0" cy="338328"/>
          </a:xfrm>
          <a:prstGeom prst="line">
            <a:avLst/>
          </a:prstGeom>
          <a:noFill/>
          <a:ln w="27940">
            <a:solidFill>
              <a:srgbClr val="1D63D6"/>
            </a:solidFill>
            <a:prstDash val="solid"/>
            <a:headEnd type="none"/>
            <a:tailEnd type="triangle"/>
          </a:ln>
        </p:spPr>
      </p:sp>
      <p:sp>
        <p:nvSpPr>
          <p:cNvPr id="27" name="Shape 24"/>
          <p:cNvSpPr/>
          <p:nvPr/>
        </p:nvSpPr>
        <p:spPr>
          <a:xfrm>
            <a:off x="7863840" y="2057400"/>
            <a:ext cx="0" cy="338328"/>
          </a:xfrm>
          <a:prstGeom prst="line">
            <a:avLst/>
          </a:prstGeom>
          <a:noFill/>
          <a:ln w="27940">
            <a:solidFill>
              <a:srgbClr val="1D63D6"/>
            </a:solidFill>
            <a:prstDash val="solid"/>
            <a:headEnd type="none"/>
            <a:tailEnd type="triangle"/>
          </a:ln>
        </p:spPr>
      </p:sp>
      <p:sp>
        <p:nvSpPr>
          <p:cNvPr id="28" name="Shape 25"/>
          <p:cNvSpPr/>
          <p:nvPr/>
        </p:nvSpPr>
        <p:spPr>
          <a:xfrm>
            <a:off x="9281160" y="2697480"/>
            <a:ext cx="45720" cy="0"/>
          </a:xfrm>
          <a:prstGeom prst="line">
            <a:avLst/>
          </a:prstGeom>
          <a:noFill/>
          <a:ln w="27940">
            <a:solidFill>
              <a:srgbClr val="1D63D6"/>
            </a:solidFill>
            <a:prstDash val="solid"/>
            <a:headEnd type="none"/>
            <a:tailEnd type="triangle"/>
          </a:ln>
        </p:spPr>
      </p:sp>
      <p:sp>
        <p:nvSpPr>
          <p:cNvPr id="29" name="Shape 26"/>
          <p:cNvSpPr/>
          <p:nvPr/>
        </p:nvSpPr>
        <p:spPr>
          <a:xfrm>
            <a:off x="4800600" y="3337560"/>
            <a:ext cx="2011680" cy="768096"/>
          </a:xfrm>
          <a:prstGeom prst="roundRect">
            <a:avLst>
              <a:gd name="adj" fmla="val 9524"/>
            </a:avLst>
          </a:prstGeom>
          <a:solidFill>
            <a:srgbClr val="FFFFFF"/>
          </a:solidFill>
          <a:ln w="12700">
            <a:solidFill>
              <a:srgbClr val="D6E4F0"/>
            </a:solidFill>
            <a:prstDash val="solid"/>
          </a:ln>
        </p:spPr>
      </p:sp>
      <p:sp>
        <p:nvSpPr>
          <p:cNvPr id="30" name="Text 27"/>
          <p:cNvSpPr/>
          <p:nvPr/>
        </p:nvSpPr>
        <p:spPr>
          <a:xfrm>
            <a:off x="4937760" y="3456432"/>
            <a:ext cx="1737360" cy="155448"/>
          </a:xfrm>
          <a:prstGeom prst="rect">
            <a:avLst/>
          </a:prstGeom>
          <a:noFill/>
          <a:ln/>
        </p:spPr>
        <p:txBody>
          <a:bodyPr wrap="square" lIns="0" tIns="0" rIns="0" bIns="0" rtlCol="0" anchor="ctr"/>
          <a:lstStyle/>
          <a:p>
            <a:pPr indent="0" marL="0">
              <a:buNone/>
            </a:pPr>
            <a:r>
              <a:rPr lang="en-US" sz="870" b="1" dirty="0">
                <a:solidFill>
                  <a:srgbClr val="6F879D"/>
                </a:solidFill>
              </a:rPr>
              <a:t>Top-1 Topic Accuracy</a:t>
            </a:r>
            <a:endParaRPr lang="en-US" sz="870" dirty="0"/>
          </a:p>
        </p:txBody>
      </p:sp>
      <p:sp>
        <p:nvSpPr>
          <p:cNvPr id="31" name="Text 28"/>
          <p:cNvSpPr/>
          <p:nvPr/>
        </p:nvSpPr>
        <p:spPr>
          <a:xfrm>
            <a:off x="4937760" y="3639312"/>
            <a:ext cx="1737360" cy="347472"/>
          </a:xfrm>
          <a:prstGeom prst="rect">
            <a:avLst/>
          </a:prstGeom>
          <a:noFill/>
          <a:ln/>
        </p:spPr>
        <p:txBody>
          <a:bodyPr wrap="square" lIns="0" tIns="0" rIns="0" bIns="0" rtlCol="0" anchor="ctr"/>
          <a:lstStyle/>
          <a:p>
            <a:pPr indent="0" marL="0">
              <a:buNone/>
            </a:pPr>
            <a:r>
              <a:rPr lang="en-US" sz="2000" b="1" dirty="0">
                <a:solidFill>
                  <a:srgbClr val="1D63D6"/>
                </a:solidFill>
              </a:rPr>
              <a:t>1.0000</a:t>
            </a:r>
            <a:endParaRPr lang="en-US" sz="2000" dirty="0"/>
          </a:p>
        </p:txBody>
      </p:sp>
      <p:sp>
        <p:nvSpPr>
          <p:cNvPr id="32" name="Shape 29"/>
          <p:cNvSpPr/>
          <p:nvPr/>
        </p:nvSpPr>
        <p:spPr>
          <a:xfrm>
            <a:off x="6995160" y="3337560"/>
            <a:ext cx="2011680" cy="768096"/>
          </a:xfrm>
          <a:prstGeom prst="roundRect">
            <a:avLst>
              <a:gd name="adj" fmla="val 9524"/>
            </a:avLst>
          </a:prstGeom>
          <a:solidFill>
            <a:srgbClr val="FFFFFF"/>
          </a:solidFill>
          <a:ln w="12700">
            <a:solidFill>
              <a:srgbClr val="D6E4F0"/>
            </a:solidFill>
            <a:prstDash val="solid"/>
          </a:ln>
        </p:spPr>
      </p:sp>
      <p:sp>
        <p:nvSpPr>
          <p:cNvPr id="33" name="Text 30"/>
          <p:cNvSpPr/>
          <p:nvPr/>
        </p:nvSpPr>
        <p:spPr>
          <a:xfrm>
            <a:off x="7132320" y="3456432"/>
            <a:ext cx="1737360" cy="155448"/>
          </a:xfrm>
          <a:prstGeom prst="rect">
            <a:avLst/>
          </a:prstGeom>
          <a:noFill/>
          <a:ln/>
        </p:spPr>
        <p:txBody>
          <a:bodyPr wrap="square" lIns="0" tIns="0" rIns="0" bIns="0" rtlCol="0" anchor="ctr"/>
          <a:lstStyle/>
          <a:p>
            <a:pPr indent="0" marL="0">
              <a:buNone/>
            </a:pPr>
            <a:r>
              <a:rPr lang="en-US" sz="870" b="1" dirty="0">
                <a:solidFill>
                  <a:srgbClr val="6F879D"/>
                </a:solidFill>
              </a:rPr>
              <a:t>Top-3 Topic Hit Rate</a:t>
            </a:r>
            <a:endParaRPr lang="en-US" sz="870" dirty="0"/>
          </a:p>
        </p:txBody>
      </p:sp>
      <p:sp>
        <p:nvSpPr>
          <p:cNvPr id="34" name="Text 31"/>
          <p:cNvSpPr/>
          <p:nvPr/>
        </p:nvSpPr>
        <p:spPr>
          <a:xfrm>
            <a:off x="7132320" y="3639312"/>
            <a:ext cx="1737360" cy="347472"/>
          </a:xfrm>
          <a:prstGeom prst="rect">
            <a:avLst/>
          </a:prstGeom>
          <a:noFill/>
          <a:ln/>
        </p:spPr>
        <p:txBody>
          <a:bodyPr wrap="square" lIns="0" tIns="0" rIns="0" bIns="0" rtlCol="0" anchor="ctr"/>
          <a:lstStyle/>
          <a:p>
            <a:pPr indent="0" marL="0">
              <a:buNone/>
            </a:pPr>
            <a:r>
              <a:rPr lang="en-US" sz="2000" b="1" dirty="0">
                <a:solidFill>
                  <a:srgbClr val="1BAA9A"/>
                </a:solidFill>
              </a:rPr>
              <a:t>1.0000</a:t>
            </a:r>
            <a:endParaRPr lang="en-US" sz="2000" dirty="0"/>
          </a:p>
        </p:txBody>
      </p:sp>
      <p:sp>
        <p:nvSpPr>
          <p:cNvPr id="35" name="Shape 32"/>
          <p:cNvSpPr/>
          <p:nvPr/>
        </p:nvSpPr>
        <p:spPr>
          <a:xfrm>
            <a:off x="9189720" y="3337560"/>
            <a:ext cx="1828800" cy="768096"/>
          </a:xfrm>
          <a:prstGeom prst="roundRect">
            <a:avLst>
              <a:gd name="adj" fmla="val 9524"/>
            </a:avLst>
          </a:prstGeom>
          <a:solidFill>
            <a:srgbClr val="FFFFFF"/>
          </a:solidFill>
          <a:ln w="12700">
            <a:solidFill>
              <a:srgbClr val="D6E4F0"/>
            </a:solidFill>
            <a:prstDash val="solid"/>
          </a:ln>
        </p:spPr>
      </p:sp>
      <p:sp>
        <p:nvSpPr>
          <p:cNvPr id="36" name="Text 33"/>
          <p:cNvSpPr/>
          <p:nvPr/>
        </p:nvSpPr>
        <p:spPr>
          <a:xfrm>
            <a:off x="9326880" y="3456432"/>
            <a:ext cx="1554480" cy="155448"/>
          </a:xfrm>
          <a:prstGeom prst="rect">
            <a:avLst/>
          </a:prstGeom>
          <a:noFill/>
          <a:ln/>
        </p:spPr>
        <p:txBody>
          <a:bodyPr wrap="square" lIns="0" tIns="0" rIns="0" bIns="0" rtlCol="0" anchor="ctr"/>
          <a:lstStyle/>
          <a:p>
            <a:pPr indent="0" marL="0">
              <a:buNone/>
            </a:pPr>
            <a:r>
              <a:rPr lang="en-US" sz="870" b="1" dirty="0">
                <a:solidFill>
                  <a:srgbClr val="6F879D"/>
                </a:solidFill>
              </a:rPr>
              <a:t>Safety Score</a:t>
            </a:r>
            <a:endParaRPr lang="en-US" sz="870" dirty="0"/>
          </a:p>
        </p:txBody>
      </p:sp>
      <p:sp>
        <p:nvSpPr>
          <p:cNvPr id="37" name="Text 34"/>
          <p:cNvSpPr/>
          <p:nvPr/>
        </p:nvSpPr>
        <p:spPr>
          <a:xfrm>
            <a:off x="9326880" y="3639312"/>
            <a:ext cx="1554480" cy="347472"/>
          </a:xfrm>
          <a:prstGeom prst="rect">
            <a:avLst/>
          </a:prstGeom>
          <a:noFill/>
          <a:ln/>
        </p:spPr>
        <p:txBody>
          <a:bodyPr wrap="square" lIns="0" tIns="0" rIns="0" bIns="0" rtlCol="0" anchor="ctr"/>
          <a:lstStyle/>
          <a:p>
            <a:pPr indent="0" marL="0">
              <a:buNone/>
            </a:pPr>
            <a:r>
              <a:rPr lang="en-US" sz="2000" b="1" dirty="0">
                <a:solidFill>
                  <a:srgbClr val="28A6D9"/>
                </a:solidFill>
              </a:rPr>
              <a:t>0.9333</a:t>
            </a:r>
            <a:endParaRPr lang="en-US" sz="2000" dirty="0"/>
          </a:p>
        </p:txBody>
      </p:sp>
      <p:sp>
        <p:nvSpPr>
          <p:cNvPr id="38" name="Shape 35"/>
          <p:cNvSpPr/>
          <p:nvPr/>
        </p:nvSpPr>
        <p:spPr>
          <a:xfrm>
            <a:off x="4800600" y="4343400"/>
            <a:ext cx="2011680" cy="768096"/>
          </a:xfrm>
          <a:prstGeom prst="roundRect">
            <a:avLst>
              <a:gd name="adj" fmla="val 9524"/>
            </a:avLst>
          </a:prstGeom>
          <a:solidFill>
            <a:srgbClr val="FFFFFF"/>
          </a:solidFill>
          <a:ln w="12700">
            <a:solidFill>
              <a:srgbClr val="D6E4F0"/>
            </a:solidFill>
            <a:prstDash val="solid"/>
          </a:ln>
        </p:spPr>
      </p:sp>
      <p:sp>
        <p:nvSpPr>
          <p:cNvPr id="39" name="Text 36"/>
          <p:cNvSpPr/>
          <p:nvPr/>
        </p:nvSpPr>
        <p:spPr>
          <a:xfrm>
            <a:off x="4937760" y="4462272"/>
            <a:ext cx="1737360" cy="155448"/>
          </a:xfrm>
          <a:prstGeom prst="rect">
            <a:avLst/>
          </a:prstGeom>
          <a:noFill/>
          <a:ln/>
        </p:spPr>
        <p:txBody>
          <a:bodyPr wrap="square" lIns="0" tIns="0" rIns="0" bIns="0" rtlCol="0" anchor="ctr"/>
          <a:lstStyle/>
          <a:p>
            <a:pPr indent="0" marL="0">
              <a:buNone/>
            </a:pPr>
            <a:r>
              <a:rPr lang="en-US" sz="870" b="1" dirty="0">
                <a:solidFill>
                  <a:srgbClr val="6F879D"/>
                </a:solidFill>
              </a:rPr>
              <a:t>Topic Consistency</a:t>
            </a:r>
            <a:endParaRPr lang="en-US" sz="870" dirty="0"/>
          </a:p>
        </p:txBody>
      </p:sp>
      <p:sp>
        <p:nvSpPr>
          <p:cNvPr id="40" name="Text 37"/>
          <p:cNvSpPr/>
          <p:nvPr/>
        </p:nvSpPr>
        <p:spPr>
          <a:xfrm>
            <a:off x="4937760" y="4645152"/>
            <a:ext cx="1737360" cy="347472"/>
          </a:xfrm>
          <a:prstGeom prst="rect">
            <a:avLst/>
          </a:prstGeom>
          <a:noFill/>
          <a:ln/>
        </p:spPr>
        <p:txBody>
          <a:bodyPr wrap="square" lIns="0" tIns="0" rIns="0" bIns="0" rtlCol="0" anchor="ctr"/>
          <a:lstStyle/>
          <a:p>
            <a:pPr indent="0" marL="0">
              <a:buNone/>
            </a:pPr>
            <a:r>
              <a:rPr lang="en-US" sz="2000" b="1" dirty="0">
                <a:solidFill>
                  <a:srgbClr val="1D63D6"/>
                </a:solidFill>
              </a:rPr>
              <a:t>0.8333</a:t>
            </a:r>
            <a:endParaRPr lang="en-US" sz="2000" dirty="0"/>
          </a:p>
        </p:txBody>
      </p:sp>
      <p:sp>
        <p:nvSpPr>
          <p:cNvPr id="41" name="Shape 38"/>
          <p:cNvSpPr/>
          <p:nvPr/>
        </p:nvSpPr>
        <p:spPr>
          <a:xfrm>
            <a:off x="6995160" y="4343400"/>
            <a:ext cx="2011680" cy="768096"/>
          </a:xfrm>
          <a:prstGeom prst="roundRect">
            <a:avLst>
              <a:gd name="adj" fmla="val 9524"/>
            </a:avLst>
          </a:prstGeom>
          <a:solidFill>
            <a:srgbClr val="FFFFFF"/>
          </a:solidFill>
          <a:ln w="12700">
            <a:solidFill>
              <a:srgbClr val="D6E4F0"/>
            </a:solidFill>
            <a:prstDash val="solid"/>
          </a:ln>
        </p:spPr>
      </p:sp>
      <p:sp>
        <p:nvSpPr>
          <p:cNvPr id="42" name="Text 39"/>
          <p:cNvSpPr/>
          <p:nvPr/>
        </p:nvSpPr>
        <p:spPr>
          <a:xfrm>
            <a:off x="7132320" y="4462272"/>
            <a:ext cx="1737360" cy="155448"/>
          </a:xfrm>
          <a:prstGeom prst="rect">
            <a:avLst/>
          </a:prstGeom>
          <a:noFill/>
          <a:ln/>
        </p:spPr>
        <p:txBody>
          <a:bodyPr wrap="square" lIns="0" tIns="0" rIns="0" bIns="0" rtlCol="0" anchor="ctr"/>
          <a:lstStyle/>
          <a:p>
            <a:pPr indent="0" marL="0">
              <a:buNone/>
            </a:pPr>
            <a:r>
              <a:rPr lang="en-US" sz="870" b="1" dirty="0">
                <a:solidFill>
                  <a:srgbClr val="6F879D"/>
                </a:solidFill>
              </a:rPr>
              <a:t>In-domain Acceptance</a:t>
            </a:r>
            <a:endParaRPr lang="en-US" sz="870" dirty="0"/>
          </a:p>
        </p:txBody>
      </p:sp>
      <p:sp>
        <p:nvSpPr>
          <p:cNvPr id="43" name="Text 40"/>
          <p:cNvSpPr/>
          <p:nvPr/>
        </p:nvSpPr>
        <p:spPr>
          <a:xfrm>
            <a:off x="7132320" y="4645152"/>
            <a:ext cx="1737360" cy="347472"/>
          </a:xfrm>
          <a:prstGeom prst="rect">
            <a:avLst/>
          </a:prstGeom>
          <a:noFill/>
          <a:ln/>
        </p:spPr>
        <p:txBody>
          <a:bodyPr wrap="square" lIns="0" tIns="0" rIns="0" bIns="0" rtlCol="0" anchor="ctr"/>
          <a:lstStyle/>
          <a:p>
            <a:pPr indent="0" marL="0">
              <a:buNone/>
            </a:pPr>
            <a:r>
              <a:rPr lang="en-US" sz="2000" b="1" dirty="0">
                <a:solidFill>
                  <a:srgbClr val="1BAA9A"/>
                </a:solidFill>
              </a:rPr>
              <a:t>1.0000</a:t>
            </a:r>
            <a:endParaRPr lang="en-US" sz="2000" dirty="0"/>
          </a:p>
        </p:txBody>
      </p:sp>
      <p:sp>
        <p:nvSpPr>
          <p:cNvPr id="44" name="Shape 41"/>
          <p:cNvSpPr/>
          <p:nvPr/>
        </p:nvSpPr>
        <p:spPr>
          <a:xfrm>
            <a:off x="9189720" y="4343400"/>
            <a:ext cx="1828800" cy="768096"/>
          </a:xfrm>
          <a:prstGeom prst="roundRect">
            <a:avLst>
              <a:gd name="adj" fmla="val 9524"/>
            </a:avLst>
          </a:prstGeom>
          <a:solidFill>
            <a:srgbClr val="FFFFFF"/>
          </a:solidFill>
          <a:ln w="12700">
            <a:solidFill>
              <a:srgbClr val="D6E4F0"/>
            </a:solidFill>
            <a:prstDash val="solid"/>
          </a:ln>
        </p:spPr>
      </p:sp>
      <p:sp>
        <p:nvSpPr>
          <p:cNvPr id="45" name="Text 42"/>
          <p:cNvSpPr/>
          <p:nvPr/>
        </p:nvSpPr>
        <p:spPr>
          <a:xfrm>
            <a:off x="9326880" y="4462272"/>
            <a:ext cx="1554480" cy="155448"/>
          </a:xfrm>
          <a:prstGeom prst="rect">
            <a:avLst/>
          </a:prstGeom>
          <a:noFill/>
          <a:ln/>
        </p:spPr>
        <p:txBody>
          <a:bodyPr wrap="square" lIns="0" tIns="0" rIns="0" bIns="0" rtlCol="0" anchor="ctr"/>
          <a:lstStyle/>
          <a:p>
            <a:pPr indent="0" marL="0">
              <a:buNone/>
            </a:pPr>
            <a:r>
              <a:rPr lang="en-US" sz="870" b="1" dirty="0">
                <a:solidFill>
                  <a:srgbClr val="6F879D"/>
                </a:solidFill>
              </a:rPr>
              <a:t>OOD Rejection</a:t>
            </a:r>
            <a:endParaRPr lang="en-US" sz="870" dirty="0"/>
          </a:p>
        </p:txBody>
      </p:sp>
      <p:sp>
        <p:nvSpPr>
          <p:cNvPr id="46" name="Text 43"/>
          <p:cNvSpPr/>
          <p:nvPr/>
        </p:nvSpPr>
        <p:spPr>
          <a:xfrm>
            <a:off x="9326880" y="4645152"/>
            <a:ext cx="1554480" cy="347472"/>
          </a:xfrm>
          <a:prstGeom prst="rect">
            <a:avLst/>
          </a:prstGeom>
          <a:noFill/>
          <a:ln/>
        </p:spPr>
        <p:txBody>
          <a:bodyPr wrap="square" lIns="0" tIns="0" rIns="0" bIns="0" rtlCol="0" anchor="ctr"/>
          <a:lstStyle/>
          <a:p>
            <a:pPr indent="0" marL="0">
              <a:buNone/>
            </a:pPr>
            <a:r>
              <a:rPr lang="en-US" sz="2000" b="1" dirty="0">
                <a:solidFill>
                  <a:srgbClr val="28A6D9"/>
                </a:solidFill>
              </a:rPr>
              <a:t>1.0000</a:t>
            </a:r>
            <a:endParaRPr lang="en-US" sz="2000" dirty="0"/>
          </a:p>
        </p:txBody>
      </p:sp>
      <p:sp>
        <p:nvSpPr>
          <p:cNvPr id="47" name="Shape 44"/>
          <p:cNvSpPr/>
          <p:nvPr/>
        </p:nvSpPr>
        <p:spPr>
          <a:xfrm>
            <a:off x="4800600" y="5285232"/>
            <a:ext cx="6217920" cy="621792"/>
          </a:xfrm>
          <a:prstGeom prst="roundRect">
            <a:avLst>
              <a:gd name="adj" fmla="val 11765"/>
            </a:avLst>
          </a:prstGeom>
          <a:solidFill>
            <a:srgbClr val="FFFFFF"/>
          </a:solidFill>
          <a:ln w="12700">
            <a:solidFill>
              <a:srgbClr val="D6E4F0"/>
            </a:solidFill>
            <a:prstDash val="solid"/>
          </a:ln>
        </p:spPr>
      </p:sp>
      <p:sp>
        <p:nvSpPr>
          <p:cNvPr id="48" name="Shape 45"/>
          <p:cNvSpPr/>
          <p:nvPr/>
        </p:nvSpPr>
        <p:spPr>
          <a:xfrm>
            <a:off x="4800600" y="5285232"/>
            <a:ext cx="64008" cy="621792"/>
          </a:xfrm>
          <a:prstGeom prst="rect">
            <a:avLst/>
          </a:prstGeom>
          <a:solidFill>
            <a:srgbClr val="1D63D6"/>
          </a:solidFill>
          <a:ln w="12700">
            <a:solidFill>
              <a:srgbClr val="1D63D6"/>
            </a:solidFill>
            <a:prstDash val="solid"/>
          </a:ln>
        </p:spPr>
      </p:sp>
      <p:sp>
        <p:nvSpPr>
          <p:cNvPr id="49" name="Text 46"/>
          <p:cNvSpPr/>
          <p:nvPr/>
        </p:nvSpPr>
        <p:spPr>
          <a:xfrm>
            <a:off x="4965192" y="5431536"/>
            <a:ext cx="5897880" cy="237744"/>
          </a:xfrm>
          <a:prstGeom prst="rect">
            <a:avLst/>
          </a:prstGeom>
          <a:noFill/>
          <a:ln/>
        </p:spPr>
        <p:txBody>
          <a:bodyPr wrap="square" lIns="0" tIns="0" rIns="0" bIns="0" rtlCol="0" anchor="ctr"/>
          <a:lstStyle/>
          <a:p>
            <a:pPr indent="0" marL="0">
              <a:buNone/>
            </a:pPr>
            <a:r>
              <a:rPr lang="en-US" sz="1150" b="1" dirty="0">
                <a:solidFill>
                  <a:srgbClr val="14324A"/>
                </a:solidFill>
              </a:rPr>
              <a:t>Knowledge base</a:t>
            </a:r>
            <a:endParaRPr lang="en-US" sz="1150" dirty="0"/>
          </a:p>
        </p:txBody>
      </p:sp>
      <p:sp>
        <p:nvSpPr>
          <p:cNvPr id="50" name="Text 47"/>
          <p:cNvSpPr/>
          <p:nvPr/>
        </p:nvSpPr>
        <p:spPr>
          <a:xfrm>
            <a:off x="4965192" y="5751576"/>
            <a:ext cx="5897880" cy="54864"/>
          </a:xfrm>
          <a:prstGeom prst="rect">
            <a:avLst/>
          </a:prstGeom>
          <a:noFill/>
          <a:ln/>
        </p:spPr>
        <p:txBody>
          <a:bodyPr wrap="square" lIns="254" tIns="254" rIns="254" bIns="254" rtlCol="0" anchor="t">
            <a:normAutofit/>
          </a:bodyPr>
          <a:lstStyle/>
          <a:p>
            <a:pPr indent="0" marL="0">
              <a:buNone/>
            </a:pPr>
            <a:r>
              <a:rPr lang="en-US" sz="950" dirty="0">
                <a:solidFill>
                  <a:srgbClr val="213547"/>
                </a:solidFill>
              </a:rPr>
              <a:t>8 curated WHO / WHO India / MedlinePlus sources • 384-dimensional embedding space</a:t>
            </a:r>
            <a:endParaRPr lang="en-US" sz="9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Agentic AI — Routing + Execution</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Natural-language requests are mapped to specialized healthcare tools</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AGENTS</a:t>
            </a:r>
            <a:endParaRPr lang="en-US" sz="850" dirty="0"/>
          </a:p>
        </p:txBody>
      </p:sp>
      <p:sp>
        <p:nvSpPr>
          <p:cNvPr id="7" name="Shape 5"/>
          <p:cNvSpPr/>
          <p:nvPr/>
        </p:nvSpPr>
        <p:spPr>
          <a:xfrm>
            <a:off x="658368" y="1417320"/>
            <a:ext cx="1600200" cy="658368"/>
          </a:xfrm>
          <a:prstGeom prst="roundRect">
            <a:avLst>
              <a:gd name="adj" fmla="val 8333"/>
            </a:avLst>
          </a:prstGeom>
          <a:solidFill>
            <a:srgbClr val="FFFFFF"/>
          </a:solidFill>
          <a:ln w="12700">
            <a:solidFill>
              <a:srgbClr val="D6E4F0"/>
            </a:solidFill>
            <a:prstDash val="solid"/>
          </a:ln>
        </p:spPr>
      </p:sp>
      <p:sp>
        <p:nvSpPr>
          <p:cNvPr id="8" name="Text 6"/>
          <p:cNvSpPr/>
          <p:nvPr/>
        </p:nvSpPr>
        <p:spPr>
          <a:xfrm>
            <a:off x="731520" y="1508760"/>
            <a:ext cx="1453896" cy="502920"/>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User request</a:t>
            </a:r>
            <a:endParaRPr lang="en-US" sz="1070" dirty="0"/>
          </a:p>
        </p:txBody>
      </p:sp>
      <p:sp>
        <p:nvSpPr>
          <p:cNvPr id="9" name="Shape 7"/>
          <p:cNvSpPr/>
          <p:nvPr/>
        </p:nvSpPr>
        <p:spPr>
          <a:xfrm>
            <a:off x="2679192" y="1417320"/>
            <a:ext cx="1600200" cy="658368"/>
          </a:xfrm>
          <a:prstGeom prst="roundRect">
            <a:avLst>
              <a:gd name="adj" fmla="val 8333"/>
            </a:avLst>
          </a:prstGeom>
          <a:solidFill>
            <a:srgbClr val="EAF3FA"/>
          </a:solidFill>
          <a:ln w="12700">
            <a:solidFill>
              <a:srgbClr val="28A6D9"/>
            </a:solidFill>
            <a:prstDash val="solid"/>
          </a:ln>
        </p:spPr>
      </p:sp>
      <p:sp>
        <p:nvSpPr>
          <p:cNvPr id="10" name="Text 8"/>
          <p:cNvSpPr/>
          <p:nvPr/>
        </p:nvSpPr>
        <p:spPr>
          <a:xfrm>
            <a:off x="2752344" y="1508760"/>
            <a:ext cx="1453896" cy="502920"/>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Agent router</a:t>
            </a:r>
            <a:endParaRPr lang="en-US" sz="1070" dirty="0"/>
          </a:p>
        </p:txBody>
      </p:sp>
      <p:sp>
        <p:nvSpPr>
          <p:cNvPr id="11" name="Shape 9"/>
          <p:cNvSpPr/>
          <p:nvPr/>
        </p:nvSpPr>
        <p:spPr>
          <a:xfrm>
            <a:off x="4700016" y="1417320"/>
            <a:ext cx="1600200" cy="658368"/>
          </a:xfrm>
          <a:prstGeom prst="roundRect">
            <a:avLst>
              <a:gd name="adj" fmla="val 8333"/>
            </a:avLst>
          </a:prstGeom>
          <a:solidFill>
            <a:srgbClr val="FFFFFF"/>
          </a:solidFill>
          <a:ln w="12700">
            <a:solidFill>
              <a:srgbClr val="D6E4F0"/>
            </a:solidFill>
            <a:prstDash val="solid"/>
          </a:ln>
        </p:spPr>
      </p:sp>
      <p:sp>
        <p:nvSpPr>
          <p:cNvPr id="12" name="Text 10"/>
          <p:cNvSpPr/>
          <p:nvPr/>
        </p:nvSpPr>
        <p:spPr>
          <a:xfrm>
            <a:off x="4773168" y="1508760"/>
            <a:ext cx="1453896" cy="502920"/>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Selected tool</a:t>
            </a:r>
            <a:endParaRPr lang="en-US" sz="1070" dirty="0"/>
          </a:p>
        </p:txBody>
      </p:sp>
      <p:sp>
        <p:nvSpPr>
          <p:cNvPr id="13" name="Shape 11"/>
          <p:cNvSpPr/>
          <p:nvPr/>
        </p:nvSpPr>
        <p:spPr>
          <a:xfrm>
            <a:off x="6720840" y="1417320"/>
            <a:ext cx="1600200" cy="658368"/>
          </a:xfrm>
          <a:prstGeom prst="roundRect">
            <a:avLst>
              <a:gd name="adj" fmla="val 8333"/>
            </a:avLst>
          </a:prstGeom>
          <a:solidFill>
            <a:srgbClr val="FFFFFF"/>
          </a:solidFill>
          <a:ln w="12700">
            <a:solidFill>
              <a:srgbClr val="D6E4F0"/>
            </a:solidFill>
            <a:prstDash val="solid"/>
          </a:ln>
        </p:spPr>
      </p:sp>
      <p:sp>
        <p:nvSpPr>
          <p:cNvPr id="14" name="Text 12"/>
          <p:cNvSpPr/>
          <p:nvPr/>
        </p:nvSpPr>
        <p:spPr>
          <a:xfrm>
            <a:off x="6793992" y="1508760"/>
            <a:ext cx="1453896" cy="502920"/>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Adapter / executor</a:t>
            </a:r>
            <a:endParaRPr lang="en-US" sz="1070" dirty="0"/>
          </a:p>
        </p:txBody>
      </p:sp>
      <p:sp>
        <p:nvSpPr>
          <p:cNvPr id="15" name="Shape 13"/>
          <p:cNvSpPr/>
          <p:nvPr/>
        </p:nvSpPr>
        <p:spPr>
          <a:xfrm>
            <a:off x="8741664" y="1417320"/>
            <a:ext cx="1600200" cy="658368"/>
          </a:xfrm>
          <a:prstGeom prst="roundRect">
            <a:avLst>
              <a:gd name="adj" fmla="val 8333"/>
            </a:avLst>
          </a:prstGeom>
          <a:solidFill>
            <a:srgbClr val="FFFFFF"/>
          </a:solidFill>
          <a:ln w="12700">
            <a:solidFill>
              <a:srgbClr val="D6E4F0"/>
            </a:solidFill>
            <a:prstDash val="solid"/>
          </a:ln>
        </p:spPr>
      </p:sp>
      <p:sp>
        <p:nvSpPr>
          <p:cNvPr id="16" name="Text 14"/>
          <p:cNvSpPr/>
          <p:nvPr/>
        </p:nvSpPr>
        <p:spPr>
          <a:xfrm>
            <a:off x="8814816" y="1508760"/>
            <a:ext cx="1453896" cy="502920"/>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Structured result</a:t>
            </a:r>
            <a:endParaRPr lang="en-US" sz="1070" dirty="0"/>
          </a:p>
        </p:txBody>
      </p:sp>
      <p:sp>
        <p:nvSpPr>
          <p:cNvPr id="17" name="Shape 15"/>
          <p:cNvSpPr/>
          <p:nvPr/>
        </p:nvSpPr>
        <p:spPr>
          <a:xfrm>
            <a:off x="2286000" y="1746504"/>
            <a:ext cx="310896" cy="0"/>
          </a:xfrm>
          <a:prstGeom prst="line">
            <a:avLst/>
          </a:prstGeom>
          <a:noFill/>
          <a:ln w="27940">
            <a:solidFill>
              <a:srgbClr val="1D63D6"/>
            </a:solidFill>
            <a:prstDash val="solid"/>
            <a:headEnd type="none"/>
            <a:tailEnd type="triangle"/>
          </a:ln>
        </p:spPr>
      </p:sp>
      <p:sp>
        <p:nvSpPr>
          <p:cNvPr id="18" name="Shape 16"/>
          <p:cNvSpPr/>
          <p:nvPr/>
        </p:nvSpPr>
        <p:spPr>
          <a:xfrm>
            <a:off x="4306824" y="1746504"/>
            <a:ext cx="310896" cy="0"/>
          </a:xfrm>
          <a:prstGeom prst="line">
            <a:avLst/>
          </a:prstGeom>
          <a:noFill/>
          <a:ln w="27940">
            <a:solidFill>
              <a:srgbClr val="1D63D6"/>
            </a:solidFill>
            <a:prstDash val="solid"/>
            <a:headEnd type="none"/>
            <a:tailEnd type="triangle"/>
          </a:ln>
        </p:spPr>
      </p:sp>
      <p:sp>
        <p:nvSpPr>
          <p:cNvPr id="19" name="Shape 17"/>
          <p:cNvSpPr/>
          <p:nvPr/>
        </p:nvSpPr>
        <p:spPr>
          <a:xfrm>
            <a:off x="6327648" y="1746504"/>
            <a:ext cx="310896" cy="0"/>
          </a:xfrm>
          <a:prstGeom prst="line">
            <a:avLst/>
          </a:prstGeom>
          <a:noFill/>
          <a:ln w="27940">
            <a:solidFill>
              <a:srgbClr val="1D63D6"/>
            </a:solidFill>
            <a:prstDash val="solid"/>
            <a:headEnd type="none"/>
            <a:tailEnd type="triangle"/>
          </a:ln>
        </p:spPr>
      </p:sp>
      <p:sp>
        <p:nvSpPr>
          <p:cNvPr id="20" name="Shape 18"/>
          <p:cNvSpPr/>
          <p:nvPr/>
        </p:nvSpPr>
        <p:spPr>
          <a:xfrm>
            <a:off x="8348472" y="1746504"/>
            <a:ext cx="310896" cy="0"/>
          </a:xfrm>
          <a:prstGeom prst="line">
            <a:avLst/>
          </a:prstGeom>
          <a:noFill/>
          <a:ln w="27940">
            <a:solidFill>
              <a:srgbClr val="1D63D6"/>
            </a:solidFill>
            <a:prstDash val="solid"/>
            <a:headEnd type="none"/>
            <a:tailEnd type="triangle"/>
          </a:ln>
        </p:spPr>
      </p:sp>
      <p:sp>
        <p:nvSpPr>
          <p:cNvPr id="21" name="Shape 19"/>
          <p:cNvSpPr/>
          <p:nvPr/>
        </p:nvSpPr>
        <p:spPr>
          <a:xfrm>
            <a:off x="658368" y="2514600"/>
            <a:ext cx="3474720" cy="1572768"/>
          </a:xfrm>
          <a:prstGeom prst="roundRect">
            <a:avLst>
              <a:gd name="adj" fmla="val 4651"/>
            </a:avLst>
          </a:prstGeom>
          <a:solidFill>
            <a:srgbClr val="FFFFFF"/>
          </a:solidFill>
          <a:ln w="12700">
            <a:solidFill>
              <a:srgbClr val="D6E4F0"/>
            </a:solidFill>
            <a:prstDash val="solid"/>
          </a:ln>
        </p:spPr>
      </p:sp>
      <p:sp>
        <p:nvSpPr>
          <p:cNvPr id="22" name="Shape 20"/>
          <p:cNvSpPr/>
          <p:nvPr/>
        </p:nvSpPr>
        <p:spPr>
          <a:xfrm>
            <a:off x="658368" y="2514600"/>
            <a:ext cx="64008" cy="1572768"/>
          </a:xfrm>
          <a:prstGeom prst="rect">
            <a:avLst/>
          </a:prstGeom>
          <a:solidFill>
            <a:srgbClr val="1BAA9A"/>
          </a:solidFill>
          <a:ln w="12700">
            <a:solidFill>
              <a:srgbClr val="1BAA9A"/>
            </a:solidFill>
            <a:prstDash val="solid"/>
          </a:ln>
        </p:spPr>
      </p:sp>
      <p:sp>
        <p:nvSpPr>
          <p:cNvPr id="23" name="Text 21"/>
          <p:cNvSpPr/>
          <p:nvPr/>
        </p:nvSpPr>
        <p:spPr>
          <a:xfrm>
            <a:off x="822960" y="2660904"/>
            <a:ext cx="3154680" cy="237744"/>
          </a:xfrm>
          <a:prstGeom prst="rect">
            <a:avLst/>
          </a:prstGeom>
          <a:noFill/>
          <a:ln/>
        </p:spPr>
        <p:txBody>
          <a:bodyPr wrap="square" lIns="0" tIns="0" rIns="0" bIns="0" rtlCol="0" anchor="ctr"/>
          <a:lstStyle/>
          <a:p>
            <a:pPr indent="0" marL="0">
              <a:buNone/>
            </a:pPr>
            <a:r>
              <a:rPr lang="en-US" sz="1350" b="1" dirty="0">
                <a:solidFill>
                  <a:srgbClr val="14324A"/>
                </a:solidFill>
              </a:rPr>
              <a:t>Router evaluation</a:t>
            </a:r>
            <a:endParaRPr lang="en-US" sz="1350" dirty="0"/>
          </a:p>
        </p:txBody>
      </p:sp>
      <p:sp>
        <p:nvSpPr>
          <p:cNvPr id="24" name="Text 22"/>
          <p:cNvSpPr/>
          <p:nvPr/>
        </p:nvSpPr>
        <p:spPr>
          <a:xfrm>
            <a:off x="822960" y="2980944"/>
            <a:ext cx="3154680" cy="1005840"/>
          </a:xfrm>
          <a:prstGeom prst="rect">
            <a:avLst/>
          </a:prstGeom>
          <a:noFill/>
          <a:ln/>
        </p:spPr>
        <p:txBody>
          <a:bodyPr wrap="square" lIns="254" tIns="254" rIns="254" bIns="254" rtlCol="0" anchor="t">
            <a:normAutofit/>
          </a:bodyPr>
          <a:lstStyle/>
          <a:p>
            <a:pPr indent="0" marL="0">
              <a:buNone/>
            </a:pPr>
            <a:r>
              <a:rPr lang="en-US" sz="1060" dirty="0">
                <a:solidFill>
                  <a:srgbClr val="213547"/>
                </a:solidFill>
              </a:rPr>
              <a:t>14 test cases</a:t>
            </a:r>
            <a:endParaRPr lang="en-US" sz="1060" dirty="0"/>
          </a:p>
          <a:p>
            <a:pPr indent="0" marL="0">
              <a:buNone/>
            </a:pPr>
            <a:r>
              <a:rPr lang="en-US" sz="1060" dirty="0">
                <a:solidFill>
                  <a:srgbClr val="213547"/>
                </a:solidFill>
              </a:rPr>
              <a:t>14 correct routes</a:t>
            </a:r>
            <a:endParaRPr lang="en-US" sz="1060" dirty="0"/>
          </a:p>
          <a:p>
            <a:pPr indent="0" marL="0">
              <a:buNone/>
            </a:pPr>
            <a:r>
              <a:rPr lang="en-US" sz="1060" dirty="0">
                <a:solidFill>
                  <a:srgbClr val="213547"/>
                </a:solidFill>
              </a:rPr>
              <a:t>Routing accuracy: 100%</a:t>
            </a:r>
            <a:endParaRPr lang="en-US" sz="1060" dirty="0"/>
          </a:p>
          <a:p>
            <a:pPr indent="0" marL="0">
              <a:buNone/>
            </a:pPr>
            <a:r>
              <a:rPr lang="en-US" sz="1060" dirty="0">
                <a:solidFill>
                  <a:srgbClr val="213547"/>
                </a:solidFill>
              </a:rPr>
              <a:t>Covered diabetes, LOS, clustering, association analysis, X-ray, deterioration, NER, sentiment, RAG and safe fallback.</a:t>
            </a:r>
            <a:endParaRPr lang="en-US" sz="1060" dirty="0"/>
          </a:p>
        </p:txBody>
      </p:sp>
      <p:sp>
        <p:nvSpPr>
          <p:cNvPr id="25" name="Shape 23"/>
          <p:cNvSpPr/>
          <p:nvPr/>
        </p:nvSpPr>
        <p:spPr>
          <a:xfrm>
            <a:off x="4407408" y="2514600"/>
            <a:ext cx="3474720" cy="1572768"/>
          </a:xfrm>
          <a:prstGeom prst="roundRect">
            <a:avLst>
              <a:gd name="adj" fmla="val 4651"/>
            </a:avLst>
          </a:prstGeom>
          <a:solidFill>
            <a:srgbClr val="FFFFFF"/>
          </a:solidFill>
          <a:ln w="12700">
            <a:solidFill>
              <a:srgbClr val="D6E4F0"/>
            </a:solidFill>
            <a:prstDash val="solid"/>
          </a:ln>
        </p:spPr>
      </p:sp>
      <p:sp>
        <p:nvSpPr>
          <p:cNvPr id="26" name="Shape 24"/>
          <p:cNvSpPr/>
          <p:nvPr/>
        </p:nvSpPr>
        <p:spPr>
          <a:xfrm>
            <a:off x="4407408" y="2514600"/>
            <a:ext cx="64008" cy="1572768"/>
          </a:xfrm>
          <a:prstGeom prst="rect">
            <a:avLst/>
          </a:prstGeom>
          <a:solidFill>
            <a:srgbClr val="1D63D6"/>
          </a:solidFill>
          <a:ln w="12700">
            <a:solidFill>
              <a:srgbClr val="1D63D6"/>
            </a:solidFill>
            <a:prstDash val="solid"/>
          </a:ln>
        </p:spPr>
      </p:sp>
      <p:sp>
        <p:nvSpPr>
          <p:cNvPr id="27" name="Text 25"/>
          <p:cNvSpPr/>
          <p:nvPr/>
        </p:nvSpPr>
        <p:spPr>
          <a:xfrm>
            <a:off x="4572000" y="2660904"/>
            <a:ext cx="3154680" cy="237744"/>
          </a:xfrm>
          <a:prstGeom prst="rect">
            <a:avLst/>
          </a:prstGeom>
          <a:noFill/>
          <a:ln/>
        </p:spPr>
        <p:txBody>
          <a:bodyPr wrap="square" lIns="0" tIns="0" rIns="0" bIns="0" rtlCol="0" anchor="ctr"/>
          <a:lstStyle/>
          <a:p>
            <a:pPr indent="0" marL="0">
              <a:buNone/>
            </a:pPr>
            <a:r>
              <a:rPr lang="en-US" sz="1350" b="1" dirty="0">
                <a:solidFill>
                  <a:srgbClr val="14324A"/>
                </a:solidFill>
              </a:rPr>
              <a:t>Final integration</a:t>
            </a:r>
            <a:endParaRPr lang="en-US" sz="1350" dirty="0"/>
          </a:p>
        </p:txBody>
      </p:sp>
      <p:sp>
        <p:nvSpPr>
          <p:cNvPr id="28" name="Text 26"/>
          <p:cNvSpPr/>
          <p:nvPr/>
        </p:nvSpPr>
        <p:spPr>
          <a:xfrm>
            <a:off x="4572000" y="2980944"/>
            <a:ext cx="3154680" cy="1005840"/>
          </a:xfrm>
          <a:prstGeom prst="rect">
            <a:avLst/>
          </a:prstGeom>
          <a:noFill/>
          <a:ln/>
        </p:spPr>
        <p:txBody>
          <a:bodyPr wrap="square" lIns="254" tIns="254" rIns="254" bIns="254" rtlCol="0" anchor="t">
            <a:normAutofit/>
          </a:bodyPr>
          <a:lstStyle/>
          <a:p>
            <a:pPr indent="0" marL="0">
              <a:buNone/>
            </a:pPr>
            <a:r>
              <a:rPr lang="en-US" sz="1120" dirty="0">
                <a:solidFill>
                  <a:srgbClr val="213547"/>
                </a:solidFill>
              </a:rPr>
              <a:t>10 scenarios</a:t>
            </a:r>
            <a:endParaRPr lang="en-US" sz="1120" dirty="0"/>
          </a:p>
          <a:p>
            <a:pPr indent="0" marL="0">
              <a:buNone/>
            </a:pPr>
            <a:r>
              <a:rPr lang="en-US" sz="1120" dirty="0">
                <a:solidFill>
                  <a:srgbClr val="213547"/>
                </a:solidFill>
              </a:rPr>
              <a:t>10 correct routes</a:t>
            </a:r>
            <a:endParaRPr lang="en-US" sz="1120" dirty="0"/>
          </a:p>
          <a:p>
            <a:pPr indent="0" marL="0">
              <a:buNone/>
            </a:pPr>
            <a:r>
              <a:rPr lang="en-US" sz="1120" dirty="0">
                <a:solidFill>
                  <a:srgbClr val="213547"/>
                </a:solidFill>
              </a:rPr>
              <a:t>9 valid executions</a:t>
            </a:r>
            <a:endParaRPr lang="en-US" sz="1120" dirty="0"/>
          </a:p>
          <a:p>
            <a:pPr indent="0" marL="0">
              <a:buNone/>
            </a:pPr>
            <a:r>
              <a:rPr lang="en-US" sz="1120" dirty="0">
                <a:solidFill>
                  <a:srgbClr val="213547"/>
                </a:solidFill>
              </a:rPr>
              <a:t>Execution success rate: 90%</a:t>
            </a:r>
            <a:endParaRPr lang="en-US" sz="1120" dirty="0"/>
          </a:p>
          <a:p>
            <a:pPr indent="0" marL="0">
              <a:buNone/>
            </a:pPr>
            <a:r>
              <a:rPr lang="en-US" sz="1120" dirty="0">
                <a:solidFill>
                  <a:srgbClr val="213547"/>
                </a:solidFill>
              </a:rPr>
              <a:t>Overall pass rate: 90%</a:t>
            </a:r>
            <a:endParaRPr lang="en-US" sz="1120" dirty="0"/>
          </a:p>
        </p:txBody>
      </p:sp>
      <p:sp>
        <p:nvSpPr>
          <p:cNvPr id="29" name="Shape 27"/>
          <p:cNvSpPr/>
          <p:nvPr/>
        </p:nvSpPr>
        <p:spPr>
          <a:xfrm>
            <a:off x="8156448" y="2514600"/>
            <a:ext cx="3474720" cy="1572768"/>
          </a:xfrm>
          <a:prstGeom prst="roundRect">
            <a:avLst>
              <a:gd name="adj" fmla="val 4651"/>
            </a:avLst>
          </a:prstGeom>
          <a:solidFill>
            <a:srgbClr val="FFFFFF"/>
          </a:solidFill>
          <a:ln w="12700">
            <a:solidFill>
              <a:srgbClr val="D6E4F0"/>
            </a:solidFill>
            <a:prstDash val="solid"/>
          </a:ln>
        </p:spPr>
      </p:sp>
      <p:sp>
        <p:nvSpPr>
          <p:cNvPr id="30" name="Shape 28"/>
          <p:cNvSpPr/>
          <p:nvPr/>
        </p:nvSpPr>
        <p:spPr>
          <a:xfrm>
            <a:off x="8156448" y="2514600"/>
            <a:ext cx="64008" cy="1572768"/>
          </a:xfrm>
          <a:prstGeom prst="rect">
            <a:avLst/>
          </a:prstGeom>
          <a:solidFill>
            <a:srgbClr val="28A6D9"/>
          </a:solidFill>
          <a:ln w="12700">
            <a:solidFill>
              <a:srgbClr val="28A6D9"/>
            </a:solidFill>
            <a:prstDash val="solid"/>
          </a:ln>
        </p:spPr>
      </p:sp>
      <p:sp>
        <p:nvSpPr>
          <p:cNvPr id="31" name="Text 29"/>
          <p:cNvSpPr/>
          <p:nvPr/>
        </p:nvSpPr>
        <p:spPr>
          <a:xfrm>
            <a:off x="8321040" y="2660904"/>
            <a:ext cx="3154680" cy="237744"/>
          </a:xfrm>
          <a:prstGeom prst="rect">
            <a:avLst/>
          </a:prstGeom>
          <a:noFill/>
          <a:ln/>
        </p:spPr>
        <p:txBody>
          <a:bodyPr wrap="square" lIns="0" tIns="0" rIns="0" bIns="0" rtlCol="0" anchor="ctr"/>
          <a:lstStyle/>
          <a:p>
            <a:pPr indent="0" marL="0">
              <a:buNone/>
            </a:pPr>
            <a:r>
              <a:rPr lang="en-US" sz="1350" b="1" dirty="0">
                <a:solidFill>
                  <a:srgbClr val="14324A"/>
                </a:solidFill>
              </a:rPr>
              <a:t>Observed issue</a:t>
            </a:r>
            <a:endParaRPr lang="en-US" sz="1350" dirty="0"/>
          </a:p>
        </p:txBody>
      </p:sp>
      <p:sp>
        <p:nvSpPr>
          <p:cNvPr id="32" name="Text 30"/>
          <p:cNvSpPr/>
          <p:nvPr/>
        </p:nvSpPr>
        <p:spPr>
          <a:xfrm>
            <a:off x="8321040" y="2980944"/>
            <a:ext cx="3154680" cy="1005840"/>
          </a:xfrm>
          <a:prstGeom prst="rect">
            <a:avLst/>
          </a:prstGeom>
          <a:noFill/>
          <a:ln/>
        </p:spPr>
        <p:txBody>
          <a:bodyPr wrap="square" lIns="254" tIns="254" rIns="254" bIns="254" rtlCol="0" anchor="t">
            <a:normAutofit/>
          </a:bodyPr>
          <a:lstStyle/>
          <a:p>
            <a:pPr indent="0" marL="0">
              <a:buNone/>
            </a:pPr>
            <a:r>
              <a:rPr lang="en-US" sz="1060" dirty="0">
                <a:solidFill>
                  <a:srgbClr val="213547"/>
                </a:solidFill>
              </a:rPr>
              <a:t>One chest X-ray scenario was routed to the expected tool but produced an execution error. The recorded evidence therefore separates routing correctness from execution success.</a:t>
            </a:r>
            <a:endParaRPr lang="en-US" sz="1060" dirty="0"/>
          </a:p>
        </p:txBody>
      </p:sp>
      <p:sp>
        <p:nvSpPr>
          <p:cNvPr id="33" name="Text 31"/>
          <p:cNvSpPr/>
          <p:nvPr/>
        </p:nvSpPr>
        <p:spPr>
          <a:xfrm>
            <a:off x="658368" y="4526280"/>
            <a:ext cx="1828800" cy="274320"/>
          </a:xfrm>
          <a:prstGeom prst="rect">
            <a:avLst/>
          </a:prstGeom>
          <a:noFill/>
          <a:ln/>
        </p:spPr>
        <p:txBody>
          <a:bodyPr wrap="square" lIns="0" tIns="0" rIns="0" bIns="0" rtlCol="0" anchor="ctr"/>
          <a:lstStyle/>
          <a:p>
            <a:pPr indent="0" marL="0">
              <a:buNone/>
            </a:pPr>
            <a:r>
              <a:rPr lang="en-US" sz="1500" b="1" dirty="0">
                <a:solidFill>
                  <a:srgbClr val="14324A"/>
                </a:solidFill>
              </a:rPr>
              <a:t>Extensible pattern</a:t>
            </a:r>
            <a:endParaRPr lang="en-US" sz="1500" dirty="0"/>
          </a:p>
        </p:txBody>
      </p:sp>
      <p:sp>
        <p:nvSpPr>
          <p:cNvPr id="34" name="Text 32"/>
          <p:cNvSpPr/>
          <p:nvPr/>
        </p:nvSpPr>
        <p:spPr>
          <a:xfrm>
            <a:off x="658368" y="4892040"/>
            <a:ext cx="10652760" cy="612648"/>
          </a:xfrm>
          <a:prstGeom prst="rect">
            <a:avLst/>
          </a:prstGeom>
          <a:noFill/>
          <a:ln/>
        </p:spPr>
        <p:txBody>
          <a:bodyPr wrap="square" lIns="127" tIns="127" rIns="127" bIns="127" rtlCol="0" anchor="ctr">
            <a:normAutofit/>
          </a:bodyPr>
          <a:lstStyle/>
          <a:p>
            <a:pPr indent="0" marL="0">
              <a:buNone/>
            </a:pPr>
            <a:r>
              <a:rPr lang="en-US" sz="1500" dirty="0">
                <a:solidFill>
                  <a:srgbClr val="213547"/>
                </a:solidFill>
              </a:rPr>
              <a:t>Natural language → router → registered capability → normalized response. This keeps the UI stable while new tools or models are added.</a:t>
            </a:r>
            <a:endParaRPr lang="en-US" sz="150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Multilingual Patient Experience</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English, Hindi and Tamil patient-facing workflows</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MULTILINGUAL</a:t>
            </a:r>
            <a:endParaRPr lang="en-US" sz="850" dirty="0"/>
          </a:p>
        </p:txBody>
      </p:sp>
      <p:sp>
        <p:nvSpPr>
          <p:cNvPr id="7" name="Shape 5"/>
          <p:cNvSpPr/>
          <p:nvPr/>
        </p:nvSpPr>
        <p:spPr>
          <a:xfrm>
            <a:off x="566928" y="1325880"/>
            <a:ext cx="4617720" cy="1965960"/>
          </a:xfrm>
          <a:prstGeom prst="roundRect">
            <a:avLst>
              <a:gd name="adj" fmla="val 3721"/>
            </a:avLst>
          </a:prstGeom>
          <a:solidFill>
            <a:srgbClr val="FFFFFF"/>
          </a:solidFill>
          <a:ln w="12700">
            <a:solidFill>
              <a:srgbClr val="D6E4F0"/>
            </a:solidFill>
            <a:prstDash val="solid"/>
          </a:ln>
        </p:spPr>
      </p:sp>
      <p:pic>
        <p:nvPicPr>
          <p:cNvPr id="8" name="Image 0" descr="/mnt/data/patient portal.png">    </p:cNvPr>
          <p:cNvPicPr>
            <a:picLocks noChangeAspect="1"/>
          </p:cNvPicPr>
          <p:nvPr/>
        </p:nvPicPr>
        <p:blipFill>
          <a:blip r:embed="rId1"/>
          <a:stretch>
            <a:fillRect/>
          </a:stretch>
        </p:blipFill>
        <p:spPr>
          <a:xfrm>
            <a:off x="594360" y="1353312"/>
            <a:ext cx="4562856" cy="1911096"/>
          </a:xfrm>
          <a:prstGeom prst="rect">
            <a:avLst/>
          </a:prstGeom>
        </p:spPr>
      </p:pic>
      <p:sp>
        <p:nvSpPr>
          <p:cNvPr id="9" name="Shape 6"/>
          <p:cNvSpPr/>
          <p:nvPr/>
        </p:nvSpPr>
        <p:spPr>
          <a:xfrm>
            <a:off x="5413248" y="1325880"/>
            <a:ext cx="6199632" cy="1965960"/>
          </a:xfrm>
          <a:prstGeom prst="roundRect">
            <a:avLst>
              <a:gd name="adj" fmla="val 3721"/>
            </a:avLst>
          </a:prstGeom>
          <a:solidFill>
            <a:srgbClr val="FFFFFF"/>
          </a:solidFill>
          <a:ln w="12700">
            <a:solidFill>
              <a:srgbClr val="D6E4F0"/>
            </a:solidFill>
            <a:prstDash val="solid"/>
          </a:ln>
        </p:spPr>
      </p:sp>
      <p:pic>
        <p:nvPicPr>
          <p:cNvPr id="10" name="Image 1" descr="/mnt/data/patient_portal (1).png">    </p:cNvPr>
          <p:cNvPicPr>
            <a:picLocks noChangeAspect="1"/>
          </p:cNvPicPr>
          <p:nvPr/>
        </p:nvPicPr>
        <p:blipFill>
          <a:blip r:embed="rId2"/>
          <a:stretch>
            <a:fillRect/>
          </a:stretch>
        </p:blipFill>
        <p:spPr>
          <a:xfrm>
            <a:off x="5440680" y="1353312"/>
            <a:ext cx="6144768" cy="1911096"/>
          </a:xfrm>
          <a:prstGeom prst="rect">
            <a:avLst/>
          </a:prstGeom>
        </p:spPr>
      </p:pic>
      <p:sp>
        <p:nvSpPr>
          <p:cNvPr id="11" name="Shape 7"/>
          <p:cNvSpPr/>
          <p:nvPr/>
        </p:nvSpPr>
        <p:spPr>
          <a:xfrm>
            <a:off x="566928" y="3584448"/>
            <a:ext cx="3429000" cy="1417320"/>
          </a:xfrm>
          <a:prstGeom prst="roundRect">
            <a:avLst>
              <a:gd name="adj" fmla="val 5161"/>
            </a:avLst>
          </a:prstGeom>
          <a:solidFill>
            <a:srgbClr val="FFFFFF"/>
          </a:solidFill>
          <a:ln w="12700">
            <a:solidFill>
              <a:srgbClr val="D6E4F0"/>
            </a:solidFill>
            <a:prstDash val="solid"/>
          </a:ln>
        </p:spPr>
      </p:sp>
      <p:sp>
        <p:nvSpPr>
          <p:cNvPr id="12" name="Shape 8"/>
          <p:cNvSpPr/>
          <p:nvPr/>
        </p:nvSpPr>
        <p:spPr>
          <a:xfrm>
            <a:off x="566928" y="3584448"/>
            <a:ext cx="64008" cy="1417320"/>
          </a:xfrm>
          <a:prstGeom prst="rect">
            <a:avLst/>
          </a:prstGeom>
          <a:solidFill>
            <a:srgbClr val="1D63D6"/>
          </a:solidFill>
          <a:ln w="12700">
            <a:solidFill>
              <a:srgbClr val="1D63D6"/>
            </a:solidFill>
            <a:prstDash val="solid"/>
          </a:ln>
        </p:spPr>
      </p:sp>
      <p:sp>
        <p:nvSpPr>
          <p:cNvPr id="13" name="Text 9"/>
          <p:cNvSpPr/>
          <p:nvPr/>
        </p:nvSpPr>
        <p:spPr>
          <a:xfrm>
            <a:off x="731520" y="3730752"/>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English UI</a:t>
            </a:r>
            <a:endParaRPr lang="en-US" sz="1350" dirty="0"/>
          </a:p>
        </p:txBody>
      </p:sp>
      <p:sp>
        <p:nvSpPr>
          <p:cNvPr id="14" name="Text 10"/>
          <p:cNvSpPr/>
          <p:nvPr/>
        </p:nvSpPr>
        <p:spPr>
          <a:xfrm>
            <a:off x="731520" y="4050792"/>
            <a:ext cx="3108960" cy="8503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Default patient-facing experience with localized navigation and service labels.</a:t>
            </a:r>
            <a:endParaRPr lang="en-US" sz="1050" dirty="0"/>
          </a:p>
        </p:txBody>
      </p:sp>
      <p:sp>
        <p:nvSpPr>
          <p:cNvPr id="15" name="Shape 11"/>
          <p:cNvSpPr/>
          <p:nvPr/>
        </p:nvSpPr>
        <p:spPr>
          <a:xfrm>
            <a:off x="4370832" y="3584448"/>
            <a:ext cx="3429000" cy="1417320"/>
          </a:xfrm>
          <a:prstGeom prst="roundRect">
            <a:avLst>
              <a:gd name="adj" fmla="val 5161"/>
            </a:avLst>
          </a:prstGeom>
          <a:solidFill>
            <a:srgbClr val="FFFFFF"/>
          </a:solidFill>
          <a:ln w="12700">
            <a:solidFill>
              <a:srgbClr val="D6E4F0"/>
            </a:solidFill>
            <a:prstDash val="solid"/>
          </a:ln>
        </p:spPr>
      </p:sp>
      <p:sp>
        <p:nvSpPr>
          <p:cNvPr id="16" name="Shape 12"/>
          <p:cNvSpPr/>
          <p:nvPr/>
        </p:nvSpPr>
        <p:spPr>
          <a:xfrm>
            <a:off x="4370832" y="3584448"/>
            <a:ext cx="64008" cy="1417320"/>
          </a:xfrm>
          <a:prstGeom prst="rect">
            <a:avLst/>
          </a:prstGeom>
          <a:solidFill>
            <a:srgbClr val="1BAA9A"/>
          </a:solidFill>
          <a:ln w="12700">
            <a:solidFill>
              <a:srgbClr val="1BAA9A"/>
            </a:solidFill>
            <a:prstDash val="solid"/>
          </a:ln>
        </p:spPr>
      </p:sp>
      <p:sp>
        <p:nvSpPr>
          <p:cNvPr id="17" name="Text 13"/>
          <p:cNvSpPr/>
          <p:nvPr/>
        </p:nvSpPr>
        <p:spPr>
          <a:xfrm>
            <a:off x="4535424" y="3730752"/>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Hindi UI</a:t>
            </a:r>
            <a:endParaRPr lang="en-US" sz="1350" dirty="0"/>
          </a:p>
        </p:txBody>
      </p:sp>
      <p:sp>
        <p:nvSpPr>
          <p:cNvPr id="18" name="Text 14"/>
          <p:cNvSpPr/>
          <p:nvPr/>
        </p:nvSpPr>
        <p:spPr>
          <a:xfrm>
            <a:off x="4535424" y="4050792"/>
            <a:ext cx="3108960" cy="8503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Patient-facing interface localized into Hindi. Free-form translation uses a pretrained English-to-Hindi Transformer/NMT workflow.</a:t>
            </a:r>
            <a:endParaRPr lang="en-US" sz="1050" dirty="0"/>
          </a:p>
        </p:txBody>
      </p:sp>
      <p:sp>
        <p:nvSpPr>
          <p:cNvPr id="19" name="Shape 15"/>
          <p:cNvSpPr/>
          <p:nvPr/>
        </p:nvSpPr>
        <p:spPr>
          <a:xfrm>
            <a:off x="8174736" y="3584448"/>
            <a:ext cx="3438144" cy="1417320"/>
          </a:xfrm>
          <a:prstGeom prst="roundRect">
            <a:avLst>
              <a:gd name="adj" fmla="val 5161"/>
            </a:avLst>
          </a:prstGeom>
          <a:solidFill>
            <a:srgbClr val="FFFFFF"/>
          </a:solidFill>
          <a:ln w="12700">
            <a:solidFill>
              <a:srgbClr val="D6E4F0"/>
            </a:solidFill>
            <a:prstDash val="solid"/>
          </a:ln>
        </p:spPr>
      </p:sp>
      <p:sp>
        <p:nvSpPr>
          <p:cNvPr id="20" name="Shape 16"/>
          <p:cNvSpPr/>
          <p:nvPr/>
        </p:nvSpPr>
        <p:spPr>
          <a:xfrm>
            <a:off x="8174736" y="3584448"/>
            <a:ext cx="64008" cy="1417320"/>
          </a:xfrm>
          <a:prstGeom prst="rect">
            <a:avLst/>
          </a:prstGeom>
          <a:solidFill>
            <a:srgbClr val="28A6D9"/>
          </a:solidFill>
          <a:ln w="12700">
            <a:solidFill>
              <a:srgbClr val="28A6D9"/>
            </a:solidFill>
            <a:prstDash val="solid"/>
          </a:ln>
        </p:spPr>
      </p:sp>
      <p:sp>
        <p:nvSpPr>
          <p:cNvPr id="21" name="Text 17"/>
          <p:cNvSpPr/>
          <p:nvPr/>
        </p:nvSpPr>
        <p:spPr>
          <a:xfrm>
            <a:off x="8339328" y="3730752"/>
            <a:ext cx="3118104" cy="237744"/>
          </a:xfrm>
          <a:prstGeom prst="rect">
            <a:avLst/>
          </a:prstGeom>
          <a:noFill/>
          <a:ln/>
        </p:spPr>
        <p:txBody>
          <a:bodyPr wrap="square" lIns="0" tIns="0" rIns="0" bIns="0" rtlCol="0" anchor="ctr"/>
          <a:lstStyle/>
          <a:p>
            <a:pPr indent="0" marL="0">
              <a:buNone/>
            </a:pPr>
            <a:r>
              <a:rPr lang="en-US" sz="1350" b="1" dirty="0">
                <a:solidFill>
                  <a:srgbClr val="14324A"/>
                </a:solidFill>
              </a:rPr>
              <a:t>Tamil UI</a:t>
            </a:r>
            <a:endParaRPr lang="en-US" sz="1350" dirty="0"/>
          </a:p>
        </p:txBody>
      </p:sp>
      <p:sp>
        <p:nvSpPr>
          <p:cNvPr id="22" name="Text 18"/>
          <p:cNvSpPr/>
          <p:nvPr/>
        </p:nvSpPr>
        <p:spPr>
          <a:xfrm>
            <a:off x="8339328" y="4050792"/>
            <a:ext cx="3118104" cy="85039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Tamil patient-facing UI is implemented through application-level translations.</a:t>
            </a:r>
            <a:endParaRPr lang="en-US" sz="1050" dirty="0"/>
          </a:p>
        </p:txBody>
      </p:sp>
      <p:sp>
        <p:nvSpPr>
          <p:cNvPr id="23" name="Shape 19"/>
          <p:cNvSpPr/>
          <p:nvPr/>
        </p:nvSpPr>
        <p:spPr>
          <a:xfrm>
            <a:off x="566928" y="5230368"/>
            <a:ext cx="11045952" cy="685800"/>
          </a:xfrm>
          <a:prstGeom prst="roundRect">
            <a:avLst>
              <a:gd name="adj" fmla="val 10667"/>
            </a:avLst>
          </a:prstGeom>
          <a:solidFill>
            <a:srgbClr val="EAF3FA"/>
          </a:solidFill>
          <a:ln w="12700">
            <a:solidFill>
              <a:srgbClr val="D6E4F0"/>
            </a:solidFill>
            <a:prstDash val="solid"/>
          </a:ln>
        </p:spPr>
      </p:sp>
      <p:sp>
        <p:nvSpPr>
          <p:cNvPr id="24" name="Shape 20"/>
          <p:cNvSpPr/>
          <p:nvPr/>
        </p:nvSpPr>
        <p:spPr>
          <a:xfrm>
            <a:off x="566928" y="5230368"/>
            <a:ext cx="64008" cy="685800"/>
          </a:xfrm>
          <a:prstGeom prst="rect">
            <a:avLst/>
          </a:prstGeom>
          <a:solidFill>
            <a:srgbClr val="28A6D9"/>
          </a:solidFill>
          <a:ln w="12700">
            <a:solidFill>
              <a:srgbClr val="28A6D9"/>
            </a:solidFill>
            <a:prstDash val="solid"/>
          </a:ln>
        </p:spPr>
      </p:sp>
      <p:sp>
        <p:nvSpPr>
          <p:cNvPr id="25" name="Text 21"/>
          <p:cNvSpPr/>
          <p:nvPr/>
        </p:nvSpPr>
        <p:spPr>
          <a:xfrm>
            <a:off x="731520" y="5376672"/>
            <a:ext cx="10725912" cy="237744"/>
          </a:xfrm>
          <a:prstGeom prst="rect">
            <a:avLst/>
          </a:prstGeom>
          <a:noFill/>
          <a:ln/>
        </p:spPr>
        <p:txBody>
          <a:bodyPr wrap="square" lIns="0" tIns="0" rIns="0" bIns="0" rtlCol="0" anchor="ctr"/>
          <a:lstStyle/>
          <a:p>
            <a:pPr indent="0" marL="0">
              <a:buNone/>
            </a:pPr>
            <a:r>
              <a:rPr lang="en-US" sz="1150" b="1" dirty="0">
                <a:solidFill>
                  <a:srgbClr val="14324A"/>
                </a:solidFill>
              </a:rPr>
              <a:t>Model boundary</a:t>
            </a:r>
            <a:endParaRPr lang="en-US" sz="1150" dirty="0"/>
          </a:p>
        </p:txBody>
      </p:sp>
      <p:sp>
        <p:nvSpPr>
          <p:cNvPr id="26" name="Text 22"/>
          <p:cNvSpPr/>
          <p:nvPr/>
        </p:nvSpPr>
        <p:spPr>
          <a:xfrm>
            <a:off x="731520" y="5696712"/>
            <a:ext cx="10725912" cy="118872"/>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Helsinki-NLP/opus-mt-en-hi is a pretrained neural machine-translation model; it is not presented as a general-purpose LLM.</a:t>
            </a:r>
            <a:endParaRPr lang="en-US" sz="10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Data Provenance, Safety &amp; Responsible AI</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Public and synthetic healthcare resources are documented separately from model claims</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GOVERNANCE</a:t>
            </a:r>
            <a:endParaRPr lang="en-US" sz="850" dirty="0"/>
          </a:p>
        </p:txBody>
      </p:sp>
      <p:sp>
        <p:nvSpPr>
          <p:cNvPr id="7" name="Shape 5"/>
          <p:cNvSpPr/>
          <p:nvPr/>
        </p:nvSpPr>
        <p:spPr>
          <a:xfrm>
            <a:off x="566928" y="1325880"/>
            <a:ext cx="3493008" cy="1078992"/>
          </a:xfrm>
          <a:prstGeom prst="roundRect">
            <a:avLst>
              <a:gd name="adj" fmla="val 6780"/>
            </a:avLst>
          </a:prstGeom>
          <a:solidFill>
            <a:srgbClr val="FFFFFF"/>
          </a:solidFill>
          <a:ln w="12700">
            <a:solidFill>
              <a:srgbClr val="D6E4F0"/>
            </a:solidFill>
            <a:prstDash val="solid"/>
          </a:ln>
        </p:spPr>
      </p:sp>
      <p:sp>
        <p:nvSpPr>
          <p:cNvPr id="8" name="Shape 6"/>
          <p:cNvSpPr/>
          <p:nvPr/>
        </p:nvSpPr>
        <p:spPr>
          <a:xfrm>
            <a:off x="566928" y="1325880"/>
            <a:ext cx="64008" cy="1078992"/>
          </a:xfrm>
          <a:prstGeom prst="rect">
            <a:avLst/>
          </a:prstGeom>
          <a:solidFill>
            <a:srgbClr val="1D63D6"/>
          </a:solidFill>
          <a:ln w="12700">
            <a:solidFill>
              <a:srgbClr val="1D63D6"/>
            </a:solidFill>
            <a:prstDash val="solid"/>
          </a:ln>
        </p:spPr>
      </p:sp>
      <p:sp>
        <p:nvSpPr>
          <p:cNvPr id="9" name="Text 7"/>
          <p:cNvSpPr/>
          <p:nvPr/>
        </p:nvSpPr>
        <p:spPr>
          <a:xfrm>
            <a:off x="731520" y="1472184"/>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Indian Healthcare Patient Records</a:t>
            </a:r>
            <a:endParaRPr lang="en-US" sz="1350" dirty="0"/>
          </a:p>
        </p:txBody>
      </p:sp>
      <p:sp>
        <p:nvSpPr>
          <p:cNvPr id="10" name="Text 8"/>
          <p:cNvSpPr/>
          <p:nvPr/>
        </p:nvSpPr>
        <p:spPr>
          <a:xfrm>
            <a:off x="731520" y="1792224"/>
            <a:ext cx="3172968" cy="512064"/>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Kaggle — Arun's Workspace</a:t>
            </a:r>
            <a:endParaRPr lang="en-US" sz="1100" dirty="0"/>
          </a:p>
        </p:txBody>
      </p:sp>
      <p:sp>
        <p:nvSpPr>
          <p:cNvPr id="11" name="Shape 9"/>
          <p:cNvSpPr/>
          <p:nvPr/>
        </p:nvSpPr>
        <p:spPr>
          <a:xfrm>
            <a:off x="566928" y="2578608"/>
            <a:ext cx="3493008" cy="1078992"/>
          </a:xfrm>
          <a:prstGeom prst="roundRect">
            <a:avLst>
              <a:gd name="adj" fmla="val 6780"/>
            </a:avLst>
          </a:prstGeom>
          <a:solidFill>
            <a:srgbClr val="FFFFFF"/>
          </a:solidFill>
          <a:ln w="12700">
            <a:solidFill>
              <a:srgbClr val="D6E4F0"/>
            </a:solidFill>
            <a:prstDash val="solid"/>
          </a:ln>
        </p:spPr>
      </p:sp>
      <p:sp>
        <p:nvSpPr>
          <p:cNvPr id="12" name="Shape 10"/>
          <p:cNvSpPr/>
          <p:nvPr/>
        </p:nvSpPr>
        <p:spPr>
          <a:xfrm>
            <a:off x="566928" y="2578608"/>
            <a:ext cx="64008" cy="1078992"/>
          </a:xfrm>
          <a:prstGeom prst="rect">
            <a:avLst/>
          </a:prstGeom>
          <a:solidFill>
            <a:srgbClr val="1BAA9A"/>
          </a:solidFill>
          <a:ln w="12700">
            <a:solidFill>
              <a:srgbClr val="1BAA9A"/>
            </a:solidFill>
            <a:prstDash val="solid"/>
          </a:ln>
        </p:spPr>
      </p:sp>
      <p:sp>
        <p:nvSpPr>
          <p:cNvPr id="13" name="Text 11"/>
          <p:cNvSpPr/>
          <p:nvPr/>
        </p:nvSpPr>
        <p:spPr>
          <a:xfrm>
            <a:off x="731520" y="2724912"/>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LengthOfStay.csv</a:t>
            </a:r>
            <a:endParaRPr lang="en-US" sz="1350" dirty="0"/>
          </a:p>
        </p:txBody>
      </p:sp>
      <p:sp>
        <p:nvSpPr>
          <p:cNvPr id="14" name="Text 12"/>
          <p:cNvSpPr/>
          <p:nvPr/>
        </p:nvSpPr>
        <p:spPr>
          <a:xfrm>
            <a:off x="731520" y="3044952"/>
            <a:ext cx="3172968" cy="512064"/>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Microsoft R Server — Hospital Length of Stay • MIT</a:t>
            </a:r>
            <a:endParaRPr lang="en-US" sz="1100" dirty="0"/>
          </a:p>
        </p:txBody>
      </p:sp>
      <p:sp>
        <p:nvSpPr>
          <p:cNvPr id="15" name="Shape 13"/>
          <p:cNvSpPr/>
          <p:nvPr/>
        </p:nvSpPr>
        <p:spPr>
          <a:xfrm>
            <a:off x="566928" y="3831336"/>
            <a:ext cx="3493008" cy="1078992"/>
          </a:xfrm>
          <a:prstGeom prst="roundRect">
            <a:avLst>
              <a:gd name="adj" fmla="val 6780"/>
            </a:avLst>
          </a:prstGeom>
          <a:solidFill>
            <a:srgbClr val="FFFFFF"/>
          </a:solidFill>
          <a:ln w="12700">
            <a:solidFill>
              <a:srgbClr val="D6E4F0"/>
            </a:solidFill>
            <a:prstDash val="solid"/>
          </a:ln>
        </p:spPr>
      </p:sp>
      <p:sp>
        <p:nvSpPr>
          <p:cNvPr id="16" name="Shape 14"/>
          <p:cNvSpPr/>
          <p:nvPr/>
        </p:nvSpPr>
        <p:spPr>
          <a:xfrm>
            <a:off x="566928" y="3831336"/>
            <a:ext cx="64008" cy="1078992"/>
          </a:xfrm>
          <a:prstGeom prst="rect">
            <a:avLst/>
          </a:prstGeom>
          <a:solidFill>
            <a:srgbClr val="28A6D9"/>
          </a:solidFill>
          <a:ln w="12700">
            <a:solidFill>
              <a:srgbClr val="28A6D9"/>
            </a:solidFill>
            <a:prstDash val="solid"/>
          </a:ln>
        </p:spPr>
      </p:sp>
      <p:sp>
        <p:nvSpPr>
          <p:cNvPr id="17" name="Text 15"/>
          <p:cNvSpPr/>
          <p:nvPr/>
        </p:nvSpPr>
        <p:spPr>
          <a:xfrm>
            <a:off x="731520" y="3977640"/>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Patient Feedback / Sentiment</a:t>
            </a:r>
            <a:endParaRPr lang="en-US" sz="1350" dirty="0"/>
          </a:p>
        </p:txBody>
      </p:sp>
      <p:sp>
        <p:nvSpPr>
          <p:cNvPr id="18" name="Text 16"/>
          <p:cNvSpPr/>
          <p:nvPr/>
        </p:nvSpPr>
        <p:spPr>
          <a:xfrm>
            <a:off x="731520" y="4297680"/>
            <a:ext cx="3172968" cy="512064"/>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Kaggle — SANAK.2000 • MIT</a:t>
            </a:r>
            <a:endParaRPr lang="en-US" sz="1100" dirty="0"/>
          </a:p>
        </p:txBody>
      </p:sp>
      <p:sp>
        <p:nvSpPr>
          <p:cNvPr id="19" name="Shape 17"/>
          <p:cNvSpPr/>
          <p:nvPr/>
        </p:nvSpPr>
        <p:spPr>
          <a:xfrm>
            <a:off x="4343400" y="1325880"/>
            <a:ext cx="3493008" cy="1078992"/>
          </a:xfrm>
          <a:prstGeom prst="roundRect">
            <a:avLst>
              <a:gd name="adj" fmla="val 6780"/>
            </a:avLst>
          </a:prstGeom>
          <a:solidFill>
            <a:srgbClr val="FFFFFF"/>
          </a:solidFill>
          <a:ln w="12700">
            <a:solidFill>
              <a:srgbClr val="D6E4F0"/>
            </a:solidFill>
            <a:prstDash val="solid"/>
          </a:ln>
        </p:spPr>
      </p:sp>
      <p:sp>
        <p:nvSpPr>
          <p:cNvPr id="20" name="Shape 18"/>
          <p:cNvSpPr/>
          <p:nvPr/>
        </p:nvSpPr>
        <p:spPr>
          <a:xfrm>
            <a:off x="4343400" y="1325880"/>
            <a:ext cx="64008" cy="1078992"/>
          </a:xfrm>
          <a:prstGeom prst="rect">
            <a:avLst/>
          </a:prstGeom>
          <a:solidFill>
            <a:srgbClr val="1BAA9A"/>
          </a:solidFill>
          <a:ln w="12700">
            <a:solidFill>
              <a:srgbClr val="1BAA9A"/>
            </a:solidFill>
            <a:prstDash val="solid"/>
          </a:ln>
        </p:spPr>
      </p:sp>
      <p:sp>
        <p:nvSpPr>
          <p:cNvPr id="21" name="Text 19"/>
          <p:cNvSpPr/>
          <p:nvPr/>
        </p:nvSpPr>
        <p:spPr>
          <a:xfrm>
            <a:off x="4507992" y="1472184"/>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Hospital Deterioration</a:t>
            </a:r>
            <a:endParaRPr lang="en-US" sz="1350" dirty="0"/>
          </a:p>
        </p:txBody>
      </p:sp>
      <p:sp>
        <p:nvSpPr>
          <p:cNvPr id="22" name="Text 20"/>
          <p:cNvSpPr/>
          <p:nvPr/>
        </p:nvSpPr>
        <p:spPr>
          <a:xfrm>
            <a:off x="4507992" y="1792224"/>
            <a:ext cx="3172968" cy="512064"/>
          </a:xfrm>
          <a:prstGeom prst="rect">
            <a:avLst/>
          </a:prstGeom>
          <a:noFill/>
          <a:ln/>
        </p:spPr>
        <p:txBody>
          <a:bodyPr wrap="square" lIns="254" tIns="254" rIns="254" bIns="254" rtlCol="0" anchor="t">
            <a:normAutofit/>
          </a:bodyPr>
          <a:lstStyle/>
          <a:p>
            <a:pPr indent="0" marL="0">
              <a:buNone/>
            </a:pPr>
            <a:r>
              <a:rPr lang="en-US" sz="1070" dirty="0">
                <a:solidFill>
                  <a:srgbClr val="213547"/>
                </a:solidFill>
              </a:rPr>
              <a:t>Hugging Face — tarekmasryo • CC BY 4.0</a:t>
            </a:r>
            <a:endParaRPr lang="en-US" sz="1070" dirty="0"/>
          </a:p>
        </p:txBody>
      </p:sp>
      <p:sp>
        <p:nvSpPr>
          <p:cNvPr id="23" name="Shape 21"/>
          <p:cNvSpPr/>
          <p:nvPr/>
        </p:nvSpPr>
        <p:spPr>
          <a:xfrm>
            <a:off x="4343400" y="2578608"/>
            <a:ext cx="3493008" cy="1078992"/>
          </a:xfrm>
          <a:prstGeom prst="roundRect">
            <a:avLst>
              <a:gd name="adj" fmla="val 6780"/>
            </a:avLst>
          </a:prstGeom>
          <a:solidFill>
            <a:srgbClr val="FFFFFF"/>
          </a:solidFill>
          <a:ln w="12700">
            <a:solidFill>
              <a:srgbClr val="D6E4F0"/>
            </a:solidFill>
            <a:prstDash val="solid"/>
          </a:ln>
        </p:spPr>
      </p:sp>
      <p:sp>
        <p:nvSpPr>
          <p:cNvPr id="24" name="Shape 22"/>
          <p:cNvSpPr/>
          <p:nvPr/>
        </p:nvSpPr>
        <p:spPr>
          <a:xfrm>
            <a:off x="4343400" y="2578608"/>
            <a:ext cx="64008" cy="1078992"/>
          </a:xfrm>
          <a:prstGeom prst="rect">
            <a:avLst/>
          </a:prstGeom>
          <a:solidFill>
            <a:srgbClr val="1D63D6"/>
          </a:solidFill>
          <a:ln w="12700">
            <a:solidFill>
              <a:srgbClr val="1D63D6"/>
            </a:solidFill>
            <a:prstDash val="solid"/>
          </a:ln>
        </p:spPr>
      </p:sp>
      <p:sp>
        <p:nvSpPr>
          <p:cNvPr id="25" name="Text 23"/>
          <p:cNvSpPr/>
          <p:nvPr/>
        </p:nvSpPr>
        <p:spPr>
          <a:xfrm>
            <a:off x="4507992" y="2724912"/>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Synthetic Chest X-ray</a:t>
            </a:r>
            <a:endParaRPr lang="en-US" sz="1350" dirty="0"/>
          </a:p>
        </p:txBody>
      </p:sp>
      <p:sp>
        <p:nvSpPr>
          <p:cNvPr id="26" name="Text 24"/>
          <p:cNvSpPr/>
          <p:nvPr/>
        </p:nvSpPr>
        <p:spPr>
          <a:xfrm>
            <a:off x="4507992" y="3044952"/>
            <a:ext cx="3172968" cy="512064"/>
          </a:xfrm>
          <a:prstGeom prst="rect">
            <a:avLst/>
          </a:prstGeom>
          <a:noFill/>
          <a:ln/>
        </p:spPr>
        <p:txBody>
          <a:bodyPr wrap="square" lIns="254" tIns="254" rIns="254" bIns="254" rtlCol="0" anchor="t">
            <a:normAutofit/>
          </a:bodyPr>
          <a:lstStyle/>
          <a:p>
            <a:pPr indent="0" marL="0">
              <a:buNone/>
            </a:pPr>
            <a:r>
              <a:rPr lang="en-US" sz="1070" dirty="0">
                <a:solidFill>
                  <a:srgbClr val="213547"/>
                </a:solidFill>
              </a:rPr>
              <a:t>Hugging Face — chimbiwide • CC BY 4.0</a:t>
            </a:r>
            <a:endParaRPr lang="en-US" sz="1070" dirty="0"/>
          </a:p>
        </p:txBody>
      </p:sp>
      <p:sp>
        <p:nvSpPr>
          <p:cNvPr id="27" name="Shape 25"/>
          <p:cNvSpPr/>
          <p:nvPr/>
        </p:nvSpPr>
        <p:spPr>
          <a:xfrm>
            <a:off x="4343400" y="3831336"/>
            <a:ext cx="3493008" cy="1078992"/>
          </a:xfrm>
          <a:prstGeom prst="roundRect">
            <a:avLst>
              <a:gd name="adj" fmla="val 6780"/>
            </a:avLst>
          </a:prstGeom>
          <a:solidFill>
            <a:srgbClr val="FFFFFF"/>
          </a:solidFill>
          <a:ln w="12700">
            <a:solidFill>
              <a:srgbClr val="D6E4F0"/>
            </a:solidFill>
            <a:prstDash val="solid"/>
          </a:ln>
        </p:spPr>
      </p:sp>
      <p:sp>
        <p:nvSpPr>
          <p:cNvPr id="28" name="Shape 26"/>
          <p:cNvSpPr/>
          <p:nvPr/>
        </p:nvSpPr>
        <p:spPr>
          <a:xfrm>
            <a:off x="4343400" y="3831336"/>
            <a:ext cx="64008" cy="1078992"/>
          </a:xfrm>
          <a:prstGeom prst="rect">
            <a:avLst/>
          </a:prstGeom>
          <a:solidFill>
            <a:srgbClr val="28A6D9"/>
          </a:solidFill>
          <a:ln w="12700">
            <a:solidFill>
              <a:srgbClr val="28A6D9"/>
            </a:solidFill>
            <a:prstDash val="solid"/>
          </a:ln>
        </p:spPr>
      </p:sp>
      <p:sp>
        <p:nvSpPr>
          <p:cNvPr id="29" name="Text 27"/>
          <p:cNvSpPr/>
          <p:nvPr/>
        </p:nvSpPr>
        <p:spPr>
          <a:xfrm>
            <a:off x="4507992" y="3977640"/>
            <a:ext cx="3172968" cy="237744"/>
          </a:xfrm>
          <a:prstGeom prst="rect">
            <a:avLst/>
          </a:prstGeom>
          <a:noFill/>
          <a:ln/>
        </p:spPr>
        <p:txBody>
          <a:bodyPr wrap="square" lIns="0" tIns="0" rIns="0" bIns="0" rtlCol="0" anchor="ctr"/>
          <a:lstStyle/>
          <a:p>
            <a:pPr indent="0" marL="0">
              <a:buNone/>
            </a:pPr>
            <a:r>
              <a:rPr lang="en-US" sz="1350" b="1" dirty="0">
                <a:solidFill>
                  <a:srgbClr val="14324A"/>
                </a:solidFill>
              </a:rPr>
              <a:t>Synthetic Medical Notes for NER</a:t>
            </a:r>
            <a:endParaRPr lang="en-US" sz="1350" dirty="0"/>
          </a:p>
        </p:txBody>
      </p:sp>
      <p:sp>
        <p:nvSpPr>
          <p:cNvPr id="30" name="Text 28"/>
          <p:cNvSpPr/>
          <p:nvPr/>
        </p:nvSpPr>
        <p:spPr>
          <a:xfrm>
            <a:off x="4507992" y="4297680"/>
            <a:ext cx="3172968" cy="512064"/>
          </a:xfrm>
          <a:prstGeom prst="rect">
            <a:avLst/>
          </a:prstGeom>
          <a:noFill/>
          <a:ln/>
        </p:spPr>
        <p:txBody>
          <a:bodyPr wrap="square" lIns="254" tIns="254" rIns="254" bIns="254" rtlCol="0" anchor="t">
            <a:normAutofit/>
          </a:bodyPr>
          <a:lstStyle/>
          <a:p>
            <a:pPr indent="0" marL="0">
              <a:buNone/>
            </a:pPr>
            <a:r>
              <a:rPr lang="en-US" sz="1070" dirty="0">
                <a:solidFill>
                  <a:srgbClr val="213547"/>
                </a:solidFill>
              </a:rPr>
              <a:t>Hugging Face — E3-JSI • MIT</a:t>
            </a:r>
            <a:endParaRPr lang="en-US" sz="1070" dirty="0"/>
          </a:p>
        </p:txBody>
      </p:sp>
      <p:sp>
        <p:nvSpPr>
          <p:cNvPr id="31" name="Shape 29"/>
          <p:cNvSpPr/>
          <p:nvPr/>
        </p:nvSpPr>
        <p:spPr>
          <a:xfrm>
            <a:off x="8119872" y="1325880"/>
            <a:ext cx="3511296" cy="1828800"/>
          </a:xfrm>
          <a:prstGeom prst="roundRect">
            <a:avLst>
              <a:gd name="adj" fmla="val 4000"/>
            </a:avLst>
          </a:prstGeom>
          <a:solidFill>
            <a:srgbClr val="FFFFFF"/>
          </a:solidFill>
          <a:ln w="12700">
            <a:solidFill>
              <a:srgbClr val="D6E4F0"/>
            </a:solidFill>
            <a:prstDash val="solid"/>
          </a:ln>
        </p:spPr>
      </p:sp>
      <p:sp>
        <p:nvSpPr>
          <p:cNvPr id="32" name="Shape 30"/>
          <p:cNvSpPr/>
          <p:nvPr/>
        </p:nvSpPr>
        <p:spPr>
          <a:xfrm>
            <a:off x="8119872" y="1325880"/>
            <a:ext cx="64008" cy="1828800"/>
          </a:xfrm>
          <a:prstGeom prst="rect">
            <a:avLst/>
          </a:prstGeom>
          <a:solidFill>
            <a:srgbClr val="1D63D6"/>
          </a:solidFill>
          <a:ln w="12700">
            <a:solidFill>
              <a:srgbClr val="1D63D6"/>
            </a:solidFill>
            <a:prstDash val="solid"/>
          </a:ln>
        </p:spPr>
      </p:sp>
      <p:sp>
        <p:nvSpPr>
          <p:cNvPr id="33" name="Text 31"/>
          <p:cNvSpPr/>
          <p:nvPr/>
        </p:nvSpPr>
        <p:spPr>
          <a:xfrm>
            <a:off x="8284464" y="1472184"/>
            <a:ext cx="3191256" cy="237744"/>
          </a:xfrm>
          <a:prstGeom prst="rect">
            <a:avLst/>
          </a:prstGeom>
          <a:noFill/>
          <a:ln/>
        </p:spPr>
        <p:txBody>
          <a:bodyPr wrap="square" lIns="0" tIns="0" rIns="0" bIns="0" rtlCol="0" anchor="ctr"/>
          <a:lstStyle/>
          <a:p>
            <a:pPr indent="0" marL="0">
              <a:buNone/>
            </a:pPr>
            <a:r>
              <a:rPr lang="en-US" sz="1350" b="1" dirty="0">
                <a:solidFill>
                  <a:srgbClr val="14324A"/>
                </a:solidFill>
              </a:rPr>
              <a:t>RAG knowledge sources</a:t>
            </a:r>
            <a:endParaRPr lang="en-US" sz="1350" dirty="0"/>
          </a:p>
        </p:txBody>
      </p:sp>
      <p:sp>
        <p:nvSpPr>
          <p:cNvPr id="34" name="Text 32"/>
          <p:cNvSpPr/>
          <p:nvPr/>
        </p:nvSpPr>
        <p:spPr>
          <a:xfrm>
            <a:off x="8284464" y="1792224"/>
            <a:ext cx="3191256" cy="1261872"/>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8 curated public medical-information sources from WHO, WHO India and MedlinePlus. These are knowledge sources, not project-owned datasets.</a:t>
            </a:r>
            <a:endParaRPr lang="en-US" sz="1100" dirty="0"/>
          </a:p>
        </p:txBody>
      </p:sp>
      <p:sp>
        <p:nvSpPr>
          <p:cNvPr id="35" name="Shape 33"/>
          <p:cNvSpPr/>
          <p:nvPr/>
        </p:nvSpPr>
        <p:spPr>
          <a:xfrm>
            <a:off x="8119872" y="3364992"/>
            <a:ext cx="3511296" cy="1920240"/>
          </a:xfrm>
          <a:prstGeom prst="roundRect">
            <a:avLst>
              <a:gd name="adj" fmla="val 3810"/>
            </a:avLst>
          </a:prstGeom>
          <a:solidFill>
            <a:srgbClr val="FFFFFF"/>
          </a:solidFill>
          <a:ln w="12700">
            <a:solidFill>
              <a:srgbClr val="D6E4F0"/>
            </a:solidFill>
            <a:prstDash val="solid"/>
          </a:ln>
        </p:spPr>
      </p:sp>
      <p:sp>
        <p:nvSpPr>
          <p:cNvPr id="36" name="Shape 34"/>
          <p:cNvSpPr/>
          <p:nvPr/>
        </p:nvSpPr>
        <p:spPr>
          <a:xfrm>
            <a:off x="8119872" y="3364992"/>
            <a:ext cx="64008" cy="1920240"/>
          </a:xfrm>
          <a:prstGeom prst="rect">
            <a:avLst/>
          </a:prstGeom>
          <a:solidFill>
            <a:srgbClr val="28A6D9"/>
          </a:solidFill>
          <a:ln w="12700">
            <a:solidFill>
              <a:srgbClr val="28A6D9"/>
            </a:solidFill>
            <a:prstDash val="solid"/>
          </a:ln>
        </p:spPr>
      </p:sp>
      <p:sp>
        <p:nvSpPr>
          <p:cNvPr id="37" name="Text 35"/>
          <p:cNvSpPr/>
          <p:nvPr/>
        </p:nvSpPr>
        <p:spPr>
          <a:xfrm>
            <a:off x="8284464" y="3511296"/>
            <a:ext cx="3191256" cy="237744"/>
          </a:xfrm>
          <a:prstGeom prst="rect">
            <a:avLst/>
          </a:prstGeom>
          <a:noFill/>
          <a:ln/>
        </p:spPr>
        <p:txBody>
          <a:bodyPr wrap="square" lIns="0" tIns="0" rIns="0" bIns="0" rtlCol="0" anchor="ctr"/>
          <a:lstStyle/>
          <a:p>
            <a:pPr indent="0" marL="0">
              <a:buNone/>
            </a:pPr>
            <a:r>
              <a:rPr lang="en-US" sz="1350" b="1" dirty="0">
                <a:solidFill>
                  <a:srgbClr val="14324A"/>
                </a:solidFill>
              </a:rPr>
              <a:t>Responsible-use boundaries</a:t>
            </a:r>
            <a:endParaRPr lang="en-US" sz="1350" dirty="0"/>
          </a:p>
        </p:txBody>
      </p:sp>
      <p:sp>
        <p:nvSpPr>
          <p:cNvPr id="38" name="Text 36"/>
          <p:cNvSpPr/>
          <p:nvPr/>
        </p:nvSpPr>
        <p:spPr>
          <a:xfrm>
            <a:off x="8284464" y="3831336"/>
            <a:ext cx="3191256" cy="1353312"/>
          </a:xfrm>
          <a:prstGeom prst="rect">
            <a:avLst/>
          </a:prstGeom>
          <a:noFill/>
          <a:ln/>
        </p:spPr>
        <p:txBody>
          <a:bodyPr wrap="square" lIns="254" tIns="254" rIns="254" bIns="254" rtlCol="0" anchor="t">
            <a:normAutofit/>
          </a:bodyPr>
          <a:lstStyle/>
          <a:p>
            <a:pPr indent="0" marL="0">
              <a:buNone/>
            </a:pPr>
            <a:r>
              <a:rPr lang="en-US" sz="1020" dirty="0">
                <a:solidFill>
                  <a:srgbClr val="213547"/>
                </a:solidFill>
              </a:rPr>
              <a:t>• Public / synthetic data</a:t>
            </a:r>
            <a:endParaRPr lang="en-US" sz="1020" dirty="0"/>
          </a:p>
          <a:p>
            <a:pPr indent="0" marL="0">
              <a:buNone/>
            </a:pPr>
            <a:r>
              <a:rPr lang="en-US" sz="1020" dirty="0">
                <a:solidFill>
                  <a:srgbClr val="213547"/>
                </a:solidFill>
              </a:rPr>
              <a:t>• No claim of clinical validation</a:t>
            </a:r>
            <a:endParaRPr lang="en-US" sz="1020" dirty="0"/>
          </a:p>
          <a:p>
            <a:pPr indent="0" marL="0">
              <a:buNone/>
            </a:pPr>
            <a:r>
              <a:rPr lang="en-US" sz="1020" dirty="0">
                <a:solidFill>
                  <a:srgbClr val="213547"/>
                </a:solidFill>
              </a:rPr>
              <a:t>• Exact licenses should never be guessed</a:t>
            </a:r>
            <a:endParaRPr lang="en-US" sz="1020" dirty="0"/>
          </a:p>
          <a:p>
            <a:pPr indent="0" marL="0">
              <a:buNone/>
            </a:pPr>
            <a:r>
              <a:rPr lang="en-US" sz="1020" dirty="0">
                <a:solidFill>
                  <a:srgbClr val="213547"/>
                </a:solidFill>
              </a:rPr>
              <a:t>• Model outputs are decision-support demonstrations</a:t>
            </a:r>
            <a:endParaRPr lang="en-US" sz="1020" dirty="0"/>
          </a:p>
          <a:p>
            <a:pPr indent="0" marL="0">
              <a:buNone/>
            </a:pPr>
            <a:r>
              <a:rPr lang="en-US" sz="1020" dirty="0">
                <a:solidFill>
                  <a:srgbClr val="213547"/>
                </a:solidFill>
              </a:rPr>
              <a:t>• Real-world deployment would require validation, governance, security and human oversight</a:t>
            </a:r>
            <a:endParaRPr lang="en-US" sz="102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Engineering Implementation &amp; Deployment</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Turning model experiments into a reusable application stack</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ENGINEERING</a:t>
            </a:r>
            <a:endParaRPr lang="en-US" sz="850" dirty="0"/>
          </a:p>
        </p:txBody>
      </p:sp>
      <p:sp>
        <p:nvSpPr>
          <p:cNvPr id="7" name="Shape 5"/>
          <p:cNvSpPr/>
          <p:nvPr/>
        </p:nvSpPr>
        <p:spPr>
          <a:xfrm>
            <a:off x="566928" y="1417320"/>
            <a:ext cx="1600200" cy="640080"/>
          </a:xfrm>
          <a:prstGeom prst="roundRect">
            <a:avLst>
              <a:gd name="adj" fmla="val 8571"/>
            </a:avLst>
          </a:prstGeom>
          <a:solidFill>
            <a:srgbClr val="EAF3FA"/>
          </a:solidFill>
          <a:ln w="12700">
            <a:solidFill>
              <a:srgbClr val="28A6D9"/>
            </a:solidFill>
            <a:prstDash val="solid"/>
          </a:ln>
        </p:spPr>
      </p:sp>
      <p:sp>
        <p:nvSpPr>
          <p:cNvPr id="8" name="Text 6"/>
          <p:cNvSpPr/>
          <p:nvPr/>
        </p:nvSpPr>
        <p:spPr>
          <a:xfrm>
            <a:off x="640080" y="1508760"/>
            <a:ext cx="1453896" cy="484632"/>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Streamlit UI</a:t>
            </a:r>
            <a:endParaRPr lang="en-US" sz="1100" dirty="0"/>
          </a:p>
        </p:txBody>
      </p:sp>
      <p:sp>
        <p:nvSpPr>
          <p:cNvPr id="9" name="Shape 7"/>
          <p:cNvSpPr/>
          <p:nvPr/>
        </p:nvSpPr>
        <p:spPr>
          <a:xfrm>
            <a:off x="2468880" y="1417320"/>
            <a:ext cx="1417320" cy="640080"/>
          </a:xfrm>
          <a:prstGeom prst="roundRect">
            <a:avLst>
              <a:gd name="adj" fmla="val 8571"/>
            </a:avLst>
          </a:prstGeom>
          <a:solidFill>
            <a:srgbClr val="FFFFFF"/>
          </a:solidFill>
          <a:ln w="12700">
            <a:solidFill>
              <a:srgbClr val="1D63D6"/>
            </a:solidFill>
            <a:prstDash val="solid"/>
          </a:ln>
        </p:spPr>
      </p:sp>
      <p:sp>
        <p:nvSpPr>
          <p:cNvPr id="10" name="Text 8"/>
          <p:cNvSpPr/>
          <p:nvPr/>
        </p:nvSpPr>
        <p:spPr>
          <a:xfrm>
            <a:off x="2542032" y="1508760"/>
            <a:ext cx="1271016" cy="484632"/>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FastAPI</a:t>
            </a:r>
            <a:endParaRPr lang="en-US" sz="1100" dirty="0"/>
          </a:p>
        </p:txBody>
      </p:sp>
      <p:sp>
        <p:nvSpPr>
          <p:cNvPr id="11" name="Shape 9"/>
          <p:cNvSpPr/>
          <p:nvPr/>
        </p:nvSpPr>
        <p:spPr>
          <a:xfrm>
            <a:off x="4187952" y="1417320"/>
            <a:ext cx="1783080" cy="640080"/>
          </a:xfrm>
          <a:prstGeom prst="roundRect">
            <a:avLst>
              <a:gd name="adj" fmla="val 8571"/>
            </a:avLst>
          </a:prstGeom>
          <a:solidFill>
            <a:srgbClr val="FFFFFF"/>
          </a:solidFill>
          <a:ln w="12700">
            <a:solidFill>
              <a:srgbClr val="1BAA9A"/>
            </a:solidFill>
            <a:prstDash val="solid"/>
          </a:ln>
        </p:spPr>
      </p:sp>
      <p:sp>
        <p:nvSpPr>
          <p:cNvPr id="12" name="Text 10"/>
          <p:cNvSpPr/>
          <p:nvPr/>
        </p:nvSpPr>
        <p:spPr>
          <a:xfrm>
            <a:off x="4261104" y="1508760"/>
            <a:ext cx="1636776" cy="484632"/>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Agent / Adapters</a:t>
            </a:r>
            <a:endParaRPr lang="en-US" sz="1070" dirty="0"/>
          </a:p>
        </p:txBody>
      </p:sp>
      <p:sp>
        <p:nvSpPr>
          <p:cNvPr id="13" name="Shape 11"/>
          <p:cNvSpPr/>
          <p:nvPr/>
        </p:nvSpPr>
        <p:spPr>
          <a:xfrm>
            <a:off x="6263640" y="1417320"/>
            <a:ext cx="1645920" cy="640080"/>
          </a:xfrm>
          <a:prstGeom prst="roundRect">
            <a:avLst>
              <a:gd name="adj" fmla="val 8571"/>
            </a:avLst>
          </a:prstGeom>
          <a:solidFill>
            <a:srgbClr val="FFFFFF"/>
          </a:solidFill>
          <a:ln w="12700">
            <a:solidFill>
              <a:srgbClr val="D6E4F0"/>
            </a:solidFill>
            <a:prstDash val="solid"/>
          </a:ln>
        </p:spPr>
      </p:sp>
      <p:sp>
        <p:nvSpPr>
          <p:cNvPr id="14" name="Text 12"/>
          <p:cNvSpPr/>
          <p:nvPr/>
        </p:nvSpPr>
        <p:spPr>
          <a:xfrm>
            <a:off x="6336792" y="1508760"/>
            <a:ext cx="1499616" cy="484632"/>
          </a:xfrm>
          <a:prstGeom prst="rect">
            <a:avLst/>
          </a:prstGeom>
          <a:noFill/>
          <a:ln/>
        </p:spPr>
        <p:txBody>
          <a:bodyPr wrap="square" lIns="127" tIns="127" rIns="127" bIns="127" rtlCol="0" anchor="ctr">
            <a:normAutofit/>
          </a:bodyPr>
          <a:lstStyle/>
          <a:p>
            <a:pPr algn="ctr" indent="0" marL="0">
              <a:buNone/>
            </a:pPr>
            <a:r>
              <a:rPr lang="en-US" sz="1070" b="1" dirty="0">
                <a:solidFill>
                  <a:srgbClr val="14324A"/>
                </a:solidFill>
              </a:rPr>
              <a:t>Models / RAG</a:t>
            </a:r>
            <a:endParaRPr lang="en-US" sz="1070" dirty="0"/>
          </a:p>
        </p:txBody>
      </p:sp>
      <p:sp>
        <p:nvSpPr>
          <p:cNvPr id="15" name="Shape 13"/>
          <p:cNvSpPr/>
          <p:nvPr/>
        </p:nvSpPr>
        <p:spPr>
          <a:xfrm>
            <a:off x="8211312" y="1417320"/>
            <a:ext cx="1417320" cy="640080"/>
          </a:xfrm>
          <a:prstGeom prst="roundRect">
            <a:avLst>
              <a:gd name="adj" fmla="val 8571"/>
            </a:avLst>
          </a:prstGeom>
          <a:solidFill>
            <a:srgbClr val="FFFFFF"/>
          </a:solidFill>
          <a:ln w="12700">
            <a:solidFill>
              <a:srgbClr val="28A6D9"/>
            </a:solidFill>
            <a:prstDash val="solid"/>
          </a:ln>
        </p:spPr>
      </p:sp>
      <p:sp>
        <p:nvSpPr>
          <p:cNvPr id="16" name="Text 14"/>
          <p:cNvSpPr/>
          <p:nvPr/>
        </p:nvSpPr>
        <p:spPr>
          <a:xfrm>
            <a:off x="8284464" y="1508760"/>
            <a:ext cx="1271016" cy="484632"/>
          </a:xfrm>
          <a:prstGeom prst="rect">
            <a:avLst/>
          </a:prstGeom>
          <a:noFill/>
          <a:ln/>
        </p:spPr>
        <p:txBody>
          <a:bodyPr wrap="square" lIns="127" tIns="127" rIns="127" bIns="127" rtlCol="0" anchor="ctr">
            <a:normAutofit/>
          </a:bodyPr>
          <a:lstStyle/>
          <a:p>
            <a:pPr algn="ctr" indent="0" marL="0">
              <a:buNone/>
            </a:pPr>
            <a:r>
              <a:rPr lang="en-US" sz="1100" b="1" dirty="0">
                <a:solidFill>
                  <a:srgbClr val="14324A"/>
                </a:solidFill>
              </a:rPr>
              <a:t>Docker</a:t>
            </a:r>
            <a:endParaRPr lang="en-US" sz="1100" dirty="0"/>
          </a:p>
        </p:txBody>
      </p:sp>
      <p:sp>
        <p:nvSpPr>
          <p:cNvPr id="17" name="Shape 15"/>
          <p:cNvSpPr/>
          <p:nvPr/>
        </p:nvSpPr>
        <p:spPr>
          <a:xfrm>
            <a:off x="9921240" y="1417320"/>
            <a:ext cx="1700784" cy="640080"/>
          </a:xfrm>
          <a:prstGeom prst="roundRect">
            <a:avLst>
              <a:gd name="adj" fmla="val 8571"/>
            </a:avLst>
          </a:prstGeom>
          <a:solidFill>
            <a:srgbClr val="FFFFFF"/>
          </a:solidFill>
          <a:ln w="12700">
            <a:solidFill>
              <a:srgbClr val="1D63D6"/>
            </a:solidFill>
            <a:prstDash val="solid"/>
          </a:ln>
        </p:spPr>
      </p:sp>
      <p:sp>
        <p:nvSpPr>
          <p:cNvPr id="18" name="Text 16"/>
          <p:cNvSpPr/>
          <p:nvPr/>
        </p:nvSpPr>
        <p:spPr>
          <a:xfrm>
            <a:off x="9994392" y="1508760"/>
            <a:ext cx="1554480" cy="484632"/>
          </a:xfrm>
          <a:prstGeom prst="rect">
            <a:avLst/>
          </a:prstGeom>
          <a:noFill/>
          <a:ln/>
        </p:spPr>
        <p:txBody>
          <a:bodyPr wrap="square" lIns="127" tIns="127" rIns="127" bIns="127" rtlCol="0" anchor="ctr">
            <a:normAutofit/>
          </a:bodyPr>
          <a:lstStyle/>
          <a:p>
            <a:pPr algn="ctr" indent="0" marL="0">
              <a:buNone/>
            </a:pPr>
            <a:r>
              <a:rPr lang="en-US" sz="1040" b="1" dirty="0">
                <a:solidFill>
                  <a:srgbClr val="14324A"/>
                </a:solidFill>
              </a:rPr>
              <a:t>GitHub Actions</a:t>
            </a:r>
            <a:endParaRPr lang="en-US" sz="1040" dirty="0"/>
          </a:p>
        </p:txBody>
      </p:sp>
      <p:sp>
        <p:nvSpPr>
          <p:cNvPr id="19" name="Shape 17"/>
          <p:cNvSpPr/>
          <p:nvPr/>
        </p:nvSpPr>
        <p:spPr>
          <a:xfrm>
            <a:off x="2176272" y="1737360"/>
            <a:ext cx="246888" cy="0"/>
          </a:xfrm>
          <a:prstGeom prst="line">
            <a:avLst/>
          </a:prstGeom>
          <a:noFill/>
          <a:ln w="27940">
            <a:solidFill>
              <a:srgbClr val="D6E4F0"/>
            </a:solidFill>
            <a:prstDash val="solid"/>
            <a:headEnd type="none"/>
            <a:tailEnd type="triangle"/>
          </a:ln>
        </p:spPr>
      </p:sp>
      <p:sp>
        <p:nvSpPr>
          <p:cNvPr id="20" name="Shape 18"/>
          <p:cNvSpPr/>
          <p:nvPr/>
        </p:nvSpPr>
        <p:spPr>
          <a:xfrm>
            <a:off x="3886200" y="1737360"/>
            <a:ext cx="-45720" cy="0"/>
          </a:xfrm>
          <a:prstGeom prst="line">
            <a:avLst/>
          </a:prstGeom>
          <a:noFill/>
          <a:ln w="27940">
            <a:solidFill>
              <a:srgbClr val="D6E4F0"/>
            </a:solidFill>
            <a:prstDash val="solid"/>
            <a:headEnd type="none"/>
            <a:tailEnd type="triangle"/>
          </a:ln>
        </p:spPr>
      </p:sp>
      <p:sp>
        <p:nvSpPr>
          <p:cNvPr id="21" name="Shape 19"/>
          <p:cNvSpPr/>
          <p:nvPr/>
        </p:nvSpPr>
        <p:spPr>
          <a:xfrm>
            <a:off x="6044184" y="1737360"/>
            <a:ext cx="155448" cy="0"/>
          </a:xfrm>
          <a:prstGeom prst="line">
            <a:avLst/>
          </a:prstGeom>
          <a:noFill/>
          <a:ln w="27940">
            <a:solidFill>
              <a:srgbClr val="D6E4F0"/>
            </a:solidFill>
            <a:prstDash val="solid"/>
            <a:headEnd type="none"/>
            <a:tailEnd type="triangle"/>
          </a:ln>
        </p:spPr>
      </p:sp>
      <p:sp>
        <p:nvSpPr>
          <p:cNvPr id="22" name="Shape 20"/>
          <p:cNvSpPr/>
          <p:nvPr/>
        </p:nvSpPr>
        <p:spPr>
          <a:xfrm>
            <a:off x="8001000" y="1737360"/>
            <a:ext cx="146304" cy="0"/>
          </a:xfrm>
          <a:prstGeom prst="line">
            <a:avLst/>
          </a:prstGeom>
          <a:noFill/>
          <a:ln w="27940">
            <a:solidFill>
              <a:srgbClr val="D6E4F0"/>
            </a:solidFill>
            <a:prstDash val="solid"/>
            <a:headEnd type="none"/>
            <a:tailEnd type="triangle"/>
          </a:ln>
        </p:spPr>
      </p:sp>
      <p:sp>
        <p:nvSpPr>
          <p:cNvPr id="23" name="Shape 21"/>
          <p:cNvSpPr/>
          <p:nvPr/>
        </p:nvSpPr>
        <p:spPr>
          <a:xfrm>
            <a:off x="9683496" y="1737360"/>
            <a:ext cx="100584" cy="0"/>
          </a:xfrm>
          <a:prstGeom prst="line">
            <a:avLst/>
          </a:prstGeom>
          <a:noFill/>
          <a:ln w="27940">
            <a:solidFill>
              <a:srgbClr val="D6E4F0"/>
            </a:solidFill>
            <a:prstDash val="solid"/>
            <a:headEnd type="none"/>
            <a:tailEnd type="triangle"/>
          </a:ln>
        </p:spPr>
      </p:sp>
      <p:sp>
        <p:nvSpPr>
          <p:cNvPr id="24" name="Shape 22"/>
          <p:cNvSpPr/>
          <p:nvPr/>
        </p:nvSpPr>
        <p:spPr>
          <a:xfrm>
            <a:off x="566928" y="2450592"/>
            <a:ext cx="3429000" cy="1481328"/>
          </a:xfrm>
          <a:prstGeom prst="roundRect">
            <a:avLst>
              <a:gd name="adj" fmla="val 4938"/>
            </a:avLst>
          </a:prstGeom>
          <a:solidFill>
            <a:srgbClr val="FFFFFF"/>
          </a:solidFill>
          <a:ln w="12700">
            <a:solidFill>
              <a:srgbClr val="D6E4F0"/>
            </a:solidFill>
            <a:prstDash val="solid"/>
          </a:ln>
        </p:spPr>
      </p:sp>
      <p:sp>
        <p:nvSpPr>
          <p:cNvPr id="25" name="Shape 23"/>
          <p:cNvSpPr/>
          <p:nvPr/>
        </p:nvSpPr>
        <p:spPr>
          <a:xfrm>
            <a:off x="566928" y="2450592"/>
            <a:ext cx="64008" cy="1481328"/>
          </a:xfrm>
          <a:prstGeom prst="rect">
            <a:avLst/>
          </a:prstGeom>
          <a:solidFill>
            <a:srgbClr val="1D63D6"/>
          </a:solidFill>
          <a:ln w="12700">
            <a:solidFill>
              <a:srgbClr val="1D63D6"/>
            </a:solidFill>
            <a:prstDash val="solid"/>
          </a:ln>
        </p:spPr>
      </p:sp>
      <p:sp>
        <p:nvSpPr>
          <p:cNvPr id="26" name="Text 24"/>
          <p:cNvSpPr/>
          <p:nvPr/>
        </p:nvSpPr>
        <p:spPr>
          <a:xfrm>
            <a:off x="731520" y="2596896"/>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API layer</a:t>
            </a:r>
            <a:endParaRPr lang="en-US" sz="1350" dirty="0"/>
          </a:p>
        </p:txBody>
      </p:sp>
      <p:sp>
        <p:nvSpPr>
          <p:cNvPr id="27" name="Text 25"/>
          <p:cNvSpPr/>
          <p:nvPr/>
        </p:nvSpPr>
        <p:spPr>
          <a:xfrm>
            <a:off x="731520" y="2916936"/>
            <a:ext cx="3108960" cy="914400"/>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Stable REST contracts connect the Streamlit interface to healthcare AI services. Representative routes cover diabetes, X-ray, LOS, diagnosis, NER, sentiment and RAG.</a:t>
            </a:r>
            <a:endParaRPr lang="en-US" sz="1050" dirty="0"/>
          </a:p>
        </p:txBody>
      </p:sp>
      <p:sp>
        <p:nvSpPr>
          <p:cNvPr id="28" name="Shape 26"/>
          <p:cNvSpPr/>
          <p:nvPr/>
        </p:nvSpPr>
        <p:spPr>
          <a:xfrm>
            <a:off x="4361688" y="2450592"/>
            <a:ext cx="3429000" cy="1481328"/>
          </a:xfrm>
          <a:prstGeom prst="roundRect">
            <a:avLst>
              <a:gd name="adj" fmla="val 4938"/>
            </a:avLst>
          </a:prstGeom>
          <a:solidFill>
            <a:srgbClr val="FFFFFF"/>
          </a:solidFill>
          <a:ln w="12700">
            <a:solidFill>
              <a:srgbClr val="D6E4F0"/>
            </a:solidFill>
            <a:prstDash val="solid"/>
          </a:ln>
        </p:spPr>
      </p:sp>
      <p:sp>
        <p:nvSpPr>
          <p:cNvPr id="29" name="Shape 27"/>
          <p:cNvSpPr/>
          <p:nvPr/>
        </p:nvSpPr>
        <p:spPr>
          <a:xfrm>
            <a:off x="4361688" y="2450592"/>
            <a:ext cx="64008" cy="1481328"/>
          </a:xfrm>
          <a:prstGeom prst="rect">
            <a:avLst/>
          </a:prstGeom>
          <a:solidFill>
            <a:srgbClr val="1BAA9A"/>
          </a:solidFill>
          <a:ln w="12700">
            <a:solidFill>
              <a:srgbClr val="1BAA9A"/>
            </a:solidFill>
            <a:prstDash val="solid"/>
          </a:ln>
        </p:spPr>
      </p:sp>
      <p:sp>
        <p:nvSpPr>
          <p:cNvPr id="30" name="Text 28"/>
          <p:cNvSpPr/>
          <p:nvPr/>
        </p:nvSpPr>
        <p:spPr>
          <a:xfrm>
            <a:off x="4526280" y="2596896"/>
            <a:ext cx="3108960" cy="237744"/>
          </a:xfrm>
          <a:prstGeom prst="rect">
            <a:avLst/>
          </a:prstGeom>
          <a:noFill/>
          <a:ln/>
        </p:spPr>
        <p:txBody>
          <a:bodyPr wrap="square" lIns="0" tIns="0" rIns="0" bIns="0" rtlCol="0" anchor="ctr"/>
          <a:lstStyle/>
          <a:p>
            <a:pPr indent="0" marL="0">
              <a:buNone/>
            </a:pPr>
            <a:r>
              <a:rPr lang="en-US" sz="1350" b="1" dirty="0">
                <a:solidFill>
                  <a:srgbClr val="14324A"/>
                </a:solidFill>
              </a:rPr>
              <a:t>Testing / CI</a:t>
            </a:r>
            <a:endParaRPr lang="en-US" sz="1350" dirty="0"/>
          </a:p>
        </p:txBody>
      </p:sp>
      <p:sp>
        <p:nvSpPr>
          <p:cNvPr id="31" name="Text 29"/>
          <p:cNvSpPr/>
          <p:nvPr/>
        </p:nvSpPr>
        <p:spPr>
          <a:xfrm>
            <a:off x="4526280" y="2916936"/>
            <a:ext cx="3108960" cy="914400"/>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API tests live under test/test_api.py and are executed through the GitHub Actions CI workflow with required FastAPI dependencies.</a:t>
            </a:r>
            <a:endParaRPr lang="en-US" sz="1050" dirty="0"/>
          </a:p>
        </p:txBody>
      </p:sp>
      <p:sp>
        <p:nvSpPr>
          <p:cNvPr id="32" name="Shape 30"/>
          <p:cNvSpPr/>
          <p:nvPr/>
        </p:nvSpPr>
        <p:spPr>
          <a:xfrm>
            <a:off x="8156448" y="2450592"/>
            <a:ext cx="3465576" cy="1481328"/>
          </a:xfrm>
          <a:prstGeom prst="roundRect">
            <a:avLst>
              <a:gd name="adj" fmla="val 4938"/>
            </a:avLst>
          </a:prstGeom>
          <a:solidFill>
            <a:srgbClr val="FFFFFF"/>
          </a:solidFill>
          <a:ln w="12700">
            <a:solidFill>
              <a:srgbClr val="D6E4F0"/>
            </a:solidFill>
            <a:prstDash val="solid"/>
          </a:ln>
        </p:spPr>
      </p:sp>
      <p:sp>
        <p:nvSpPr>
          <p:cNvPr id="33" name="Shape 31"/>
          <p:cNvSpPr/>
          <p:nvPr/>
        </p:nvSpPr>
        <p:spPr>
          <a:xfrm>
            <a:off x="8156448" y="2450592"/>
            <a:ext cx="64008" cy="1481328"/>
          </a:xfrm>
          <a:prstGeom prst="rect">
            <a:avLst/>
          </a:prstGeom>
          <a:solidFill>
            <a:srgbClr val="28A6D9"/>
          </a:solidFill>
          <a:ln w="12700">
            <a:solidFill>
              <a:srgbClr val="28A6D9"/>
            </a:solidFill>
            <a:prstDash val="solid"/>
          </a:ln>
        </p:spPr>
      </p:sp>
      <p:sp>
        <p:nvSpPr>
          <p:cNvPr id="34" name="Text 32"/>
          <p:cNvSpPr/>
          <p:nvPr/>
        </p:nvSpPr>
        <p:spPr>
          <a:xfrm>
            <a:off x="8321040" y="2596896"/>
            <a:ext cx="3145536" cy="237744"/>
          </a:xfrm>
          <a:prstGeom prst="rect">
            <a:avLst/>
          </a:prstGeom>
          <a:noFill/>
          <a:ln/>
        </p:spPr>
        <p:txBody>
          <a:bodyPr wrap="square" lIns="0" tIns="0" rIns="0" bIns="0" rtlCol="0" anchor="ctr"/>
          <a:lstStyle/>
          <a:p>
            <a:pPr indent="0" marL="0">
              <a:buNone/>
            </a:pPr>
            <a:r>
              <a:rPr lang="en-US" sz="1350" b="1" dirty="0">
                <a:solidFill>
                  <a:srgbClr val="14324A"/>
                </a:solidFill>
              </a:rPr>
              <a:t>Deployment</a:t>
            </a:r>
            <a:endParaRPr lang="en-US" sz="1350" dirty="0"/>
          </a:p>
        </p:txBody>
      </p:sp>
      <p:sp>
        <p:nvSpPr>
          <p:cNvPr id="35" name="Text 33"/>
          <p:cNvSpPr/>
          <p:nvPr/>
        </p:nvSpPr>
        <p:spPr>
          <a:xfrm>
            <a:off x="8321040" y="2916936"/>
            <a:ext cx="3145536" cy="914400"/>
          </a:xfrm>
          <a:prstGeom prst="rect">
            <a:avLst/>
          </a:prstGeom>
          <a:noFill/>
          <a:ln/>
        </p:spPr>
        <p:txBody>
          <a:bodyPr wrap="square" lIns="254" tIns="254" rIns="254" bIns="254" rtlCol="0" anchor="t">
            <a:normAutofit/>
          </a:bodyPr>
          <a:lstStyle/>
          <a:p>
            <a:pPr indent="0" marL="0">
              <a:buNone/>
            </a:pPr>
            <a:r>
              <a:rPr lang="en-US" sz="1050" dirty="0">
                <a:solidFill>
                  <a:srgbClr val="213547"/>
                </a:solidFill>
              </a:rPr>
              <a:t>Docker deployment is provided under deployment/.</a:t>
            </a:r>
            <a:endParaRPr lang="en-US" sz="1050" dirty="0"/>
          </a:p>
          <a:p>
            <a:pPr indent="0" marL="0">
              <a:buNone/>
            </a:pPr>
            <a:r>
              <a:rPr lang="en-US" sz="1050" dirty="0">
                <a:solidFill>
                  <a:srgbClr val="213547"/>
                </a:solidFill>
              </a:rPr>
              <a:t>Streamlit: http://localhost:8501</a:t>
            </a:r>
            <a:endParaRPr lang="en-US" sz="1050" dirty="0"/>
          </a:p>
          <a:p>
            <a:pPr indent="0" marL="0">
              <a:buNone/>
            </a:pPr>
            <a:r>
              <a:rPr lang="en-US" sz="1050" dirty="0">
                <a:solidFill>
                  <a:srgbClr val="213547"/>
                </a:solidFill>
              </a:rPr>
              <a:t>FastAPI: http://localhost:8000</a:t>
            </a:r>
            <a:endParaRPr lang="en-US" sz="1050" dirty="0"/>
          </a:p>
        </p:txBody>
      </p:sp>
      <p:sp>
        <p:nvSpPr>
          <p:cNvPr id="36" name="Shape 34"/>
          <p:cNvSpPr/>
          <p:nvPr/>
        </p:nvSpPr>
        <p:spPr>
          <a:xfrm>
            <a:off x="566928" y="4233672"/>
            <a:ext cx="11045952" cy="1353312"/>
          </a:xfrm>
          <a:prstGeom prst="roundRect">
            <a:avLst>
              <a:gd name="adj" fmla="val 5405"/>
            </a:avLst>
          </a:prstGeom>
          <a:solidFill>
            <a:srgbClr val="EAF3FA"/>
          </a:solidFill>
          <a:ln w="12700">
            <a:solidFill>
              <a:srgbClr val="D6E4F0"/>
            </a:solidFill>
            <a:prstDash val="solid"/>
          </a:ln>
        </p:spPr>
      </p:sp>
      <p:sp>
        <p:nvSpPr>
          <p:cNvPr id="37" name="Shape 35"/>
          <p:cNvSpPr/>
          <p:nvPr/>
        </p:nvSpPr>
        <p:spPr>
          <a:xfrm>
            <a:off x="566928" y="4233672"/>
            <a:ext cx="64008" cy="1353312"/>
          </a:xfrm>
          <a:prstGeom prst="rect">
            <a:avLst/>
          </a:prstGeom>
          <a:solidFill>
            <a:srgbClr val="28A6D9"/>
          </a:solidFill>
          <a:ln w="12700">
            <a:solidFill>
              <a:srgbClr val="28A6D9"/>
            </a:solidFill>
            <a:prstDash val="solid"/>
          </a:ln>
        </p:spPr>
      </p:sp>
      <p:sp>
        <p:nvSpPr>
          <p:cNvPr id="38" name="Text 36"/>
          <p:cNvSpPr/>
          <p:nvPr/>
        </p:nvSpPr>
        <p:spPr>
          <a:xfrm>
            <a:off x="731520" y="4379976"/>
            <a:ext cx="10725912" cy="237744"/>
          </a:xfrm>
          <a:prstGeom prst="rect">
            <a:avLst/>
          </a:prstGeom>
          <a:noFill/>
          <a:ln/>
        </p:spPr>
        <p:txBody>
          <a:bodyPr wrap="square" lIns="0" tIns="0" rIns="0" bIns="0" rtlCol="0" anchor="ctr"/>
          <a:lstStyle/>
          <a:p>
            <a:pPr indent="0" marL="0">
              <a:buNone/>
            </a:pPr>
            <a:r>
              <a:rPr lang="en-US" sz="1350" b="1" dirty="0">
                <a:solidFill>
                  <a:srgbClr val="14324A"/>
                </a:solidFill>
              </a:rPr>
              <a:t>Reproducibility</a:t>
            </a:r>
            <a:endParaRPr lang="en-US" sz="1350" dirty="0"/>
          </a:p>
        </p:txBody>
      </p:sp>
      <p:sp>
        <p:nvSpPr>
          <p:cNvPr id="39" name="Text 37"/>
          <p:cNvSpPr/>
          <p:nvPr/>
        </p:nvSpPr>
        <p:spPr>
          <a:xfrm>
            <a:off x="731520" y="4700016"/>
            <a:ext cx="10725912" cy="786384"/>
          </a:xfrm>
          <a:prstGeom prst="rect">
            <a:avLst/>
          </a:prstGeom>
          <a:noFill/>
          <a:ln/>
        </p:spPr>
        <p:txBody>
          <a:bodyPr wrap="square" lIns="254" tIns="254" rIns="254" bIns="254" rtlCol="0" anchor="t">
            <a:normAutofit/>
          </a:bodyPr>
          <a:lstStyle/>
          <a:p>
            <a:pPr indent="0" marL="0">
              <a:buNone/>
            </a:pPr>
            <a:r>
              <a:rPr lang="en-US" sz="1110" dirty="0">
                <a:solidFill>
                  <a:srgbClr val="213547"/>
                </a:solidFill>
              </a:rPr>
              <a:t>Large datasets and model artifacts stay outside Git history. The project keeps source references, model evaluation artifacts and deployment configuration separate from the UI code.</a:t>
            </a:r>
            <a:endParaRPr lang="en-US" sz="111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Limitations &amp; Future Development</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What the current project demonstrates — and what it does not</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LIMITATIONS</a:t>
            </a:r>
            <a:endParaRPr lang="en-US" sz="850" dirty="0"/>
          </a:p>
        </p:txBody>
      </p:sp>
      <p:sp>
        <p:nvSpPr>
          <p:cNvPr id="7" name="Shape 5"/>
          <p:cNvSpPr/>
          <p:nvPr/>
        </p:nvSpPr>
        <p:spPr>
          <a:xfrm>
            <a:off x="566928" y="1325880"/>
            <a:ext cx="5303520" cy="2011680"/>
          </a:xfrm>
          <a:prstGeom prst="roundRect">
            <a:avLst>
              <a:gd name="adj" fmla="val 3636"/>
            </a:avLst>
          </a:prstGeom>
          <a:solidFill>
            <a:srgbClr val="FFFFFF"/>
          </a:solidFill>
          <a:ln w="12700">
            <a:solidFill>
              <a:srgbClr val="D6E4F0"/>
            </a:solidFill>
            <a:prstDash val="solid"/>
          </a:ln>
        </p:spPr>
      </p:sp>
      <p:sp>
        <p:nvSpPr>
          <p:cNvPr id="8" name="Shape 6"/>
          <p:cNvSpPr/>
          <p:nvPr/>
        </p:nvSpPr>
        <p:spPr>
          <a:xfrm>
            <a:off x="566928" y="1325880"/>
            <a:ext cx="64008" cy="2011680"/>
          </a:xfrm>
          <a:prstGeom prst="rect">
            <a:avLst/>
          </a:prstGeom>
          <a:solidFill>
            <a:srgbClr val="1D63D6"/>
          </a:solidFill>
          <a:ln w="12700">
            <a:solidFill>
              <a:srgbClr val="1D63D6"/>
            </a:solidFill>
            <a:prstDash val="solid"/>
          </a:ln>
        </p:spPr>
      </p:sp>
      <p:sp>
        <p:nvSpPr>
          <p:cNvPr id="9" name="Text 7"/>
          <p:cNvSpPr/>
          <p:nvPr/>
        </p:nvSpPr>
        <p:spPr>
          <a:xfrm>
            <a:off x="731520" y="1472184"/>
            <a:ext cx="4983480" cy="237744"/>
          </a:xfrm>
          <a:prstGeom prst="rect">
            <a:avLst/>
          </a:prstGeom>
          <a:noFill/>
          <a:ln/>
        </p:spPr>
        <p:txBody>
          <a:bodyPr wrap="square" lIns="0" tIns="0" rIns="0" bIns="0" rtlCol="0" anchor="ctr"/>
          <a:lstStyle/>
          <a:p>
            <a:pPr indent="0" marL="0">
              <a:buNone/>
            </a:pPr>
            <a:r>
              <a:rPr lang="en-US" sz="1350" b="1" dirty="0">
                <a:solidFill>
                  <a:srgbClr val="14324A"/>
                </a:solidFill>
              </a:rPr>
              <a:t>Current limitations</a:t>
            </a:r>
            <a:endParaRPr lang="en-US" sz="1350" dirty="0"/>
          </a:p>
        </p:txBody>
      </p:sp>
      <p:sp>
        <p:nvSpPr>
          <p:cNvPr id="10" name="Text 8"/>
          <p:cNvSpPr/>
          <p:nvPr/>
        </p:nvSpPr>
        <p:spPr>
          <a:xfrm>
            <a:off x="731520" y="1792224"/>
            <a:ext cx="4983480" cy="1444752"/>
          </a:xfrm>
          <a:prstGeom prst="rect">
            <a:avLst/>
          </a:prstGeom>
          <a:noFill/>
          <a:ln/>
        </p:spPr>
        <p:txBody>
          <a:bodyPr wrap="square" lIns="254" tIns="254" rIns="254" bIns="254" rtlCol="0" anchor="t">
            <a:normAutofit/>
          </a:bodyPr>
          <a:lstStyle/>
          <a:p>
            <a:pPr indent="0" marL="0">
              <a:buNone/>
            </a:pPr>
            <a:r>
              <a:rPr lang="en-US" sz="1100" dirty="0">
                <a:solidFill>
                  <a:srgbClr val="213547"/>
                </a:solidFill>
              </a:rPr>
              <a:t>• Public / synthetic datasets do not represent all real clinical populations</a:t>
            </a:r>
            <a:endParaRPr lang="en-US" sz="1100" dirty="0"/>
          </a:p>
          <a:p>
            <a:pPr indent="0" marL="0">
              <a:buNone/>
            </a:pPr>
            <a:r>
              <a:rPr lang="en-US" sz="1100" dirty="0">
                <a:solidFill>
                  <a:srgbClr val="213547"/>
                </a:solidFill>
              </a:rPr>
              <a:t>• Primary diagnosis remains affected by multiclass imbalance</a:t>
            </a:r>
            <a:endParaRPr lang="en-US" sz="1100" dirty="0"/>
          </a:p>
          <a:p>
            <a:pPr indent="0" marL="0">
              <a:buNone/>
            </a:pPr>
            <a:r>
              <a:rPr lang="en-US" sz="1100" dirty="0">
                <a:solidFill>
                  <a:srgbClr val="213547"/>
                </a:solidFill>
              </a:rPr>
              <a:t>• RNN/LSTM deterioration modelling requires further validation</a:t>
            </a:r>
            <a:endParaRPr lang="en-US" sz="1100" dirty="0"/>
          </a:p>
          <a:p>
            <a:pPr indent="0" marL="0">
              <a:buNone/>
            </a:pPr>
            <a:r>
              <a:rPr lang="en-US" sz="1100" dirty="0">
                <a:solidFill>
                  <a:srgbClr val="213547"/>
                </a:solidFill>
              </a:rPr>
              <a:t>• Sentiment evaluation uses a controlled dataset with limited unique feedback texts</a:t>
            </a:r>
            <a:endParaRPr lang="en-US" sz="1100" dirty="0"/>
          </a:p>
          <a:p>
            <a:pPr indent="0" marL="0">
              <a:buNone/>
            </a:pPr>
            <a:r>
              <a:rPr lang="en-US" sz="1100" dirty="0">
                <a:solidFill>
                  <a:srgbClr val="213547"/>
                </a:solidFill>
              </a:rPr>
              <a:t>• RAG quality depends on curated source coverage</a:t>
            </a:r>
            <a:endParaRPr lang="en-US" sz="1100" dirty="0"/>
          </a:p>
          <a:p>
            <a:pPr indent="0" marL="0">
              <a:buNone/>
            </a:pPr>
            <a:r>
              <a:rPr lang="en-US" sz="1100" dirty="0">
                <a:solidFill>
                  <a:srgbClr val="213547"/>
                </a:solidFill>
              </a:rPr>
              <a:t>• Translation scope is currently limited</a:t>
            </a:r>
            <a:endParaRPr lang="en-US" sz="1100" dirty="0"/>
          </a:p>
        </p:txBody>
      </p:sp>
      <p:sp>
        <p:nvSpPr>
          <p:cNvPr id="11" name="Shape 9"/>
          <p:cNvSpPr/>
          <p:nvPr/>
        </p:nvSpPr>
        <p:spPr>
          <a:xfrm>
            <a:off x="6172200" y="1325880"/>
            <a:ext cx="5440680" cy="2011680"/>
          </a:xfrm>
          <a:prstGeom prst="roundRect">
            <a:avLst>
              <a:gd name="adj" fmla="val 3636"/>
            </a:avLst>
          </a:prstGeom>
          <a:solidFill>
            <a:srgbClr val="EAF3FA"/>
          </a:solidFill>
          <a:ln w="12700">
            <a:solidFill>
              <a:srgbClr val="D6E4F0"/>
            </a:solidFill>
            <a:prstDash val="solid"/>
          </a:ln>
        </p:spPr>
      </p:sp>
      <p:sp>
        <p:nvSpPr>
          <p:cNvPr id="12" name="Shape 10"/>
          <p:cNvSpPr/>
          <p:nvPr/>
        </p:nvSpPr>
        <p:spPr>
          <a:xfrm>
            <a:off x="6172200" y="1325880"/>
            <a:ext cx="64008" cy="2011680"/>
          </a:xfrm>
          <a:prstGeom prst="rect">
            <a:avLst/>
          </a:prstGeom>
          <a:solidFill>
            <a:srgbClr val="28A6D9"/>
          </a:solidFill>
          <a:ln w="12700">
            <a:solidFill>
              <a:srgbClr val="28A6D9"/>
            </a:solidFill>
            <a:prstDash val="solid"/>
          </a:ln>
        </p:spPr>
      </p:sp>
      <p:sp>
        <p:nvSpPr>
          <p:cNvPr id="13" name="Text 11"/>
          <p:cNvSpPr/>
          <p:nvPr/>
        </p:nvSpPr>
        <p:spPr>
          <a:xfrm>
            <a:off x="6336792" y="1472184"/>
            <a:ext cx="5120640" cy="237744"/>
          </a:xfrm>
          <a:prstGeom prst="rect">
            <a:avLst/>
          </a:prstGeom>
          <a:noFill/>
          <a:ln/>
        </p:spPr>
        <p:txBody>
          <a:bodyPr wrap="square" lIns="0" tIns="0" rIns="0" bIns="0" rtlCol="0" anchor="ctr"/>
          <a:lstStyle/>
          <a:p>
            <a:pPr indent="0" marL="0">
              <a:buNone/>
            </a:pPr>
            <a:r>
              <a:rPr lang="en-US" sz="1350" b="1" dirty="0">
                <a:solidFill>
                  <a:srgbClr val="14324A"/>
                </a:solidFill>
              </a:rPr>
              <a:t>Responsible-use boundary</a:t>
            </a:r>
            <a:endParaRPr lang="en-US" sz="1350" dirty="0"/>
          </a:p>
        </p:txBody>
      </p:sp>
      <p:sp>
        <p:nvSpPr>
          <p:cNvPr id="14" name="Text 12"/>
          <p:cNvSpPr/>
          <p:nvPr/>
        </p:nvSpPr>
        <p:spPr>
          <a:xfrm>
            <a:off x="6336792" y="1792224"/>
            <a:ext cx="5120640" cy="144475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The platform is not clinically validated. The X-ray module and predictive outputs are portfolio / decision-support demonstrations and should not be presented as medical diagnosis or treatment.</a:t>
            </a:r>
            <a:endParaRPr lang="en-US" sz="1200" dirty="0"/>
          </a:p>
        </p:txBody>
      </p:sp>
      <p:sp>
        <p:nvSpPr>
          <p:cNvPr id="15" name="Shape 13"/>
          <p:cNvSpPr/>
          <p:nvPr/>
        </p:nvSpPr>
        <p:spPr>
          <a:xfrm>
            <a:off x="566928" y="3657600"/>
            <a:ext cx="5303520" cy="1783080"/>
          </a:xfrm>
          <a:prstGeom prst="roundRect">
            <a:avLst>
              <a:gd name="adj" fmla="val 4103"/>
            </a:avLst>
          </a:prstGeom>
          <a:solidFill>
            <a:srgbClr val="FFFFFF"/>
          </a:solidFill>
          <a:ln w="12700">
            <a:solidFill>
              <a:srgbClr val="D6E4F0"/>
            </a:solidFill>
            <a:prstDash val="solid"/>
          </a:ln>
        </p:spPr>
      </p:sp>
      <p:sp>
        <p:nvSpPr>
          <p:cNvPr id="16" name="Shape 14"/>
          <p:cNvSpPr/>
          <p:nvPr/>
        </p:nvSpPr>
        <p:spPr>
          <a:xfrm>
            <a:off x="566928" y="3657600"/>
            <a:ext cx="64008" cy="1783080"/>
          </a:xfrm>
          <a:prstGeom prst="rect">
            <a:avLst/>
          </a:prstGeom>
          <a:solidFill>
            <a:srgbClr val="1BAA9A"/>
          </a:solidFill>
          <a:ln w="12700">
            <a:solidFill>
              <a:srgbClr val="1BAA9A"/>
            </a:solidFill>
            <a:prstDash val="solid"/>
          </a:ln>
        </p:spPr>
      </p:sp>
      <p:sp>
        <p:nvSpPr>
          <p:cNvPr id="17" name="Text 15"/>
          <p:cNvSpPr/>
          <p:nvPr/>
        </p:nvSpPr>
        <p:spPr>
          <a:xfrm>
            <a:off x="731520" y="3803904"/>
            <a:ext cx="4983480" cy="237744"/>
          </a:xfrm>
          <a:prstGeom prst="rect">
            <a:avLst/>
          </a:prstGeom>
          <a:noFill/>
          <a:ln/>
        </p:spPr>
        <p:txBody>
          <a:bodyPr wrap="square" lIns="0" tIns="0" rIns="0" bIns="0" rtlCol="0" anchor="ctr"/>
          <a:lstStyle/>
          <a:p>
            <a:pPr indent="0" marL="0">
              <a:buNone/>
            </a:pPr>
            <a:r>
              <a:rPr lang="en-US" sz="1350" b="1" dirty="0">
                <a:solidFill>
                  <a:srgbClr val="14324A"/>
                </a:solidFill>
              </a:rPr>
              <a:t>Future development</a:t>
            </a:r>
            <a:endParaRPr lang="en-US" sz="1350" dirty="0"/>
          </a:p>
        </p:txBody>
      </p:sp>
      <p:sp>
        <p:nvSpPr>
          <p:cNvPr id="18" name="Text 16"/>
          <p:cNvSpPr/>
          <p:nvPr/>
        </p:nvSpPr>
        <p:spPr>
          <a:xfrm>
            <a:off x="731520" y="4123944"/>
            <a:ext cx="4983480" cy="1216152"/>
          </a:xfrm>
          <a:prstGeom prst="rect">
            <a:avLst/>
          </a:prstGeom>
          <a:noFill/>
          <a:ln/>
        </p:spPr>
        <p:txBody>
          <a:bodyPr wrap="square" lIns="254" tIns="254" rIns="254" bIns="254" rtlCol="0" anchor="t">
            <a:normAutofit/>
          </a:bodyPr>
          <a:lstStyle/>
          <a:p>
            <a:pPr indent="0" marL="0">
              <a:buNone/>
            </a:pPr>
            <a:r>
              <a:rPr lang="en-US" sz="1120" dirty="0">
                <a:solidFill>
                  <a:srgbClr val="213547"/>
                </a:solidFill>
              </a:rPr>
              <a:t>• Broader validation datasets</a:t>
            </a:r>
            <a:endParaRPr lang="en-US" sz="1120" dirty="0"/>
          </a:p>
          <a:p>
            <a:pPr indent="0" marL="0">
              <a:buNone/>
            </a:pPr>
            <a:r>
              <a:rPr lang="en-US" sz="1120" dirty="0">
                <a:solidFill>
                  <a:srgbClr val="213547"/>
                </a:solidFill>
              </a:rPr>
              <a:t>• Expanded multilingual translation</a:t>
            </a:r>
            <a:endParaRPr lang="en-US" sz="1120" dirty="0"/>
          </a:p>
          <a:p>
            <a:pPr indent="0" marL="0">
              <a:buNone/>
            </a:pPr>
            <a:r>
              <a:rPr lang="en-US" sz="1120" dirty="0">
                <a:solidFill>
                  <a:srgbClr val="213547"/>
                </a:solidFill>
              </a:rPr>
              <a:t>• Model cards and failure-mode analysis</a:t>
            </a:r>
            <a:endParaRPr lang="en-US" sz="1120" dirty="0"/>
          </a:p>
          <a:p>
            <a:pPr indent="0" marL="0">
              <a:buNone/>
            </a:pPr>
            <a:r>
              <a:rPr lang="en-US" sz="1120" dirty="0">
                <a:solidFill>
                  <a:srgbClr val="213547"/>
                </a:solidFill>
              </a:rPr>
              <a:t>• Stronger auditability and governance</a:t>
            </a:r>
            <a:endParaRPr lang="en-US" sz="1120" dirty="0"/>
          </a:p>
          <a:p>
            <a:pPr indent="0" marL="0">
              <a:buNone/>
            </a:pPr>
            <a:r>
              <a:rPr lang="en-US" sz="1120" dirty="0">
                <a:solidFill>
                  <a:srgbClr val="213547"/>
                </a:solidFill>
              </a:rPr>
              <a:t>• Human oversight for real-world deployment</a:t>
            </a:r>
            <a:endParaRPr lang="en-US" sz="1120" dirty="0"/>
          </a:p>
        </p:txBody>
      </p:sp>
      <p:sp>
        <p:nvSpPr>
          <p:cNvPr id="19" name="Shape 17"/>
          <p:cNvSpPr/>
          <p:nvPr/>
        </p:nvSpPr>
        <p:spPr>
          <a:xfrm>
            <a:off x="6172200" y="3657600"/>
            <a:ext cx="5440680" cy="1783080"/>
          </a:xfrm>
          <a:prstGeom prst="roundRect">
            <a:avLst>
              <a:gd name="adj" fmla="val 4103"/>
            </a:avLst>
          </a:prstGeom>
          <a:solidFill>
            <a:srgbClr val="FFFFFF"/>
          </a:solidFill>
          <a:ln w="12700">
            <a:solidFill>
              <a:srgbClr val="D6E4F0"/>
            </a:solidFill>
            <a:prstDash val="solid"/>
          </a:ln>
        </p:spPr>
      </p:sp>
      <p:sp>
        <p:nvSpPr>
          <p:cNvPr id="20" name="Shape 18"/>
          <p:cNvSpPr/>
          <p:nvPr/>
        </p:nvSpPr>
        <p:spPr>
          <a:xfrm>
            <a:off x="6172200" y="3657600"/>
            <a:ext cx="64008" cy="1783080"/>
          </a:xfrm>
          <a:prstGeom prst="rect">
            <a:avLst/>
          </a:prstGeom>
          <a:solidFill>
            <a:srgbClr val="1D63D6"/>
          </a:solidFill>
          <a:ln w="12700">
            <a:solidFill>
              <a:srgbClr val="1D63D6"/>
            </a:solidFill>
            <a:prstDash val="solid"/>
          </a:ln>
        </p:spPr>
      </p:sp>
      <p:sp>
        <p:nvSpPr>
          <p:cNvPr id="21" name="Text 19"/>
          <p:cNvSpPr/>
          <p:nvPr/>
        </p:nvSpPr>
        <p:spPr>
          <a:xfrm>
            <a:off x="6336792" y="3803904"/>
            <a:ext cx="5120640" cy="237744"/>
          </a:xfrm>
          <a:prstGeom prst="rect">
            <a:avLst/>
          </a:prstGeom>
          <a:noFill/>
          <a:ln/>
        </p:spPr>
        <p:txBody>
          <a:bodyPr wrap="square" lIns="0" tIns="0" rIns="0" bIns="0" rtlCol="0" anchor="ctr"/>
          <a:lstStyle/>
          <a:p>
            <a:pPr indent="0" marL="0">
              <a:buNone/>
            </a:pPr>
            <a:r>
              <a:rPr lang="en-US" sz="1350" b="1" dirty="0">
                <a:solidFill>
                  <a:srgbClr val="14324A"/>
                </a:solidFill>
              </a:rPr>
              <a:t>Engineering next steps</a:t>
            </a:r>
            <a:endParaRPr lang="en-US" sz="1350" dirty="0"/>
          </a:p>
        </p:txBody>
      </p:sp>
      <p:sp>
        <p:nvSpPr>
          <p:cNvPr id="22" name="Text 20"/>
          <p:cNvSpPr/>
          <p:nvPr/>
        </p:nvSpPr>
        <p:spPr>
          <a:xfrm>
            <a:off x="6336792" y="4123944"/>
            <a:ext cx="5120640" cy="1216152"/>
          </a:xfrm>
          <a:prstGeom prst="rect">
            <a:avLst/>
          </a:prstGeom>
          <a:noFill/>
          <a:ln/>
        </p:spPr>
        <p:txBody>
          <a:bodyPr wrap="square" lIns="254" tIns="254" rIns="254" bIns="254" rtlCol="0" anchor="t">
            <a:normAutofit/>
          </a:bodyPr>
          <a:lstStyle/>
          <a:p>
            <a:pPr indent="0" marL="0">
              <a:buNone/>
            </a:pPr>
            <a:r>
              <a:rPr lang="en-US" sz="1120" dirty="0">
                <a:solidFill>
                  <a:srgbClr val="213547"/>
                </a:solidFill>
              </a:rPr>
              <a:t>• Continue hardening execution paths</a:t>
            </a:r>
            <a:endParaRPr lang="en-US" sz="1120" dirty="0"/>
          </a:p>
          <a:p>
            <a:pPr indent="0" marL="0">
              <a:buNone/>
            </a:pPr>
            <a:r>
              <a:rPr lang="en-US" sz="1120" dirty="0">
                <a:solidFill>
                  <a:srgbClr val="213547"/>
                </a:solidFill>
              </a:rPr>
              <a:t>• Expand API and integration coverage</a:t>
            </a:r>
            <a:endParaRPr lang="en-US" sz="1120" dirty="0"/>
          </a:p>
          <a:p>
            <a:pPr indent="0" marL="0">
              <a:buNone/>
            </a:pPr>
            <a:r>
              <a:rPr lang="en-US" sz="1120" dirty="0">
                <a:solidFill>
                  <a:srgbClr val="213547"/>
                </a:solidFill>
              </a:rPr>
              <a:t>• Deepen reproducibility across environments</a:t>
            </a:r>
            <a:endParaRPr lang="en-US" sz="1120" dirty="0"/>
          </a:p>
          <a:p>
            <a:pPr indent="0" marL="0">
              <a:buNone/>
            </a:pPr>
            <a:r>
              <a:rPr lang="en-US" sz="1120" dirty="0">
                <a:solidFill>
                  <a:srgbClr val="213547"/>
                </a:solidFill>
              </a:rPr>
              <a:t>• Add further monitoring and evaluation for deployed workflows</a:t>
            </a:r>
            <a:endParaRPr lang="en-US" sz="112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56032"/>
            <a:ext cx="8961120" cy="512064"/>
          </a:xfrm>
          <a:prstGeom prst="rect">
            <a:avLst/>
          </a:prstGeom>
          <a:noFill/>
          <a:ln/>
        </p:spPr>
        <p:txBody>
          <a:bodyPr wrap="square" lIns="0" tIns="0" rIns="0" bIns="0" rtlCol="0" anchor="ctr"/>
          <a:lstStyle/>
          <a:p>
            <a:pPr indent="0" marL="0">
              <a:buNone/>
            </a:pPr>
            <a:r>
              <a:rPr lang="en-US" sz="2800" b="1" dirty="0">
                <a:solidFill>
                  <a:srgbClr val="14324A"/>
                </a:solidFill>
                <a:latin typeface="Aptos Display" pitchFamily="34" charset="0"/>
                <a:ea typeface="Aptos Display" pitchFamily="34" charset="-122"/>
                <a:cs typeface="Aptos Display" pitchFamily="34" charset="-120"/>
              </a:rPr>
              <a:t>Demo Flow &amp; Final Takeaways</a:t>
            </a:r>
            <a:endParaRPr lang="en-US" sz="2800" dirty="0"/>
          </a:p>
        </p:txBody>
      </p:sp>
      <p:sp>
        <p:nvSpPr>
          <p:cNvPr id="3" name="Text 1"/>
          <p:cNvSpPr/>
          <p:nvPr/>
        </p:nvSpPr>
        <p:spPr>
          <a:xfrm>
            <a:off x="521208" y="804672"/>
            <a:ext cx="10881360" cy="292608"/>
          </a:xfrm>
          <a:prstGeom prst="rect">
            <a:avLst/>
          </a:prstGeom>
          <a:noFill/>
          <a:ln/>
        </p:spPr>
        <p:txBody>
          <a:bodyPr wrap="square" lIns="0" tIns="0" rIns="0" bIns="0" rtlCol="0" anchor="ctr"/>
          <a:lstStyle/>
          <a:p>
            <a:pPr indent="0" marL="0">
              <a:buNone/>
            </a:pPr>
            <a:r>
              <a:rPr lang="en-US" sz="1200" dirty="0">
                <a:solidFill>
                  <a:srgbClr val="6F879D"/>
                </a:solidFill>
              </a:rPr>
              <a:t>A concise walkthrough of the application and its engineering story</a:t>
            </a:r>
            <a:endParaRPr lang="en-US" sz="1200" dirty="0"/>
          </a:p>
        </p:txBody>
      </p:sp>
      <p:sp>
        <p:nvSpPr>
          <p:cNvPr id="4" name="Shape 2"/>
          <p:cNvSpPr/>
          <p:nvPr/>
        </p:nvSpPr>
        <p:spPr>
          <a:xfrm>
            <a:off x="502920" y="1124712"/>
            <a:ext cx="11155680" cy="0"/>
          </a:xfrm>
          <a:prstGeom prst="line">
            <a:avLst/>
          </a:prstGeom>
          <a:noFill/>
          <a:ln w="13970">
            <a:solidFill>
              <a:srgbClr val="D6E4F0"/>
            </a:solidFill>
            <a:prstDash val="solid"/>
          </a:ln>
        </p:spPr>
      </p:sp>
      <p:sp>
        <p:nvSpPr>
          <p:cNvPr id="5" name="Shape 3"/>
          <p:cNvSpPr/>
          <p:nvPr/>
        </p:nvSpPr>
        <p:spPr>
          <a:xfrm>
            <a:off x="9966960" y="292608"/>
            <a:ext cx="1691640" cy="347472"/>
          </a:xfrm>
          <a:prstGeom prst="roundRect">
            <a:avLst>
              <a:gd name="adj" fmla="val 21053"/>
            </a:avLst>
          </a:prstGeom>
          <a:solidFill>
            <a:srgbClr val="EAF3FA"/>
          </a:solidFill>
          <a:ln w="12700">
            <a:solidFill>
              <a:srgbClr val="EAF3FA"/>
            </a:solidFill>
            <a:prstDash val="solid"/>
          </a:ln>
        </p:spPr>
      </p:sp>
      <p:sp>
        <p:nvSpPr>
          <p:cNvPr id="6" name="Text 4"/>
          <p:cNvSpPr/>
          <p:nvPr/>
        </p:nvSpPr>
        <p:spPr>
          <a:xfrm>
            <a:off x="10040112" y="365760"/>
            <a:ext cx="1554480" cy="118872"/>
          </a:xfrm>
          <a:prstGeom prst="rect">
            <a:avLst/>
          </a:prstGeom>
          <a:noFill/>
          <a:ln/>
        </p:spPr>
        <p:txBody>
          <a:bodyPr wrap="square" lIns="0" tIns="0" rIns="0" bIns="0" rtlCol="0" anchor="ctr"/>
          <a:lstStyle/>
          <a:p>
            <a:pPr algn="ctr" indent="0" marL="0">
              <a:buNone/>
            </a:pPr>
            <a:r>
              <a:rPr lang="en-US" sz="850" b="1" dirty="0">
                <a:solidFill>
                  <a:srgbClr val="1D63D6"/>
                </a:solidFill>
              </a:rPr>
              <a:t>CLOSING</a:t>
            </a:r>
            <a:endParaRPr lang="en-US" sz="850" dirty="0"/>
          </a:p>
        </p:txBody>
      </p:sp>
      <p:sp>
        <p:nvSpPr>
          <p:cNvPr id="7" name="Shape 5"/>
          <p:cNvSpPr/>
          <p:nvPr/>
        </p:nvSpPr>
        <p:spPr>
          <a:xfrm>
            <a:off x="502920" y="1371600"/>
            <a:ext cx="822960" cy="566928"/>
          </a:xfrm>
          <a:prstGeom prst="roundRect">
            <a:avLst>
              <a:gd name="adj" fmla="val 9677"/>
            </a:avLst>
          </a:prstGeom>
          <a:solidFill>
            <a:srgbClr val="EAF3FA"/>
          </a:solidFill>
          <a:ln w="12700">
            <a:solidFill>
              <a:srgbClr val="28A6D9"/>
            </a:solidFill>
            <a:prstDash val="solid"/>
          </a:ln>
        </p:spPr>
      </p:sp>
      <p:sp>
        <p:nvSpPr>
          <p:cNvPr id="8" name="Text 6"/>
          <p:cNvSpPr/>
          <p:nvPr/>
        </p:nvSpPr>
        <p:spPr>
          <a:xfrm>
            <a:off x="576072" y="1463040"/>
            <a:ext cx="67665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Home</a:t>
            </a:r>
            <a:endParaRPr lang="en-US" sz="950" dirty="0"/>
          </a:p>
        </p:txBody>
      </p:sp>
      <p:sp>
        <p:nvSpPr>
          <p:cNvPr id="9" name="Shape 7"/>
          <p:cNvSpPr/>
          <p:nvPr/>
        </p:nvSpPr>
        <p:spPr>
          <a:xfrm>
            <a:off x="1353312" y="1655064"/>
            <a:ext cx="192024" cy="0"/>
          </a:xfrm>
          <a:prstGeom prst="line">
            <a:avLst/>
          </a:prstGeom>
          <a:noFill/>
          <a:ln w="27940">
            <a:solidFill>
              <a:srgbClr val="D6E4F0"/>
            </a:solidFill>
            <a:prstDash val="solid"/>
            <a:headEnd type="none"/>
            <a:tailEnd type="triangle"/>
          </a:ln>
        </p:spPr>
      </p:sp>
      <p:sp>
        <p:nvSpPr>
          <p:cNvPr id="10" name="Shape 8"/>
          <p:cNvSpPr/>
          <p:nvPr/>
        </p:nvSpPr>
        <p:spPr>
          <a:xfrm>
            <a:off x="1554480" y="1371600"/>
            <a:ext cx="1143000" cy="566928"/>
          </a:xfrm>
          <a:prstGeom prst="roundRect">
            <a:avLst>
              <a:gd name="adj" fmla="val 9677"/>
            </a:avLst>
          </a:prstGeom>
          <a:solidFill>
            <a:srgbClr val="FFFFFF"/>
          </a:solidFill>
          <a:ln w="12700">
            <a:solidFill>
              <a:srgbClr val="D6E4F0"/>
            </a:solidFill>
            <a:prstDash val="solid"/>
          </a:ln>
        </p:spPr>
      </p:sp>
      <p:sp>
        <p:nvSpPr>
          <p:cNvPr id="11" name="Text 9"/>
          <p:cNvSpPr/>
          <p:nvPr/>
        </p:nvSpPr>
        <p:spPr>
          <a:xfrm>
            <a:off x="1627632" y="1463040"/>
            <a:ext cx="99669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Doctor Portal</a:t>
            </a:r>
            <a:endParaRPr lang="en-US" sz="950" dirty="0"/>
          </a:p>
        </p:txBody>
      </p:sp>
      <p:sp>
        <p:nvSpPr>
          <p:cNvPr id="12" name="Shape 10"/>
          <p:cNvSpPr/>
          <p:nvPr/>
        </p:nvSpPr>
        <p:spPr>
          <a:xfrm>
            <a:off x="2724912" y="1655064"/>
            <a:ext cx="192024" cy="0"/>
          </a:xfrm>
          <a:prstGeom prst="line">
            <a:avLst/>
          </a:prstGeom>
          <a:noFill/>
          <a:ln w="27940">
            <a:solidFill>
              <a:srgbClr val="D6E4F0"/>
            </a:solidFill>
            <a:prstDash val="solid"/>
            <a:headEnd type="none"/>
            <a:tailEnd type="triangle"/>
          </a:ln>
        </p:spPr>
      </p:sp>
      <p:sp>
        <p:nvSpPr>
          <p:cNvPr id="13" name="Shape 11"/>
          <p:cNvSpPr/>
          <p:nvPr/>
        </p:nvSpPr>
        <p:spPr>
          <a:xfrm>
            <a:off x="2926080" y="1371600"/>
            <a:ext cx="685800" cy="566928"/>
          </a:xfrm>
          <a:prstGeom prst="roundRect">
            <a:avLst>
              <a:gd name="adj" fmla="val 9677"/>
            </a:avLst>
          </a:prstGeom>
          <a:solidFill>
            <a:srgbClr val="EAF3FA"/>
          </a:solidFill>
          <a:ln w="12700">
            <a:solidFill>
              <a:srgbClr val="D6E4F0"/>
            </a:solidFill>
            <a:prstDash val="solid"/>
          </a:ln>
        </p:spPr>
      </p:sp>
      <p:sp>
        <p:nvSpPr>
          <p:cNvPr id="14" name="Text 12"/>
          <p:cNvSpPr/>
          <p:nvPr/>
        </p:nvSpPr>
        <p:spPr>
          <a:xfrm>
            <a:off x="2999232" y="1463040"/>
            <a:ext cx="53949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X-ray</a:t>
            </a:r>
            <a:endParaRPr lang="en-US" sz="950" dirty="0"/>
          </a:p>
        </p:txBody>
      </p:sp>
      <p:sp>
        <p:nvSpPr>
          <p:cNvPr id="15" name="Shape 13"/>
          <p:cNvSpPr/>
          <p:nvPr/>
        </p:nvSpPr>
        <p:spPr>
          <a:xfrm>
            <a:off x="3639312" y="1655064"/>
            <a:ext cx="192024" cy="0"/>
          </a:xfrm>
          <a:prstGeom prst="line">
            <a:avLst/>
          </a:prstGeom>
          <a:noFill/>
          <a:ln w="27940">
            <a:solidFill>
              <a:srgbClr val="D6E4F0"/>
            </a:solidFill>
            <a:prstDash val="solid"/>
            <a:headEnd type="none"/>
            <a:tailEnd type="triangle"/>
          </a:ln>
        </p:spPr>
      </p:sp>
      <p:sp>
        <p:nvSpPr>
          <p:cNvPr id="16" name="Shape 14"/>
          <p:cNvSpPr/>
          <p:nvPr/>
        </p:nvSpPr>
        <p:spPr>
          <a:xfrm>
            <a:off x="3840480" y="1371600"/>
            <a:ext cx="502920" cy="566928"/>
          </a:xfrm>
          <a:prstGeom prst="roundRect">
            <a:avLst>
              <a:gd name="adj" fmla="val 10909"/>
            </a:avLst>
          </a:prstGeom>
          <a:solidFill>
            <a:srgbClr val="FFFFFF"/>
          </a:solidFill>
          <a:ln w="12700">
            <a:solidFill>
              <a:srgbClr val="28A6D9"/>
            </a:solidFill>
            <a:prstDash val="solid"/>
          </a:ln>
        </p:spPr>
      </p:sp>
      <p:sp>
        <p:nvSpPr>
          <p:cNvPr id="17" name="Text 15"/>
          <p:cNvSpPr/>
          <p:nvPr/>
        </p:nvSpPr>
        <p:spPr>
          <a:xfrm>
            <a:off x="3913632" y="1463040"/>
            <a:ext cx="35661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LOS</a:t>
            </a:r>
            <a:endParaRPr lang="en-US" sz="950" dirty="0"/>
          </a:p>
        </p:txBody>
      </p:sp>
      <p:sp>
        <p:nvSpPr>
          <p:cNvPr id="18" name="Shape 16"/>
          <p:cNvSpPr/>
          <p:nvPr/>
        </p:nvSpPr>
        <p:spPr>
          <a:xfrm>
            <a:off x="4370832" y="1655064"/>
            <a:ext cx="192024" cy="0"/>
          </a:xfrm>
          <a:prstGeom prst="line">
            <a:avLst/>
          </a:prstGeom>
          <a:noFill/>
          <a:ln w="27940">
            <a:solidFill>
              <a:srgbClr val="D6E4F0"/>
            </a:solidFill>
            <a:prstDash val="solid"/>
            <a:headEnd type="none"/>
            <a:tailEnd type="triangle"/>
          </a:ln>
        </p:spPr>
      </p:sp>
      <p:sp>
        <p:nvSpPr>
          <p:cNvPr id="19" name="Shape 17"/>
          <p:cNvSpPr/>
          <p:nvPr/>
        </p:nvSpPr>
        <p:spPr>
          <a:xfrm>
            <a:off x="4572000" y="1371600"/>
            <a:ext cx="868680" cy="566928"/>
          </a:xfrm>
          <a:prstGeom prst="roundRect">
            <a:avLst>
              <a:gd name="adj" fmla="val 9677"/>
            </a:avLst>
          </a:prstGeom>
          <a:solidFill>
            <a:srgbClr val="EAF3FA"/>
          </a:solidFill>
          <a:ln w="12700">
            <a:solidFill>
              <a:srgbClr val="D6E4F0"/>
            </a:solidFill>
            <a:prstDash val="solid"/>
          </a:ln>
        </p:spPr>
      </p:sp>
      <p:sp>
        <p:nvSpPr>
          <p:cNvPr id="20" name="Text 18"/>
          <p:cNvSpPr/>
          <p:nvPr/>
        </p:nvSpPr>
        <p:spPr>
          <a:xfrm>
            <a:off x="4645152" y="1463040"/>
            <a:ext cx="72237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Diagnosis</a:t>
            </a:r>
            <a:endParaRPr lang="en-US" sz="950" dirty="0"/>
          </a:p>
        </p:txBody>
      </p:sp>
      <p:sp>
        <p:nvSpPr>
          <p:cNvPr id="21" name="Shape 19"/>
          <p:cNvSpPr/>
          <p:nvPr/>
        </p:nvSpPr>
        <p:spPr>
          <a:xfrm>
            <a:off x="5468112" y="1655064"/>
            <a:ext cx="192024" cy="0"/>
          </a:xfrm>
          <a:prstGeom prst="line">
            <a:avLst/>
          </a:prstGeom>
          <a:noFill/>
          <a:ln w="27940">
            <a:solidFill>
              <a:srgbClr val="D6E4F0"/>
            </a:solidFill>
            <a:prstDash val="solid"/>
            <a:headEnd type="none"/>
            <a:tailEnd type="triangle"/>
          </a:ln>
        </p:spPr>
      </p:sp>
      <p:sp>
        <p:nvSpPr>
          <p:cNvPr id="22" name="Shape 20"/>
          <p:cNvSpPr/>
          <p:nvPr/>
        </p:nvSpPr>
        <p:spPr>
          <a:xfrm>
            <a:off x="5669280" y="1371600"/>
            <a:ext cx="868680" cy="566928"/>
          </a:xfrm>
          <a:prstGeom prst="roundRect">
            <a:avLst>
              <a:gd name="adj" fmla="val 9677"/>
            </a:avLst>
          </a:prstGeom>
          <a:solidFill>
            <a:srgbClr val="FFFFFF"/>
          </a:solidFill>
          <a:ln w="12700">
            <a:solidFill>
              <a:srgbClr val="D6E4F0"/>
            </a:solidFill>
            <a:prstDash val="solid"/>
          </a:ln>
        </p:spPr>
      </p:sp>
      <p:sp>
        <p:nvSpPr>
          <p:cNvPr id="23" name="Text 21"/>
          <p:cNvSpPr/>
          <p:nvPr/>
        </p:nvSpPr>
        <p:spPr>
          <a:xfrm>
            <a:off x="5742432" y="1463040"/>
            <a:ext cx="72237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Sentiment</a:t>
            </a:r>
            <a:endParaRPr lang="en-US" sz="950" dirty="0"/>
          </a:p>
        </p:txBody>
      </p:sp>
      <p:sp>
        <p:nvSpPr>
          <p:cNvPr id="24" name="Shape 22"/>
          <p:cNvSpPr/>
          <p:nvPr/>
        </p:nvSpPr>
        <p:spPr>
          <a:xfrm>
            <a:off x="6565392" y="1655064"/>
            <a:ext cx="192024" cy="0"/>
          </a:xfrm>
          <a:prstGeom prst="line">
            <a:avLst/>
          </a:prstGeom>
          <a:noFill/>
          <a:ln w="27940">
            <a:solidFill>
              <a:srgbClr val="D6E4F0"/>
            </a:solidFill>
            <a:prstDash val="solid"/>
            <a:headEnd type="none"/>
            <a:tailEnd type="triangle"/>
          </a:ln>
        </p:spPr>
      </p:sp>
      <p:sp>
        <p:nvSpPr>
          <p:cNvPr id="25" name="Shape 23"/>
          <p:cNvSpPr/>
          <p:nvPr/>
        </p:nvSpPr>
        <p:spPr>
          <a:xfrm>
            <a:off x="6766560" y="1371600"/>
            <a:ext cx="1051560" cy="566928"/>
          </a:xfrm>
          <a:prstGeom prst="roundRect">
            <a:avLst>
              <a:gd name="adj" fmla="val 9677"/>
            </a:avLst>
          </a:prstGeom>
          <a:solidFill>
            <a:srgbClr val="EAF3FA"/>
          </a:solidFill>
          <a:ln w="12700">
            <a:solidFill>
              <a:srgbClr val="28A6D9"/>
            </a:solidFill>
            <a:prstDash val="solid"/>
          </a:ln>
        </p:spPr>
      </p:sp>
      <p:sp>
        <p:nvSpPr>
          <p:cNvPr id="26" name="Text 24"/>
          <p:cNvSpPr/>
          <p:nvPr/>
        </p:nvSpPr>
        <p:spPr>
          <a:xfrm>
            <a:off x="6839712" y="1463040"/>
            <a:ext cx="90525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Medical NER</a:t>
            </a:r>
            <a:endParaRPr lang="en-US" sz="950" dirty="0"/>
          </a:p>
        </p:txBody>
      </p:sp>
      <p:sp>
        <p:nvSpPr>
          <p:cNvPr id="27" name="Shape 25"/>
          <p:cNvSpPr/>
          <p:nvPr/>
        </p:nvSpPr>
        <p:spPr>
          <a:xfrm>
            <a:off x="7845552" y="1655064"/>
            <a:ext cx="192024" cy="0"/>
          </a:xfrm>
          <a:prstGeom prst="line">
            <a:avLst/>
          </a:prstGeom>
          <a:noFill/>
          <a:ln w="27940">
            <a:solidFill>
              <a:srgbClr val="D6E4F0"/>
            </a:solidFill>
            <a:prstDash val="solid"/>
            <a:headEnd type="none"/>
            <a:tailEnd type="triangle"/>
          </a:ln>
        </p:spPr>
      </p:sp>
      <p:sp>
        <p:nvSpPr>
          <p:cNvPr id="28" name="Shape 26"/>
          <p:cNvSpPr/>
          <p:nvPr/>
        </p:nvSpPr>
        <p:spPr>
          <a:xfrm>
            <a:off x="8046720" y="1371600"/>
            <a:ext cx="1097280" cy="566928"/>
          </a:xfrm>
          <a:prstGeom prst="roundRect">
            <a:avLst>
              <a:gd name="adj" fmla="val 9677"/>
            </a:avLst>
          </a:prstGeom>
          <a:solidFill>
            <a:srgbClr val="FFFFFF"/>
          </a:solidFill>
          <a:ln w="12700">
            <a:solidFill>
              <a:srgbClr val="D6E4F0"/>
            </a:solidFill>
            <a:prstDash val="solid"/>
          </a:ln>
        </p:spPr>
      </p:sp>
      <p:sp>
        <p:nvSpPr>
          <p:cNvPr id="29" name="Text 27"/>
          <p:cNvSpPr/>
          <p:nvPr/>
        </p:nvSpPr>
        <p:spPr>
          <a:xfrm>
            <a:off x="8119872" y="1463040"/>
            <a:ext cx="95097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Patient Portal</a:t>
            </a:r>
            <a:endParaRPr lang="en-US" sz="950" dirty="0"/>
          </a:p>
        </p:txBody>
      </p:sp>
      <p:sp>
        <p:nvSpPr>
          <p:cNvPr id="30" name="Shape 28"/>
          <p:cNvSpPr/>
          <p:nvPr/>
        </p:nvSpPr>
        <p:spPr>
          <a:xfrm>
            <a:off x="9171432" y="1655064"/>
            <a:ext cx="192024" cy="0"/>
          </a:xfrm>
          <a:prstGeom prst="line">
            <a:avLst/>
          </a:prstGeom>
          <a:noFill/>
          <a:ln w="27940">
            <a:solidFill>
              <a:srgbClr val="D6E4F0"/>
            </a:solidFill>
            <a:prstDash val="solid"/>
            <a:headEnd type="none"/>
            <a:tailEnd type="triangle"/>
          </a:ln>
        </p:spPr>
      </p:sp>
      <p:sp>
        <p:nvSpPr>
          <p:cNvPr id="31" name="Shape 29"/>
          <p:cNvSpPr/>
          <p:nvPr/>
        </p:nvSpPr>
        <p:spPr>
          <a:xfrm>
            <a:off x="9372600" y="1371600"/>
            <a:ext cx="841248" cy="566928"/>
          </a:xfrm>
          <a:prstGeom prst="roundRect">
            <a:avLst>
              <a:gd name="adj" fmla="val 9677"/>
            </a:avLst>
          </a:prstGeom>
          <a:solidFill>
            <a:srgbClr val="EAF3FA"/>
          </a:solidFill>
          <a:ln w="12700">
            <a:solidFill>
              <a:srgbClr val="D6E4F0"/>
            </a:solidFill>
            <a:prstDash val="solid"/>
          </a:ln>
        </p:spPr>
      </p:sp>
      <p:sp>
        <p:nvSpPr>
          <p:cNvPr id="32" name="Text 30"/>
          <p:cNvSpPr/>
          <p:nvPr/>
        </p:nvSpPr>
        <p:spPr>
          <a:xfrm>
            <a:off x="9445752" y="1463040"/>
            <a:ext cx="694944"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Health Risk</a:t>
            </a:r>
            <a:endParaRPr lang="en-US" sz="950" dirty="0"/>
          </a:p>
        </p:txBody>
      </p:sp>
      <p:sp>
        <p:nvSpPr>
          <p:cNvPr id="33" name="Shape 31"/>
          <p:cNvSpPr/>
          <p:nvPr/>
        </p:nvSpPr>
        <p:spPr>
          <a:xfrm>
            <a:off x="10241280" y="1655064"/>
            <a:ext cx="192024" cy="0"/>
          </a:xfrm>
          <a:prstGeom prst="line">
            <a:avLst/>
          </a:prstGeom>
          <a:noFill/>
          <a:ln w="27940">
            <a:solidFill>
              <a:srgbClr val="D6E4F0"/>
            </a:solidFill>
            <a:prstDash val="solid"/>
            <a:headEnd type="none"/>
            <a:tailEnd type="triangle"/>
          </a:ln>
        </p:spPr>
      </p:sp>
      <p:sp>
        <p:nvSpPr>
          <p:cNvPr id="34" name="Shape 32"/>
          <p:cNvSpPr/>
          <p:nvPr/>
        </p:nvSpPr>
        <p:spPr>
          <a:xfrm>
            <a:off x="10442448" y="1371600"/>
            <a:ext cx="1143000" cy="566928"/>
          </a:xfrm>
          <a:prstGeom prst="roundRect">
            <a:avLst>
              <a:gd name="adj" fmla="val 9677"/>
            </a:avLst>
          </a:prstGeom>
          <a:solidFill>
            <a:srgbClr val="FFFFFF"/>
          </a:solidFill>
          <a:ln w="12700">
            <a:solidFill>
              <a:srgbClr val="28A6D9"/>
            </a:solidFill>
            <a:prstDash val="solid"/>
          </a:ln>
        </p:spPr>
      </p:sp>
      <p:sp>
        <p:nvSpPr>
          <p:cNvPr id="35" name="Text 33"/>
          <p:cNvSpPr/>
          <p:nvPr/>
        </p:nvSpPr>
        <p:spPr>
          <a:xfrm>
            <a:off x="10515600" y="1463040"/>
            <a:ext cx="99669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RAG + Sources</a:t>
            </a:r>
            <a:endParaRPr lang="en-US" sz="950" dirty="0"/>
          </a:p>
        </p:txBody>
      </p:sp>
      <p:sp>
        <p:nvSpPr>
          <p:cNvPr id="36" name="Shape 34"/>
          <p:cNvSpPr/>
          <p:nvPr/>
        </p:nvSpPr>
        <p:spPr>
          <a:xfrm>
            <a:off x="11612880" y="1655064"/>
            <a:ext cx="192024" cy="0"/>
          </a:xfrm>
          <a:prstGeom prst="line">
            <a:avLst/>
          </a:prstGeom>
          <a:noFill/>
          <a:ln w="27940">
            <a:solidFill>
              <a:srgbClr val="D6E4F0"/>
            </a:solidFill>
            <a:prstDash val="solid"/>
            <a:headEnd type="none"/>
            <a:tailEnd type="triangle"/>
          </a:ln>
        </p:spPr>
      </p:sp>
      <p:sp>
        <p:nvSpPr>
          <p:cNvPr id="37" name="Shape 35"/>
          <p:cNvSpPr/>
          <p:nvPr/>
        </p:nvSpPr>
        <p:spPr>
          <a:xfrm>
            <a:off x="11814048" y="1371600"/>
            <a:ext cx="1097280" cy="566928"/>
          </a:xfrm>
          <a:prstGeom prst="roundRect">
            <a:avLst>
              <a:gd name="adj" fmla="val 9677"/>
            </a:avLst>
          </a:prstGeom>
          <a:solidFill>
            <a:srgbClr val="EAF3FA"/>
          </a:solidFill>
          <a:ln w="12700">
            <a:solidFill>
              <a:srgbClr val="D6E4F0"/>
            </a:solidFill>
            <a:prstDash val="solid"/>
          </a:ln>
        </p:spPr>
      </p:sp>
      <p:sp>
        <p:nvSpPr>
          <p:cNvPr id="38" name="Text 36"/>
          <p:cNvSpPr/>
          <p:nvPr/>
        </p:nvSpPr>
        <p:spPr>
          <a:xfrm>
            <a:off x="11887200" y="1463040"/>
            <a:ext cx="950976" cy="411480"/>
          </a:xfrm>
          <a:prstGeom prst="rect">
            <a:avLst/>
          </a:prstGeom>
          <a:noFill/>
          <a:ln/>
        </p:spPr>
        <p:txBody>
          <a:bodyPr wrap="square" lIns="127" tIns="127" rIns="127" bIns="127" rtlCol="0" anchor="ctr">
            <a:normAutofit/>
          </a:bodyPr>
          <a:lstStyle/>
          <a:p>
            <a:pPr algn="ctr" indent="0" marL="0">
              <a:buNone/>
            </a:pPr>
            <a:r>
              <a:rPr lang="en-US" sz="950" b="1" dirty="0">
                <a:solidFill>
                  <a:srgbClr val="14324A"/>
                </a:solidFill>
              </a:rPr>
              <a:t>Hindi / Tamil</a:t>
            </a:r>
            <a:endParaRPr lang="en-US" sz="950" dirty="0"/>
          </a:p>
        </p:txBody>
      </p:sp>
      <p:sp>
        <p:nvSpPr>
          <p:cNvPr id="39" name="Shape 37"/>
          <p:cNvSpPr/>
          <p:nvPr/>
        </p:nvSpPr>
        <p:spPr>
          <a:xfrm>
            <a:off x="566928" y="2468880"/>
            <a:ext cx="3474720" cy="1554480"/>
          </a:xfrm>
          <a:prstGeom prst="roundRect">
            <a:avLst>
              <a:gd name="adj" fmla="val 4706"/>
            </a:avLst>
          </a:prstGeom>
          <a:solidFill>
            <a:srgbClr val="FFFFFF"/>
          </a:solidFill>
          <a:ln w="12700">
            <a:solidFill>
              <a:srgbClr val="D6E4F0"/>
            </a:solidFill>
            <a:prstDash val="solid"/>
          </a:ln>
        </p:spPr>
      </p:sp>
      <p:sp>
        <p:nvSpPr>
          <p:cNvPr id="40" name="Shape 38"/>
          <p:cNvSpPr/>
          <p:nvPr/>
        </p:nvSpPr>
        <p:spPr>
          <a:xfrm>
            <a:off x="566928" y="2468880"/>
            <a:ext cx="64008" cy="1554480"/>
          </a:xfrm>
          <a:prstGeom prst="rect">
            <a:avLst/>
          </a:prstGeom>
          <a:solidFill>
            <a:srgbClr val="1D63D6"/>
          </a:solidFill>
          <a:ln w="12700">
            <a:solidFill>
              <a:srgbClr val="1D63D6"/>
            </a:solidFill>
            <a:prstDash val="solid"/>
          </a:ln>
        </p:spPr>
      </p:sp>
      <p:sp>
        <p:nvSpPr>
          <p:cNvPr id="41" name="Text 39"/>
          <p:cNvSpPr/>
          <p:nvPr/>
        </p:nvSpPr>
        <p:spPr>
          <a:xfrm>
            <a:off x="731520" y="2615184"/>
            <a:ext cx="3154680" cy="237744"/>
          </a:xfrm>
          <a:prstGeom prst="rect">
            <a:avLst/>
          </a:prstGeom>
          <a:noFill/>
          <a:ln/>
        </p:spPr>
        <p:txBody>
          <a:bodyPr wrap="square" lIns="0" tIns="0" rIns="0" bIns="0" rtlCol="0" anchor="ctr"/>
          <a:lstStyle/>
          <a:p>
            <a:pPr indent="0" marL="0">
              <a:buNone/>
            </a:pPr>
            <a:r>
              <a:rPr lang="en-US" sz="1500" b="1" dirty="0">
                <a:solidFill>
                  <a:srgbClr val="14324A"/>
                </a:solidFill>
              </a:rPr>
              <a:t>SPECIALIZATION</a:t>
            </a:r>
            <a:endParaRPr lang="en-US" sz="1500" dirty="0"/>
          </a:p>
        </p:txBody>
      </p:sp>
      <p:sp>
        <p:nvSpPr>
          <p:cNvPr id="42" name="Text 40"/>
          <p:cNvSpPr/>
          <p:nvPr/>
        </p:nvSpPr>
        <p:spPr>
          <a:xfrm>
            <a:off x="731520" y="2935224"/>
            <a:ext cx="3154680" cy="98755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Use the appropriate model or retrieval workflow for the healthcare task.</a:t>
            </a:r>
            <a:endParaRPr lang="en-US" sz="1200" dirty="0"/>
          </a:p>
        </p:txBody>
      </p:sp>
      <p:sp>
        <p:nvSpPr>
          <p:cNvPr id="43" name="Shape 41"/>
          <p:cNvSpPr/>
          <p:nvPr/>
        </p:nvSpPr>
        <p:spPr>
          <a:xfrm>
            <a:off x="4370832" y="2468880"/>
            <a:ext cx="3474720" cy="1554480"/>
          </a:xfrm>
          <a:prstGeom prst="roundRect">
            <a:avLst>
              <a:gd name="adj" fmla="val 4706"/>
            </a:avLst>
          </a:prstGeom>
          <a:solidFill>
            <a:srgbClr val="FFFFFF"/>
          </a:solidFill>
          <a:ln w="12700">
            <a:solidFill>
              <a:srgbClr val="D6E4F0"/>
            </a:solidFill>
            <a:prstDash val="solid"/>
          </a:ln>
        </p:spPr>
      </p:sp>
      <p:sp>
        <p:nvSpPr>
          <p:cNvPr id="44" name="Shape 42"/>
          <p:cNvSpPr/>
          <p:nvPr/>
        </p:nvSpPr>
        <p:spPr>
          <a:xfrm>
            <a:off x="4370832" y="2468880"/>
            <a:ext cx="64008" cy="1554480"/>
          </a:xfrm>
          <a:prstGeom prst="rect">
            <a:avLst/>
          </a:prstGeom>
          <a:solidFill>
            <a:srgbClr val="1BAA9A"/>
          </a:solidFill>
          <a:ln w="12700">
            <a:solidFill>
              <a:srgbClr val="1BAA9A"/>
            </a:solidFill>
            <a:prstDash val="solid"/>
          </a:ln>
        </p:spPr>
      </p:sp>
      <p:sp>
        <p:nvSpPr>
          <p:cNvPr id="45" name="Text 43"/>
          <p:cNvSpPr/>
          <p:nvPr/>
        </p:nvSpPr>
        <p:spPr>
          <a:xfrm>
            <a:off x="4535424" y="2615184"/>
            <a:ext cx="3154680" cy="237744"/>
          </a:xfrm>
          <a:prstGeom prst="rect">
            <a:avLst/>
          </a:prstGeom>
          <a:noFill/>
          <a:ln/>
        </p:spPr>
        <p:txBody>
          <a:bodyPr wrap="square" lIns="0" tIns="0" rIns="0" bIns="0" rtlCol="0" anchor="ctr"/>
          <a:lstStyle/>
          <a:p>
            <a:pPr indent="0" marL="0">
              <a:buNone/>
            </a:pPr>
            <a:r>
              <a:rPr lang="en-US" sz="1500" b="1" dirty="0">
                <a:solidFill>
                  <a:srgbClr val="14324A"/>
                </a:solidFill>
              </a:rPr>
              <a:t>ORCHESTRATION</a:t>
            </a:r>
            <a:endParaRPr lang="en-US" sz="1500" dirty="0"/>
          </a:p>
        </p:txBody>
      </p:sp>
      <p:sp>
        <p:nvSpPr>
          <p:cNvPr id="46" name="Text 44"/>
          <p:cNvSpPr/>
          <p:nvPr/>
        </p:nvSpPr>
        <p:spPr>
          <a:xfrm>
            <a:off x="4535424" y="2935224"/>
            <a:ext cx="3154680" cy="98755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Connect models through adapters, FastAPI and agentic routing.</a:t>
            </a:r>
            <a:endParaRPr lang="en-US" sz="1200" dirty="0"/>
          </a:p>
        </p:txBody>
      </p:sp>
      <p:sp>
        <p:nvSpPr>
          <p:cNvPr id="47" name="Shape 45"/>
          <p:cNvSpPr/>
          <p:nvPr/>
        </p:nvSpPr>
        <p:spPr>
          <a:xfrm>
            <a:off x="8174736" y="2468880"/>
            <a:ext cx="3474720" cy="1554480"/>
          </a:xfrm>
          <a:prstGeom prst="roundRect">
            <a:avLst>
              <a:gd name="adj" fmla="val 4706"/>
            </a:avLst>
          </a:prstGeom>
          <a:solidFill>
            <a:srgbClr val="FFFFFF"/>
          </a:solidFill>
          <a:ln w="12700">
            <a:solidFill>
              <a:srgbClr val="D6E4F0"/>
            </a:solidFill>
            <a:prstDash val="solid"/>
          </a:ln>
        </p:spPr>
      </p:sp>
      <p:sp>
        <p:nvSpPr>
          <p:cNvPr id="48" name="Shape 46"/>
          <p:cNvSpPr/>
          <p:nvPr/>
        </p:nvSpPr>
        <p:spPr>
          <a:xfrm>
            <a:off x="8174736" y="2468880"/>
            <a:ext cx="64008" cy="1554480"/>
          </a:xfrm>
          <a:prstGeom prst="rect">
            <a:avLst/>
          </a:prstGeom>
          <a:solidFill>
            <a:srgbClr val="28A6D9"/>
          </a:solidFill>
          <a:ln w="12700">
            <a:solidFill>
              <a:srgbClr val="28A6D9"/>
            </a:solidFill>
            <a:prstDash val="solid"/>
          </a:ln>
        </p:spPr>
      </p:sp>
      <p:sp>
        <p:nvSpPr>
          <p:cNvPr id="49" name="Text 47"/>
          <p:cNvSpPr/>
          <p:nvPr/>
        </p:nvSpPr>
        <p:spPr>
          <a:xfrm>
            <a:off x="8339328" y="2615184"/>
            <a:ext cx="3154680" cy="237744"/>
          </a:xfrm>
          <a:prstGeom prst="rect">
            <a:avLst/>
          </a:prstGeom>
          <a:noFill/>
          <a:ln/>
        </p:spPr>
        <p:txBody>
          <a:bodyPr wrap="square" lIns="0" tIns="0" rIns="0" bIns="0" rtlCol="0" anchor="ctr"/>
          <a:lstStyle/>
          <a:p>
            <a:pPr indent="0" marL="0">
              <a:buNone/>
            </a:pPr>
            <a:r>
              <a:rPr lang="en-US" sz="1500" b="1" dirty="0">
                <a:solidFill>
                  <a:srgbClr val="14324A"/>
                </a:solidFill>
              </a:rPr>
              <a:t>EVIDENCE + SAFETY</a:t>
            </a:r>
            <a:endParaRPr lang="en-US" sz="1500" dirty="0"/>
          </a:p>
        </p:txBody>
      </p:sp>
      <p:sp>
        <p:nvSpPr>
          <p:cNvPr id="50" name="Text 48"/>
          <p:cNvSpPr/>
          <p:nvPr/>
        </p:nvSpPr>
        <p:spPr>
          <a:xfrm>
            <a:off x="8339328" y="2935224"/>
            <a:ext cx="3154680" cy="987552"/>
          </a:xfrm>
          <a:prstGeom prst="rect">
            <a:avLst/>
          </a:prstGeom>
          <a:noFill/>
          <a:ln/>
        </p:spPr>
        <p:txBody>
          <a:bodyPr wrap="square" lIns="254" tIns="254" rIns="254" bIns="254" rtlCol="0" anchor="t">
            <a:normAutofit/>
          </a:bodyPr>
          <a:lstStyle/>
          <a:p>
            <a:pPr indent="0" marL="0">
              <a:buNone/>
            </a:pPr>
            <a:r>
              <a:rPr lang="en-US" sz="1200" dirty="0">
                <a:solidFill>
                  <a:srgbClr val="213547"/>
                </a:solidFill>
              </a:rPr>
              <a:t>Ground medical information in curated sources and support abstention when evidence is insufficient.</a:t>
            </a:r>
            <a:endParaRPr lang="en-US" sz="1200" dirty="0"/>
          </a:p>
        </p:txBody>
      </p:sp>
      <p:sp>
        <p:nvSpPr>
          <p:cNvPr id="51" name="Text 49"/>
          <p:cNvSpPr/>
          <p:nvPr/>
        </p:nvSpPr>
        <p:spPr>
          <a:xfrm>
            <a:off x="777240" y="4462272"/>
            <a:ext cx="10652760" cy="640080"/>
          </a:xfrm>
          <a:prstGeom prst="rect">
            <a:avLst/>
          </a:prstGeom>
          <a:noFill/>
          <a:ln/>
        </p:spPr>
        <p:txBody>
          <a:bodyPr wrap="square" lIns="127" tIns="127" rIns="127" bIns="127" rtlCol="0" anchor="ctr">
            <a:normAutofit/>
          </a:bodyPr>
          <a:lstStyle/>
          <a:p>
            <a:pPr algn="ctr" indent="0" marL="0">
              <a:buNone/>
            </a:pPr>
            <a:r>
              <a:rPr lang="en-US" sz="1800" b="1" dirty="0">
                <a:solidFill>
                  <a:srgbClr val="14324A"/>
                </a:solidFill>
              </a:rPr>
              <a:t>HealthAI demonstrates end-to-end AI engineering across healthcare data, machine learning, deep learning, medical NLP, RAG, agentic orchestration, APIs, deployment and user experience.</a:t>
            </a:r>
            <a:endParaRPr lang="en-US" sz="1800" dirty="0"/>
          </a:p>
        </p:txBody>
      </p:sp>
      <p:sp>
        <p:nvSpPr>
          <p:cNvPr id="52" name="Shape 50"/>
          <p:cNvSpPr/>
          <p:nvPr/>
        </p:nvSpPr>
        <p:spPr>
          <a:xfrm>
            <a:off x="1417320" y="5349240"/>
            <a:ext cx="9372600" cy="640080"/>
          </a:xfrm>
          <a:prstGeom prst="roundRect">
            <a:avLst>
              <a:gd name="adj" fmla="val 7143"/>
            </a:avLst>
          </a:prstGeom>
          <a:solidFill>
            <a:srgbClr val="14324A"/>
          </a:solidFill>
          <a:ln w="12700">
            <a:solidFill>
              <a:srgbClr val="14324A"/>
            </a:solidFill>
            <a:prstDash val="solid"/>
          </a:ln>
        </p:spPr>
      </p:sp>
      <p:sp>
        <p:nvSpPr>
          <p:cNvPr id="53" name="Text 51"/>
          <p:cNvSpPr/>
          <p:nvPr/>
        </p:nvSpPr>
        <p:spPr>
          <a:xfrm>
            <a:off x="1554480" y="5559552"/>
            <a:ext cx="9098280" cy="201168"/>
          </a:xfrm>
          <a:prstGeom prst="rect">
            <a:avLst/>
          </a:prstGeom>
          <a:noFill/>
          <a:ln/>
        </p:spPr>
        <p:txBody>
          <a:bodyPr wrap="square" lIns="0" tIns="0" rIns="0" bIns="0" rtlCol="0" anchor="ctr"/>
          <a:lstStyle/>
          <a:p>
            <a:pPr algn="ctr" indent="0" marL="0">
              <a:buNone/>
            </a:pPr>
            <a:r>
              <a:rPr lang="en-US" sz="1250" b="1" dirty="0">
                <a:solidFill>
                  <a:srgbClr val="FFFFFF"/>
                </a:solidFill>
              </a:rPr>
              <a:t>Portfolio / Educational Demonstration • Not a clinically validated medical device</a:t>
            </a:r>
            <a:endParaRPr lang="en-US" sz="1250" dirty="0"/>
          </a:p>
        </p:txBody>
      </p:sp>
      <p:sp>
        <p:nvSpPr>
          <p:cNvPr id="25" name="Slide Number Placeholder 0"/>
          <p:cNvSpPr>
            <a:spLocks noGrp="1"/>
          </p:cNvSpPr>
          <p:nvPr>
            <p:ph type="sldNum" sz="quarter" idx="4294967295"/>
          </p:nvPr>
        </p:nvSpPr>
        <p:spPr>
          <a:xfrm>
            <a:off x="11521440" y="66294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HealthAI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HealthAI — Intelligent Healthcare AI Platform</dc:title>
  <dc:subject>HealthAI Intelligent Healthcare AI Platform</dc:subject>
  <dc:creator>HealthAI</dc:creator>
  <cp:lastModifiedBy>HealthAI</cp:lastModifiedBy>
  <cp:revision>1</cp:revision>
  <dcterms:created xsi:type="dcterms:W3CDTF">2026-09-26T15:20:39Z</dcterms:created>
  <dcterms:modified xsi:type="dcterms:W3CDTF">2026-09-26T15:20:39Z</dcterms:modified>
</cp:coreProperties>
</file>